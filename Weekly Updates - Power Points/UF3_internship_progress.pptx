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Marios, doing my MSc internship at DIFFER. You've seen the project description, so I'll keep the setup short and focus on what I've done. In short: I'm building a fast, interpretable force field for molten salts — UF3 — and benchmarking it against the state-of-the-art SuperSalt model. I'll cover what that paper did, how I reproduced it, and the 2-body and 3-body models I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SuperSalt is the model I'm measuring against. They generated millions of MD frames, clustered them down to ~70,000 structures, labelled those with DFT, and trained a MACE neural network. It's very accurate — force errors of 19.6 and 24.4 meV per angstrom, about ten times better than a generic baseline. But it's a heavy neural network: ~96 GPU-hours to train, expensive to run, and a black box. That cost and opacity is exactly what I'm trying to improve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is to reuse their ~70k DFT dataset directly — I skip the expensive frame-generation and DFT and start from their labels. Step one is to reproduce their benchmark, to prove my pipeline and metric are trustworthy. Step two is to build my own model with UF3, which writes the energy as a sum of simple two-body and three-body terms, fit by a single linear least-squares solve. It's about 1000 times cheaper than the neural net and, unlike it, interpretable. The real question is: how close can such a simple model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validation. I re-scored the authors' actual model — the SWA checkpoint — on both official test sets. Test 2 came out 24.4, matching the paper exactly. Test 1 came out 17.6 versus their 19.6 — actually slightly better. That small difference isn't a bug on my side: the paper never states which checkpoint produced each figure, and the D3 dispersion handling is unclear. That's a reproducibility ambiguity Daniel had already documented, and I hit it independently. Either way, my data handling and error metric are validated before I build anything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built my own 2-body UF3 model. For 12 species there are 78 distinct pair types; each becomes a flexible B-spline curve, giving 1,416 coefficients in total. The key point: because the energy is linear in those coefficients, fitting the whole 12-species model is a single matrix solve — no slow, iterative neural-network training. I trained on the SuperSalt DFT data and scored on the same held-out test sets, so the comparison is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2-body model lands around 280 to 310 meV per angstrom on forces. The important observation is that this number does not fall as I add more training data — it stays flat. That's the signature of a model at its structural limit, not one starved of data. The reason is physical: a 2-body term only sees the distance between two atoms — there's no angle in it — so it can't represent coordination geometry. It's cheap and interpretable, but clearly a floor. That's what motivates adding the 3-body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3-body term uses triangles of three atoms, so it can finally see the angles the 2-body term was blind to. The catch is that the full 12-species version is intractable: 936 triplet types, over 111,000 features, a roughly 100 GB matrix that won't fit in memory. So I ran a controlled experiment instead — cut down to a 3-element subsystem with only 18 triplet types, and directly test whether the angular term helps: a directional cation where it should, against a spherical control where it shouldn't.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behaves exactly as the physics predicts. For the directional cations, Mg and Zr, adding the 3-body term cuts the force error by 35 and 21 percent. For the spherical control, potassium and rubidium, it barely moves — about 5 percent. The improvement tracks the cation's directionality, which is strong evidence the angular term is capturing real coordination physics — not just adding parameters that happen to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I reproduced the SuperSalt benchmark, built and characterised a full 2-body model, and demonstrated the value of the 3-body term on subsystems — all validated and packaged reproducibly, and now handed off to DIFFER's compute. Next steps are to scale the models up on the cluster, produce the headline accuracy-versus-cost figure against SuperSalt, and begin predicting molten-salt properties with molecular dynamics.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711C"/>
          </a:solidFill>
          <a:ln/>
        </p:spPr>
      </p:sp>
      <p:sp>
        <p:nvSpPr>
          <p:cNvPr id="3" name="Text 1"/>
          <p:cNvSpPr/>
          <p:nvPr/>
        </p:nvSpPr>
        <p:spPr>
          <a:xfrm>
            <a:off x="822960" y="1371600"/>
            <a:ext cx="10058400" cy="365760"/>
          </a:xfrm>
          <a:prstGeom prst="rect">
            <a:avLst/>
          </a:prstGeom>
          <a:noFill/>
          <a:ln/>
        </p:spPr>
        <p:txBody>
          <a:bodyPr wrap="square" rtlCol="0" anchor="ctr"/>
          <a:lstStyle/>
          <a:p>
            <a:pPr indent="0" marL="0">
              <a:buNone/>
            </a:pPr>
            <a:r>
              <a:rPr lang="en-US" sz="1400" b="1" spc="300" kern="0" dirty="0">
                <a:solidFill>
                  <a:srgbClr val="179C8E"/>
                </a:solidFill>
                <a:latin typeface="Calibri" pitchFamily="34" charset="0"/>
                <a:ea typeface="Calibri" pitchFamily="34" charset="-122"/>
                <a:cs typeface="Calibri" pitchFamily="34" charset="-120"/>
              </a:rPr>
              <a:t>INTERNSHIP PROGRESS  ·  DAY ONE TO NOW</a:t>
            </a:r>
            <a:endParaRPr lang="en-US" sz="1400" dirty="0"/>
          </a:p>
        </p:txBody>
      </p:sp>
      <p:sp>
        <p:nvSpPr>
          <p:cNvPr id="4" name="Text 2"/>
          <p:cNvSpPr/>
          <p:nvPr/>
        </p:nvSpPr>
        <p:spPr>
          <a:xfrm>
            <a:off x="777240" y="1874520"/>
            <a:ext cx="10607040" cy="1737360"/>
          </a:xfrm>
          <a:prstGeom prst="rect">
            <a:avLst/>
          </a:prstGeom>
          <a:noFill/>
          <a:ln/>
        </p:spPr>
        <p:txBody>
          <a:bodyPr wrap="square" rtlCol="0" anchor="ctr"/>
          <a:lstStyle/>
          <a:p>
            <a:pPr indent="0" marL="0">
              <a:lnSpc>
                <a:spcPct val="102000"/>
              </a:lnSpc>
              <a:buNone/>
            </a:pPr>
            <a:r>
              <a:rPr lang="en-US" sz="4000" b="1" dirty="0">
                <a:solidFill>
                  <a:srgbClr val="FFFFFF"/>
                </a:solidFill>
                <a:latin typeface="Georgia" pitchFamily="34" charset="0"/>
                <a:ea typeface="Georgia" pitchFamily="34" charset="-122"/>
                <a:cs typeface="Georgia" pitchFamily="34" charset="-120"/>
              </a:rPr>
              <a:t>Ultra-Fast Machine-Learned</a:t>
            </a:r>
            <a:endParaRPr lang="en-US" sz="4000" dirty="0"/>
          </a:p>
          <a:p>
            <a:pPr indent="0" marL="0">
              <a:lnSpc>
                <a:spcPct val="102000"/>
              </a:lnSpc>
              <a:buNone/>
            </a:pPr>
            <a:r>
              <a:rPr lang="en-US" sz="4000" b="1" dirty="0">
                <a:solidFill>
                  <a:srgbClr val="FFFFFF"/>
                </a:solidFill>
                <a:latin typeface="Georgia" pitchFamily="34" charset="0"/>
                <a:ea typeface="Georgia" pitchFamily="34" charset="-122"/>
                <a:cs typeface="Georgia" pitchFamily="34" charset="-120"/>
              </a:rPr>
              <a:t>Force Fields for Molten Salts</a:t>
            </a:r>
            <a:endParaRPr lang="en-US" sz="4000" dirty="0"/>
          </a:p>
        </p:txBody>
      </p:sp>
      <p:sp>
        <p:nvSpPr>
          <p:cNvPr id="5" name="Text 3"/>
          <p:cNvSpPr/>
          <p:nvPr/>
        </p:nvSpPr>
        <p:spPr>
          <a:xfrm>
            <a:off x="822960" y="3794760"/>
            <a:ext cx="9875520" cy="640080"/>
          </a:xfrm>
          <a:prstGeom prst="rect">
            <a:avLst/>
          </a:prstGeom>
          <a:noFill/>
          <a:ln/>
        </p:spPr>
        <p:txBody>
          <a:bodyPr wrap="square" rtlCol="0" anchor="ctr"/>
          <a:lstStyle/>
          <a:p>
            <a:pPr indent="0" marL="0">
              <a:buNone/>
            </a:pPr>
            <a:r>
              <a:rPr lang="en-US" sz="1600" dirty="0">
                <a:solidFill>
                  <a:srgbClr val="ECEDF0"/>
                </a:solidFill>
                <a:latin typeface="Calibri" pitchFamily="34" charset="0"/>
                <a:ea typeface="Calibri" pitchFamily="34" charset="-122"/>
                <a:cs typeface="Calibri" pitchFamily="34" charset="-120"/>
              </a:rPr>
              <a:t>Reproducing the SuperSalt benchmark, then building a cheaper, interpretable UF3 model for multicomponent molten chlorides.</a:t>
            </a:r>
            <a:endParaRPr lang="en-US" sz="1600" dirty="0"/>
          </a:p>
        </p:txBody>
      </p:sp>
      <p:sp>
        <p:nvSpPr>
          <p:cNvPr id="6" name="Text 4"/>
          <p:cNvSpPr/>
          <p:nvPr/>
        </p:nvSpPr>
        <p:spPr>
          <a:xfrm>
            <a:off x="822960" y="5029200"/>
            <a:ext cx="105156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Marios Poulis</a:t>
            </a:r>
            <a:pPr indent="0" marL="0">
              <a:buNone/>
            </a:pPr>
            <a:r>
              <a:rPr lang="en-US" sz="1300" dirty="0">
                <a:solidFill>
                  <a:srgbClr val="ECEDF0"/>
                </a:solidFill>
                <a:latin typeface="Calibri" pitchFamily="34" charset="0"/>
                <a:ea typeface="Calibri" pitchFamily="34" charset="-122"/>
                <a:cs typeface="Calibri" pitchFamily="34" charset="-120"/>
              </a:rPr>
              <a:t>   ·   MSc Materials Science &amp; Engineering, TU Delft   ·   Internship at DIFFER</a:t>
            </a:r>
            <a:endParaRPr lang="en-US" sz="1300" dirty="0"/>
          </a:p>
        </p:txBody>
      </p:sp>
      <p:sp>
        <p:nvSpPr>
          <p:cNvPr id="7" name="Text 5"/>
          <p:cNvSpPr/>
          <p:nvPr/>
        </p:nvSpPr>
        <p:spPr>
          <a:xfrm>
            <a:off x="822960" y="5440680"/>
            <a:ext cx="10058400" cy="365760"/>
          </a:xfrm>
          <a:prstGeom prst="rect">
            <a:avLst/>
          </a:prstGeom>
          <a:noFill/>
          <a:ln/>
        </p:spPr>
        <p:txBody>
          <a:bodyPr wrap="square" rtlCol="0" anchor="ctr"/>
          <a:lstStyle/>
          <a:p>
            <a:pPr indent="0" marL="0">
              <a:buNone/>
            </a:pPr>
            <a:r>
              <a:rPr lang="en-US" sz="1200" dirty="0">
                <a:solidFill>
                  <a:srgbClr val="6B7280"/>
                </a:solidFill>
                <a:latin typeface="Calibri" pitchFamily="34" charset="0"/>
                <a:ea typeface="Calibri" pitchFamily="34" charset="-122"/>
                <a:cs typeface="Calibri" pitchFamily="34" charset="-120"/>
              </a:rPr>
              <a:t>Progress review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THE STARTING POINT</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What the SuperSalt paper did</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Shape 3"/>
          <p:cNvSpPr/>
          <p:nvPr/>
        </p:nvSpPr>
        <p:spPr>
          <a:xfrm>
            <a:off x="640080" y="1645920"/>
            <a:ext cx="1874520" cy="1143000"/>
          </a:xfrm>
          <a:prstGeom prst="roundRect">
            <a:avLst>
              <a:gd name="adj" fmla="val 6400"/>
            </a:avLst>
          </a:prstGeom>
          <a:solidFill>
            <a:srgbClr val="F5F6F4"/>
          </a:solidFill>
          <a:ln w="19050">
            <a:solidFill>
              <a:srgbClr val="179C8E"/>
            </a:solidFill>
            <a:prstDash val="solid"/>
          </a:ln>
        </p:spPr>
      </p:sp>
      <p:sp>
        <p:nvSpPr>
          <p:cNvPr id="6" name="Text 4"/>
          <p:cNvSpPr/>
          <p:nvPr/>
        </p:nvSpPr>
        <p:spPr>
          <a:xfrm>
            <a:off x="640080" y="1783080"/>
            <a:ext cx="1874520" cy="411480"/>
          </a:xfrm>
          <a:prstGeom prst="rect">
            <a:avLst/>
          </a:prstGeom>
          <a:noFill/>
          <a:ln/>
        </p:spPr>
        <p:txBody>
          <a:bodyPr wrap="square" rtlCol="0" anchor="ctr"/>
          <a:lstStyle/>
          <a:p>
            <a:pPr algn="ctr" indent="0" marL="0">
              <a:buNone/>
            </a:pPr>
            <a:r>
              <a:rPr lang="en-US" sz="1350" b="1" dirty="0">
                <a:solidFill>
                  <a:srgbClr val="1A1C22"/>
                </a:solidFill>
                <a:latin typeface="Georgia" pitchFamily="34" charset="0"/>
                <a:ea typeface="Georgia" pitchFamily="34" charset="-122"/>
                <a:cs typeface="Georgia" pitchFamily="34" charset="-120"/>
              </a:rPr>
              <a:t>MD frames</a:t>
            </a:r>
            <a:endParaRPr lang="en-US" sz="1350" dirty="0"/>
          </a:p>
        </p:txBody>
      </p:sp>
      <p:sp>
        <p:nvSpPr>
          <p:cNvPr id="7" name="Text 5"/>
          <p:cNvSpPr/>
          <p:nvPr/>
        </p:nvSpPr>
        <p:spPr>
          <a:xfrm>
            <a:off x="713232" y="2194560"/>
            <a:ext cx="1728216" cy="45720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MACE-MP0</a:t>
            </a:r>
            <a:endParaRPr lang="en-US" sz="1050" dirty="0"/>
          </a:p>
        </p:txBody>
      </p:sp>
      <p:sp>
        <p:nvSpPr>
          <p:cNvPr id="8" name="Text 6"/>
          <p:cNvSpPr/>
          <p:nvPr/>
        </p:nvSpPr>
        <p:spPr>
          <a:xfrm>
            <a:off x="2487168" y="1737360"/>
            <a:ext cx="274320" cy="960120"/>
          </a:xfrm>
          <a:prstGeom prst="rect">
            <a:avLst/>
          </a:prstGeom>
          <a:noFill/>
          <a:ln/>
        </p:spPr>
        <p:txBody>
          <a:bodyPr wrap="square" rtlCol="0" anchor="ctr"/>
          <a:lstStyle/>
          <a:p>
            <a:pPr algn="ctr" indent="0" marL="0">
              <a:buNone/>
            </a:pPr>
            <a:r>
              <a:rPr lang="en-US" sz="2400" b="1" dirty="0">
                <a:solidFill>
                  <a:srgbClr val="F2711C"/>
                </a:solidFill>
                <a:latin typeface="Georgia" pitchFamily="34" charset="0"/>
                <a:ea typeface="Georgia" pitchFamily="34" charset="-122"/>
                <a:cs typeface="Georgia" pitchFamily="34" charset="-120"/>
              </a:rPr>
              <a:t>›</a:t>
            </a:r>
            <a:endParaRPr lang="en-US" sz="2400" dirty="0"/>
          </a:p>
        </p:txBody>
      </p:sp>
      <p:sp>
        <p:nvSpPr>
          <p:cNvPr id="9" name="Shape 7"/>
          <p:cNvSpPr/>
          <p:nvPr/>
        </p:nvSpPr>
        <p:spPr>
          <a:xfrm>
            <a:off x="2770632" y="1645920"/>
            <a:ext cx="1874520" cy="1143000"/>
          </a:xfrm>
          <a:prstGeom prst="roundRect">
            <a:avLst>
              <a:gd name="adj" fmla="val 6400"/>
            </a:avLst>
          </a:prstGeom>
          <a:solidFill>
            <a:srgbClr val="F5F6F4"/>
          </a:solidFill>
          <a:ln w="19050">
            <a:solidFill>
              <a:srgbClr val="F2711C"/>
            </a:solidFill>
            <a:prstDash val="solid"/>
          </a:ln>
        </p:spPr>
      </p:sp>
      <p:sp>
        <p:nvSpPr>
          <p:cNvPr id="10" name="Text 8"/>
          <p:cNvSpPr/>
          <p:nvPr/>
        </p:nvSpPr>
        <p:spPr>
          <a:xfrm>
            <a:off x="2770632" y="1783080"/>
            <a:ext cx="1874520" cy="411480"/>
          </a:xfrm>
          <a:prstGeom prst="rect">
            <a:avLst/>
          </a:prstGeom>
          <a:noFill/>
          <a:ln/>
        </p:spPr>
        <p:txBody>
          <a:bodyPr wrap="square" rtlCol="0" anchor="ctr"/>
          <a:lstStyle/>
          <a:p>
            <a:pPr algn="ctr" indent="0" marL="0">
              <a:buNone/>
            </a:pPr>
            <a:r>
              <a:rPr lang="en-US" sz="1350" b="1" dirty="0">
                <a:solidFill>
                  <a:srgbClr val="1A1C22"/>
                </a:solidFill>
                <a:latin typeface="Georgia" pitchFamily="34" charset="0"/>
                <a:ea typeface="Georgia" pitchFamily="34" charset="-122"/>
                <a:cs typeface="Georgia" pitchFamily="34" charset="-120"/>
              </a:rPr>
              <a:t>Cluster</a:t>
            </a:r>
            <a:endParaRPr lang="en-US" sz="1350" dirty="0"/>
          </a:p>
        </p:txBody>
      </p:sp>
      <p:sp>
        <p:nvSpPr>
          <p:cNvPr id="11" name="Text 9"/>
          <p:cNvSpPr/>
          <p:nvPr/>
        </p:nvSpPr>
        <p:spPr>
          <a:xfrm>
            <a:off x="2843784" y="2194560"/>
            <a:ext cx="1728216" cy="45720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 ~70k structures</a:t>
            </a:r>
            <a:endParaRPr lang="en-US" sz="1050" dirty="0"/>
          </a:p>
        </p:txBody>
      </p:sp>
      <p:sp>
        <p:nvSpPr>
          <p:cNvPr id="12" name="Text 10"/>
          <p:cNvSpPr/>
          <p:nvPr/>
        </p:nvSpPr>
        <p:spPr>
          <a:xfrm>
            <a:off x="4617720" y="1737360"/>
            <a:ext cx="274320" cy="960120"/>
          </a:xfrm>
          <a:prstGeom prst="rect">
            <a:avLst/>
          </a:prstGeom>
          <a:noFill/>
          <a:ln/>
        </p:spPr>
        <p:txBody>
          <a:bodyPr wrap="square" rtlCol="0" anchor="ctr"/>
          <a:lstStyle/>
          <a:p>
            <a:pPr algn="ctr" indent="0" marL="0">
              <a:buNone/>
            </a:pPr>
            <a:r>
              <a:rPr lang="en-US" sz="2400" b="1" dirty="0">
                <a:solidFill>
                  <a:srgbClr val="F2711C"/>
                </a:solidFill>
                <a:latin typeface="Georgia" pitchFamily="34" charset="0"/>
                <a:ea typeface="Georgia" pitchFamily="34" charset="-122"/>
                <a:cs typeface="Georgia" pitchFamily="34" charset="-120"/>
              </a:rPr>
              <a:t>›</a:t>
            </a:r>
            <a:endParaRPr lang="en-US" sz="2400" dirty="0"/>
          </a:p>
        </p:txBody>
      </p:sp>
      <p:sp>
        <p:nvSpPr>
          <p:cNvPr id="13" name="Shape 11"/>
          <p:cNvSpPr/>
          <p:nvPr/>
        </p:nvSpPr>
        <p:spPr>
          <a:xfrm>
            <a:off x="4901184" y="1645920"/>
            <a:ext cx="1874520" cy="1143000"/>
          </a:xfrm>
          <a:prstGeom prst="roundRect">
            <a:avLst>
              <a:gd name="adj" fmla="val 6400"/>
            </a:avLst>
          </a:prstGeom>
          <a:solidFill>
            <a:srgbClr val="F5F6F4"/>
          </a:solidFill>
          <a:ln w="19050">
            <a:solidFill>
              <a:srgbClr val="179C8E"/>
            </a:solidFill>
            <a:prstDash val="solid"/>
          </a:ln>
        </p:spPr>
      </p:sp>
      <p:sp>
        <p:nvSpPr>
          <p:cNvPr id="14" name="Text 12"/>
          <p:cNvSpPr/>
          <p:nvPr/>
        </p:nvSpPr>
        <p:spPr>
          <a:xfrm>
            <a:off x="4901184" y="1783080"/>
            <a:ext cx="1874520" cy="411480"/>
          </a:xfrm>
          <a:prstGeom prst="rect">
            <a:avLst/>
          </a:prstGeom>
          <a:noFill/>
          <a:ln/>
        </p:spPr>
        <p:txBody>
          <a:bodyPr wrap="square" rtlCol="0" anchor="ctr"/>
          <a:lstStyle/>
          <a:p>
            <a:pPr algn="ctr" indent="0" marL="0">
              <a:buNone/>
            </a:pPr>
            <a:r>
              <a:rPr lang="en-US" sz="1350" b="1" dirty="0">
                <a:solidFill>
                  <a:srgbClr val="1A1C22"/>
                </a:solidFill>
                <a:latin typeface="Georgia" pitchFamily="34" charset="0"/>
                <a:ea typeface="Georgia" pitchFamily="34" charset="-122"/>
                <a:cs typeface="Georgia" pitchFamily="34" charset="-120"/>
              </a:rPr>
              <a:t>DFT labels</a:t>
            </a:r>
            <a:endParaRPr lang="en-US" sz="1350" dirty="0"/>
          </a:p>
        </p:txBody>
      </p:sp>
      <p:sp>
        <p:nvSpPr>
          <p:cNvPr id="15" name="Text 13"/>
          <p:cNvSpPr/>
          <p:nvPr/>
        </p:nvSpPr>
        <p:spPr>
          <a:xfrm>
            <a:off x="4974336" y="2194560"/>
            <a:ext cx="1728216" cy="45720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energies + forces</a:t>
            </a:r>
            <a:endParaRPr lang="en-US" sz="1050" dirty="0"/>
          </a:p>
        </p:txBody>
      </p:sp>
      <p:sp>
        <p:nvSpPr>
          <p:cNvPr id="16" name="Text 14"/>
          <p:cNvSpPr/>
          <p:nvPr/>
        </p:nvSpPr>
        <p:spPr>
          <a:xfrm>
            <a:off x="6748272" y="1737360"/>
            <a:ext cx="274320" cy="960120"/>
          </a:xfrm>
          <a:prstGeom prst="rect">
            <a:avLst/>
          </a:prstGeom>
          <a:noFill/>
          <a:ln/>
        </p:spPr>
        <p:txBody>
          <a:bodyPr wrap="square" rtlCol="0" anchor="ctr"/>
          <a:lstStyle/>
          <a:p>
            <a:pPr algn="ctr" indent="0" marL="0">
              <a:buNone/>
            </a:pPr>
            <a:r>
              <a:rPr lang="en-US" sz="2400" b="1" dirty="0">
                <a:solidFill>
                  <a:srgbClr val="F2711C"/>
                </a:solidFill>
                <a:latin typeface="Georgia" pitchFamily="34" charset="0"/>
                <a:ea typeface="Georgia" pitchFamily="34" charset="-122"/>
                <a:cs typeface="Georgia" pitchFamily="34" charset="-120"/>
              </a:rPr>
              <a:t>›</a:t>
            </a:r>
            <a:endParaRPr lang="en-US" sz="2400" dirty="0"/>
          </a:p>
        </p:txBody>
      </p:sp>
      <p:sp>
        <p:nvSpPr>
          <p:cNvPr id="17" name="Shape 15"/>
          <p:cNvSpPr/>
          <p:nvPr/>
        </p:nvSpPr>
        <p:spPr>
          <a:xfrm>
            <a:off x="7031736" y="1645920"/>
            <a:ext cx="1874520" cy="1143000"/>
          </a:xfrm>
          <a:prstGeom prst="roundRect">
            <a:avLst>
              <a:gd name="adj" fmla="val 6400"/>
            </a:avLst>
          </a:prstGeom>
          <a:solidFill>
            <a:srgbClr val="F5F6F4"/>
          </a:solidFill>
          <a:ln w="19050">
            <a:solidFill>
              <a:srgbClr val="F2711C"/>
            </a:solidFill>
            <a:prstDash val="solid"/>
          </a:ln>
        </p:spPr>
      </p:sp>
      <p:sp>
        <p:nvSpPr>
          <p:cNvPr id="18" name="Text 16"/>
          <p:cNvSpPr/>
          <p:nvPr/>
        </p:nvSpPr>
        <p:spPr>
          <a:xfrm>
            <a:off x="7031736" y="1783080"/>
            <a:ext cx="1874520" cy="411480"/>
          </a:xfrm>
          <a:prstGeom prst="rect">
            <a:avLst/>
          </a:prstGeom>
          <a:noFill/>
          <a:ln/>
        </p:spPr>
        <p:txBody>
          <a:bodyPr wrap="square" rtlCol="0" anchor="ctr"/>
          <a:lstStyle/>
          <a:p>
            <a:pPr algn="ctr" indent="0" marL="0">
              <a:buNone/>
            </a:pPr>
            <a:r>
              <a:rPr lang="en-US" sz="1350" b="1" dirty="0">
                <a:solidFill>
                  <a:srgbClr val="1A1C22"/>
                </a:solidFill>
                <a:latin typeface="Georgia" pitchFamily="34" charset="0"/>
                <a:ea typeface="Georgia" pitchFamily="34" charset="-122"/>
                <a:cs typeface="Georgia" pitchFamily="34" charset="-120"/>
              </a:rPr>
              <a:t>Train MACE</a:t>
            </a:r>
            <a:endParaRPr lang="en-US" sz="1350" dirty="0"/>
          </a:p>
        </p:txBody>
      </p:sp>
      <p:sp>
        <p:nvSpPr>
          <p:cNvPr id="19" name="Text 17"/>
          <p:cNvSpPr/>
          <p:nvPr/>
        </p:nvSpPr>
        <p:spPr>
          <a:xfrm>
            <a:off x="7104888" y="2194560"/>
            <a:ext cx="1728216" cy="45720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neural network</a:t>
            </a:r>
            <a:endParaRPr lang="en-US" sz="1050" dirty="0"/>
          </a:p>
        </p:txBody>
      </p:sp>
      <p:sp>
        <p:nvSpPr>
          <p:cNvPr id="20" name="Text 18"/>
          <p:cNvSpPr/>
          <p:nvPr/>
        </p:nvSpPr>
        <p:spPr>
          <a:xfrm>
            <a:off x="8878824" y="1737360"/>
            <a:ext cx="274320" cy="960120"/>
          </a:xfrm>
          <a:prstGeom prst="rect">
            <a:avLst/>
          </a:prstGeom>
          <a:noFill/>
          <a:ln/>
        </p:spPr>
        <p:txBody>
          <a:bodyPr wrap="square" rtlCol="0" anchor="ctr"/>
          <a:lstStyle/>
          <a:p>
            <a:pPr algn="ctr" indent="0" marL="0">
              <a:buNone/>
            </a:pPr>
            <a:r>
              <a:rPr lang="en-US" sz="2400" b="1" dirty="0">
                <a:solidFill>
                  <a:srgbClr val="F2711C"/>
                </a:solidFill>
                <a:latin typeface="Georgia" pitchFamily="34" charset="0"/>
                <a:ea typeface="Georgia" pitchFamily="34" charset="-122"/>
                <a:cs typeface="Georgia" pitchFamily="34" charset="-120"/>
              </a:rPr>
              <a:t>›</a:t>
            </a:r>
            <a:endParaRPr lang="en-US" sz="2400" dirty="0"/>
          </a:p>
        </p:txBody>
      </p:sp>
      <p:sp>
        <p:nvSpPr>
          <p:cNvPr id="21" name="Shape 19"/>
          <p:cNvSpPr/>
          <p:nvPr/>
        </p:nvSpPr>
        <p:spPr>
          <a:xfrm>
            <a:off x="9162288" y="1645920"/>
            <a:ext cx="1874520" cy="1143000"/>
          </a:xfrm>
          <a:prstGeom prst="roundRect">
            <a:avLst>
              <a:gd name="adj" fmla="val 6400"/>
            </a:avLst>
          </a:prstGeom>
          <a:solidFill>
            <a:srgbClr val="F5F6F4"/>
          </a:solidFill>
          <a:ln w="19050">
            <a:solidFill>
              <a:srgbClr val="179C8E"/>
            </a:solidFill>
            <a:prstDash val="solid"/>
          </a:ln>
        </p:spPr>
      </p:sp>
      <p:sp>
        <p:nvSpPr>
          <p:cNvPr id="22" name="Text 20"/>
          <p:cNvSpPr/>
          <p:nvPr/>
        </p:nvSpPr>
        <p:spPr>
          <a:xfrm>
            <a:off x="9162288" y="1783080"/>
            <a:ext cx="1874520" cy="411480"/>
          </a:xfrm>
          <a:prstGeom prst="rect">
            <a:avLst/>
          </a:prstGeom>
          <a:noFill/>
          <a:ln/>
        </p:spPr>
        <p:txBody>
          <a:bodyPr wrap="square" rtlCol="0" anchor="ctr"/>
          <a:lstStyle/>
          <a:p>
            <a:pPr algn="ctr" indent="0" marL="0">
              <a:buNone/>
            </a:pPr>
            <a:r>
              <a:rPr lang="en-US" sz="1350" b="1" dirty="0">
                <a:solidFill>
                  <a:srgbClr val="1A1C22"/>
                </a:solidFill>
                <a:latin typeface="Georgia" pitchFamily="34" charset="0"/>
                <a:ea typeface="Georgia" pitchFamily="34" charset="-122"/>
                <a:cs typeface="Georgia" pitchFamily="34" charset="-120"/>
              </a:rPr>
              <a:t>Benchmark</a:t>
            </a:r>
            <a:endParaRPr lang="en-US" sz="1350" dirty="0"/>
          </a:p>
        </p:txBody>
      </p:sp>
      <p:sp>
        <p:nvSpPr>
          <p:cNvPr id="23" name="Text 21"/>
          <p:cNvSpPr/>
          <p:nvPr/>
        </p:nvSpPr>
        <p:spPr>
          <a:xfrm>
            <a:off x="9235440" y="2194560"/>
            <a:ext cx="1728216" cy="457200"/>
          </a:xfrm>
          <a:prstGeom prst="rect">
            <a:avLst/>
          </a:prstGeom>
          <a:noFill/>
          <a:ln/>
        </p:spPr>
        <p:txBody>
          <a:bodyPr wrap="square"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accuracy + properties</a:t>
            </a:r>
            <a:endParaRPr lang="en-US" sz="1050" dirty="0"/>
          </a:p>
        </p:txBody>
      </p:sp>
      <p:sp>
        <p:nvSpPr>
          <p:cNvPr id="24" name="Text 22"/>
          <p:cNvSpPr/>
          <p:nvPr/>
        </p:nvSpPr>
        <p:spPr>
          <a:xfrm>
            <a:off x="640080" y="3063240"/>
            <a:ext cx="10972800" cy="3840480"/>
          </a:xfrm>
          <a:prstGeom prst="rect">
            <a:avLst/>
          </a:prstGeom>
          <a:noFill/>
          <a:ln/>
        </p:spPr>
        <p:txBody>
          <a:bodyPr wrap="square" rtlCol="0" anchor="t"/>
          <a:lstStyle/>
          <a:p>
            <a:pPr marL="177800" indent="-177800">
              <a:spcAft>
                <a:spcPts val="1100"/>
              </a:spcAft>
              <a:buSzPct val="100000"/>
              <a:buChar char="•"/>
            </a:pPr>
            <a:r>
              <a:rPr lang="en-US" sz="1450" dirty="0">
                <a:solidFill>
                  <a:srgbClr val="1A1C22"/>
                </a:solidFill>
                <a:latin typeface="Calibri" pitchFamily="34" charset="0"/>
                <a:ea typeface="Calibri" pitchFamily="34" charset="-122"/>
                <a:cs typeface="Calibri" pitchFamily="34" charset="-120"/>
              </a:rPr>
              <a:t>SuperSalt built a molten-salt-specific model for 11 cations + Cl (12 species): ~70,000 DFT-labelled structures, used to train a MACE neural-network force field.</a:t>
            </a:r>
            <a:endParaRPr lang="en-US" sz="1450" dirty="0"/>
          </a:p>
          <a:p>
            <a:pPr marL="177800" indent="-177800">
              <a:spcAft>
                <a:spcPts val="1100"/>
              </a:spcAft>
              <a:buSzPct val="100000"/>
              <a:buChar char="•"/>
            </a:pPr>
            <a:r>
              <a:rPr lang="en-US" sz="1450" b="1" dirty="0">
                <a:solidFill>
                  <a:srgbClr val="1A1C22"/>
                </a:solidFill>
                <a:latin typeface="Calibri" pitchFamily="34" charset="0"/>
                <a:ea typeface="Calibri" pitchFamily="34" charset="-122"/>
                <a:cs typeface="Calibri" pitchFamily="34" charset="-120"/>
              </a:rPr>
              <a:t>Reported accuracy: force RMSE 19.6 and 24.4 meV/Å on its two test sets — about 10× better than the generic MACE-MP0 baseline.</a:t>
            </a:r>
            <a:endParaRPr lang="en-US" sz="1450" dirty="0"/>
          </a:p>
          <a:p>
            <a:pPr marL="177800" indent="-177800">
              <a:spcAft>
                <a:spcPts val="1100"/>
              </a:spcAft>
              <a:buSzPct val="100000"/>
              <a:buChar char="•"/>
            </a:pPr>
            <a:r>
              <a:rPr lang="en-US" sz="1450" dirty="0">
                <a:solidFill>
                  <a:srgbClr val="6B7280"/>
                </a:solidFill>
                <a:latin typeface="Calibri" pitchFamily="34" charset="0"/>
                <a:ea typeface="Calibri" pitchFamily="34" charset="-122"/>
                <a:cs typeface="Calibri" pitchFamily="34" charset="-120"/>
              </a:rPr>
              <a:t>Very accurate — but a heavy neural network: expensive to train (~96 GPU-hours) and evaluate, and a black box.</a:t>
            </a:r>
            <a:endParaRPr lang="en-US" sz="1450" dirty="0"/>
          </a:p>
        </p:txBody>
      </p:sp>
      <p:sp>
        <p:nvSpPr>
          <p:cNvPr id="26" name="Text 23"/>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27" name="Text 24"/>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OUR APPROACH</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Reuse their data — build a lighter, interpretable model</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Text 3"/>
          <p:cNvSpPr/>
          <p:nvPr/>
        </p:nvSpPr>
        <p:spPr>
          <a:xfrm>
            <a:off x="640080" y="1645920"/>
            <a:ext cx="10972800" cy="3840480"/>
          </a:xfrm>
          <a:prstGeom prst="rect">
            <a:avLst/>
          </a:prstGeom>
          <a:noFill/>
          <a:ln/>
        </p:spPr>
        <p:txBody>
          <a:bodyPr wrap="square" rtlCol="0" anchor="t"/>
          <a:lstStyle/>
          <a:p>
            <a:pPr marL="177800" indent="-177800">
              <a:spcAft>
                <a:spcPts val="1200"/>
              </a:spcAft>
              <a:buSzPct val="100000"/>
              <a:buChar char="•"/>
            </a:pPr>
            <a:r>
              <a:rPr lang="en-US" sz="1500" dirty="0">
                <a:solidFill>
                  <a:srgbClr val="1A1C22"/>
                </a:solidFill>
                <a:latin typeface="Calibri" pitchFamily="34" charset="0"/>
                <a:ea typeface="Calibri" pitchFamily="34" charset="-122"/>
                <a:cs typeface="Calibri" pitchFamily="34" charset="-120"/>
              </a:rPr>
              <a:t>Inherit SuperSalt's ~70k DFT dataset directly — skip the expensive frame-generation and DFT steps, start from their labelled data.</a:t>
            </a:r>
            <a:endParaRPr lang="en-US" sz="1500" dirty="0"/>
          </a:p>
          <a:p>
            <a:pPr marL="177800" indent="-177800">
              <a:spcAft>
                <a:spcPts val="1200"/>
              </a:spcAft>
              <a:buSzPct val="100000"/>
              <a:buChar char="•"/>
            </a:pPr>
            <a:r>
              <a:rPr lang="en-US" sz="1500" dirty="0">
                <a:solidFill>
                  <a:srgbClr val="1A1C22"/>
                </a:solidFill>
                <a:latin typeface="Calibri" pitchFamily="34" charset="0"/>
                <a:ea typeface="Calibri" pitchFamily="34" charset="-122"/>
                <a:cs typeface="Calibri" pitchFamily="34" charset="-120"/>
              </a:rPr>
              <a:t>First reproduce their benchmark, to prove the pipeline and the error metric are trustworthy.</a:t>
            </a:r>
            <a:endParaRPr lang="en-US" sz="1500" dirty="0"/>
          </a:p>
          <a:p>
            <a:pPr marL="177800" indent="-177800">
              <a:spcAft>
                <a:spcPts val="1200"/>
              </a:spcAft>
              <a:buSzPct val="100000"/>
              <a:buChar char="•"/>
            </a:pPr>
            <a:r>
              <a:rPr lang="en-US" sz="1500" b="1" dirty="0">
                <a:solidFill>
                  <a:srgbClr val="1A1C22"/>
                </a:solidFill>
                <a:latin typeface="Calibri" pitchFamily="34" charset="0"/>
                <a:ea typeface="Calibri" pitchFamily="34" charset="-122"/>
                <a:cs typeface="Calibri" pitchFamily="34" charset="-120"/>
              </a:rPr>
              <a:t>Then build our own force field with UF3 — the energy written as a sum of simple two-body (pair) and three-body (triangle) terms, fit to the same DFT data by a single linear least-squares solve.</a:t>
            </a:r>
            <a:endParaRPr lang="en-US" sz="1500" dirty="0"/>
          </a:p>
          <a:p>
            <a:pPr marL="177800" indent="-177800">
              <a:spcAft>
                <a:spcPts val="1200"/>
              </a:spcAft>
              <a:buSzPct val="100000"/>
              <a:buChar char="•"/>
            </a:pPr>
            <a:r>
              <a:rPr lang="en-US" sz="1500" dirty="0">
                <a:solidFill>
                  <a:srgbClr val="6B7280"/>
                </a:solidFill>
                <a:latin typeface="Calibri" pitchFamily="34" charset="0"/>
                <a:ea typeface="Calibri" pitchFamily="34" charset="-122"/>
                <a:cs typeface="Calibri" pitchFamily="34" charset="-120"/>
              </a:rPr>
              <a:t>Why UF3: ~1000× cheaper than the neural net, and interpretable — every term is a curve you can plot.</a:t>
            </a:r>
            <a:endParaRPr lang="en-US" sz="1500" dirty="0"/>
          </a:p>
        </p:txBody>
      </p:sp>
      <p:sp>
        <p:nvSpPr>
          <p:cNvPr id="6" name="Shape 4"/>
          <p:cNvSpPr/>
          <p:nvPr/>
        </p:nvSpPr>
        <p:spPr>
          <a:xfrm>
            <a:off x="640080" y="5257800"/>
            <a:ext cx="10881360" cy="868680"/>
          </a:xfrm>
          <a:prstGeom prst="roundRect">
            <a:avLst>
              <a:gd name="adj" fmla="val 8421"/>
            </a:avLst>
          </a:prstGeom>
          <a:solidFill>
            <a:srgbClr val="E8F5F2"/>
          </a:solidFill>
          <a:ln w="12700">
            <a:solidFill>
              <a:srgbClr val="179C8E"/>
            </a:solidFill>
            <a:prstDash val="solid"/>
          </a:ln>
        </p:spPr>
      </p:sp>
      <p:sp>
        <p:nvSpPr>
          <p:cNvPr id="7" name="Text 5"/>
          <p:cNvSpPr/>
          <p:nvPr/>
        </p:nvSpPr>
        <p:spPr>
          <a:xfrm>
            <a:off x="914400" y="5349240"/>
            <a:ext cx="10332720" cy="685800"/>
          </a:xfrm>
          <a:prstGeom prst="rect">
            <a:avLst/>
          </a:prstGeom>
          <a:noFill/>
          <a:ln/>
        </p:spPr>
        <p:txBody>
          <a:bodyPr wrap="square" rtlCol="0" anchor="ctr"/>
          <a:lstStyle/>
          <a:p>
            <a:pPr indent="0" marL="0">
              <a:buNone/>
            </a:pPr>
            <a:r>
              <a:rPr lang="en-US" sz="1400" b="1" dirty="0">
                <a:solidFill>
                  <a:srgbClr val="179C8E"/>
                </a:solidFill>
                <a:latin typeface="Calibri" pitchFamily="34" charset="0"/>
                <a:ea typeface="Calibri" pitchFamily="34" charset="-122"/>
                <a:cs typeface="Calibri" pitchFamily="34" charset="-120"/>
              </a:rPr>
              <a:t>In one line:  </a:t>
            </a:r>
            <a:pPr indent="0" marL="0">
              <a:buNone/>
            </a:pPr>
            <a:r>
              <a:rPr lang="en-US" sz="1400" dirty="0">
                <a:solidFill>
                  <a:srgbClr val="1A1C22"/>
                </a:solidFill>
                <a:latin typeface="Calibri" pitchFamily="34" charset="0"/>
                <a:ea typeface="Calibri" pitchFamily="34" charset="-122"/>
                <a:cs typeface="Calibri" pitchFamily="34" charset="-120"/>
              </a:rPr>
              <a:t>same data as SuperSalt, a much simpler and cheaper model — how close can it get?</a:t>
            </a:r>
            <a:endParaRPr lang="en-US" sz="1400" dirty="0"/>
          </a:p>
        </p:txBody>
      </p:sp>
      <p:sp>
        <p:nvSpPr>
          <p:cNvPr id="9" name="Text 6"/>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10" name="Text 7"/>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STEP 1 · REPRODUCTION</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We reproduced the SuperSalt benchmark</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Text 3"/>
          <p:cNvSpPr/>
          <p:nvPr/>
        </p:nvSpPr>
        <p:spPr>
          <a:xfrm>
            <a:off x="640080" y="1691640"/>
            <a:ext cx="5212080" cy="3840480"/>
          </a:xfrm>
          <a:prstGeom prst="rect">
            <a:avLst/>
          </a:prstGeom>
          <a:noFill/>
          <a:ln/>
        </p:spPr>
        <p:txBody>
          <a:bodyPr wrap="square" rtlCol="0" anchor="t"/>
          <a:lstStyle/>
          <a:p>
            <a:pPr marL="177800" indent="-177800">
              <a:spcAft>
                <a:spcPts val="1100"/>
              </a:spcAft>
              <a:buSzPct val="100000"/>
              <a:buChar char="•"/>
            </a:pPr>
            <a:r>
              <a:rPr lang="en-US" sz="1350" dirty="0">
                <a:solidFill>
                  <a:srgbClr val="1A1C22"/>
                </a:solidFill>
                <a:latin typeface="Calibri" pitchFamily="34" charset="0"/>
                <a:ea typeface="Calibri" pitchFamily="34" charset="-122"/>
                <a:cs typeface="Calibri" pitchFamily="34" charset="-120"/>
              </a:rPr>
              <a:t>Re-scored the authors' SWA model (the one they actually used) on both official test sets.</a:t>
            </a:r>
            <a:endParaRPr lang="en-US" sz="1350" dirty="0"/>
          </a:p>
          <a:p>
            <a:pPr marL="177800" indent="-177800">
              <a:spcAft>
                <a:spcPts val="1100"/>
              </a:spcAft>
              <a:buSzPct val="100000"/>
              <a:buChar char="•"/>
            </a:pPr>
            <a:r>
              <a:rPr lang="en-US" sz="1350" b="1" dirty="0">
                <a:solidFill>
                  <a:srgbClr val="1A1C22"/>
                </a:solidFill>
                <a:latin typeface="Calibri" pitchFamily="34" charset="0"/>
                <a:ea typeface="Calibri" pitchFamily="34" charset="-122"/>
                <a:cs typeface="Calibri" pitchFamily="34" charset="-120"/>
              </a:rPr>
              <a:t>Test 2 matched the paper exactly (24.4 meV/Å); Test 1 came out 17.6 vs 19.6 — slightly better.</a:t>
            </a:r>
            <a:endParaRPr lang="en-US" sz="1350" dirty="0"/>
          </a:p>
          <a:p>
            <a:pPr marL="177800" indent="-177800">
              <a:spcAft>
                <a:spcPts val="1100"/>
              </a:spcAft>
              <a:buSzPct val="100000"/>
              <a:buChar char="•"/>
            </a:pPr>
            <a:r>
              <a:rPr lang="en-US" sz="1350" dirty="0">
                <a:solidFill>
                  <a:srgbClr val="6B7280"/>
                </a:solidFill>
                <a:latin typeface="Calibri" pitchFamily="34" charset="0"/>
                <a:ea typeface="Calibri" pitchFamily="34" charset="-122"/>
                <a:cs typeface="Calibri" pitchFamily="34" charset="-120"/>
              </a:rPr>
              <a:t>The small Test-1 difference is a known reproducibility gap (the paper doesn't state which model made each figure) — we independently hit the same ambiguity Daniel documented.</a:t>
            </a:r>
            <a:endParaRPr lang="en-US" sz="1350" dirty="0"/>
          </a:p>
          <a:p>
            <a:pPr marL="177800" indent="-177800">
              <a:spcAft>
                <a:spcPts val="1100"/>
              </a:spcAft>
              <a:buSzPct val="100000"/>
              <a:buChar char="•"/>
            </a:pPr>
            <a:r>
              <a:rPr lang="en-US" sz="1350" dirty="0">
                <a:solidFill>
                  <a:srgbClr val="1A1C22"/>
                </a:solidFill>
                <a:latin typeface="Calibri" pitchFamily="34" charset="0"/>
                <a:ea typeface="Calibri" pitchFamily="34" charset="-122"/>
                <a:cs typeface="Calibri" pitchFamily="34" charset="-120"/>
              </a:rPr>
              <a:t>Either way, the data handling and error metric are validated before building anything new.</a:t>
            </a:r>
            <a:endParaRPr lang="en-US" sz="1350" dirty="0"/>
          </a:p>
        </p:txBody>
      </p:sp>
      <p:pic>
        <p:nvPicPr>
          <p:cNvPr id="6" name="Image 0" descr="repro_result.png">    </p:cNvPr>
          <p:cNvPicPr>
            <a:picLocks noChangeAspect="1"/>
          </p:cNvPicPr>
          <p:nvPr/>
        </p:nvPicPr>
        <p:blipFill>
          <a:blip r:embed="rId1"/>
          <a:stretch>
            <a:fillRect/>
          </a:stretch>
        </p:blipFill>
        <p:spPr>
          <a:xfrm>
            <a:off x="6126480" y="1600200"/>
            <a:ext cx="5486400" cy="3246120"/>
          </a:xfrm>
          <a:prstGeom prst="rect">
            <a:avLst/>
          </a:prstGeom>
        </p:spPr>
      </p:pic>
      <p:sp>
        <p:nvSpPr>
          <p:cNvPr id="7" name="Shape 4"/>
          <p:cNvSpPr/>
          <p:nvPr/>
        </p:nvSpPr>
        <p:spPr>
          <a:xfrm>
            <a:off x="640080" y="5212080"/>
            <a:ext cx="10881360" cy="868680"/>
          </a:xfrm>
          <a:prstGeom prst="roundRect">
            <a:avLst>
              <a:gd name="adj" fmla="val 8421"/>
            </a:avLst>
          </a:prstGeom>
          <a:solidFill>
            <a:srgbClr val="E8F5F2"/>
          </a:solidFill>
          <a:ln w="12700">
            <a:solidFill>
              <a:srgbClr val="179C8E"/>
            </a:solidFill>
            <a:prstDash val="solid"/>
          </a:ln>
        </p:spPr>
      </p:sp>
      <p:sp>
        <p:nvSpPr>
          <p:cNvPr id="8" name="Text 5"/>
          <p:cNvSpPr/>
          <p:nvPr/>
        </p:nvSpPr>
        <p:spPr>
          <a:xfrm>
            <a:off x="914400" y="5303520"/>
            <a:ext cx="10332720" cy="685800"/>
          </a:xfrm>
          <a:prstGeom prst="rect">
            <a:avLst/>
          </a:prstGeom>
          <a:noFill/>
          <a:ln/>
        </p:spPr>
        <p:txBody>
          <a:bodyPr wrap="square" rtlCol="0" anchor="ctr"/>
          <a:lstStyle/>
          <a:p>
            <a:pPr indent="0" marL="0">
              <a:buNone/>
            </a:pPr>
            <a:r>
              <a:rPr lang="en-US" sz="1400" b="1" dirty="0">
                <a:solidFill>
                  <a:srgbClr val="179C8E"/>
                </a:solidFill>
                <a:latin typeface="Calibri" pitchFamily="34" charset="0"/>
                <a:ea typeface="Calibri" pitchFamily="34" charset="-122"/>
                <a:cs typeface="Calibri" pitchFamily="34" charset="-120"/>
              </a:rPr>
              <a:t>Takeaway:  </a:t>
            </a:r>
            <a:pPr indent="0" marL="0">
              <a:buNone/>
            </a:pPr>
            <a:r>
              <a:rPr lang="en-US" sz="1400" dirty="0">
                <a:solidFill>
                  <a:srgbClr val="1A1C22"/>
                </a:solidFill>
                <a:latin typeface="Calibri" pitchFamily="34" charset="0"/>
                <a:ea typeface="Calibri" pitchFamily="34" charset="-122"/>
                <a:cs typeface="Calibri" pitchFamily="34" charset="-120"/>
              </a:rPr>
              <a:t>the pipeline is trustworthy — Test 2 reproduces exactly (24.4) and Test 1 is within ~2 meV/Å.</a:t>
            </a:r>
            <a:endParaRPr lang="en-US" sz="1400" dirty="0"/>
          </a:p>
        </p:txBody>
      </p:sp>
      <p:sp>
        <p:nvSpPr>
          <p:cNvPr id="10" name="Text 6"/>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11" name="Text 7"/>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STEP 2 · OUR MODEL</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We built the 2-body UF3 model</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Shape 3"/>
          <p:cNvSpPr/>
          <p:nvPr/>
        </p:nvSpPr>
        <p:spPr>
          <a:xfrm>
            <a:off x="640080" y="1691640"/>
            <a:ext cx="2514600" cy="1280160"/>
          </a:xfrm>
          <a:prstGeom prst="roundRect">
            <a:avLst>
              <a:gd name="adj" fmla="val 5714"/>
            </a:avLst>
          </a:prstGeom>
          <a:solidFill>
            <a:srgbClr val="F5F6F4"/>
          </a:solidFill>
          <a:ln w="19050">
            <a:solidFill>
              <a:srgbClr val="179C8E"/>
            </a:solidFill>
            <a:prstDash val="solid"/>
          </a:ln>
        </p:spPr>
      </p:sp>
      <p:sp>
        <p:nvSpPr>
          <p:cNvPr id="6" name="Text 4"/>
          <p:cNvSpPr/>
          <p:nvPr/>
        </p:nvSpPr>
        <p:spPr>
          <a:xfrm>
            <a:off x="640080" y="1847088"/>
            <a:ext cx="2514600" cy="457200"/>
          </a:xfrm>
          <a:prstGeom prst="rect">
            <a:avLst/>
          </a:prstGeom>
          <a:noFill/>
          <a:ln/>
        </p:spPr>
        <p:txBody>
          <a:bodyPr wrap="square" rtlCol="0" anchor="ctr"/>
          <a:lstStyle/>
          <a:p>
            <a:pPr algn="ctr" indent="0" marL="0">
              <a:buNone/>
            </a:pPr>
            <a:r>
              <a:rPr lang="en-US" sz="1500" b="1" dirty="0">
                <a:solidFill>
                  <a:srgbClr val="1A1C22"/>
                </a:solidFill>
                <a:latin typeface="Georgia" pitchFamily="34" charset="0"/>
                <a:ea typeface="Georgia" pitchFamily="34" charset="-122"/>
                <a:cs typeface="Georgia" pitchFamily="34" charset="-120"/>
              </a:rPr>
              <a:t>12 species</a:t>
            </a:r>
            <a:endParaRPr lang="en-US" sz="1500" dirty="0"/>
          </a:p>
        </p:txBody>
      </p:sp>
      <p:sp>
        <p:nvSpPr>
          <p:cNvPr id="7" name="Text 5"/>
          <p:cNvSpPr/>
          <p:nvPr/>
        </p:nvSpPr>
        <p:spPr>
          <a:xfrm>
            <a:off x="749808" y="2304288"/>
            <a:ext cx="2295144" cy="548640"/>
          </a:xfrm>
          <a:prstGeom prst="rect">
            <a:avLst/>
          </a:prstGeom>
          <a:noFill/>
          <a:ln/>
        </p:spPr>
        <p:txBody>
          <a:bodyPr wrap="square"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 78 pair types</a:t>
            </a:r>
            <a:endParaRPr lang="en-US" sz="1150" dirty="0"/>
          </a:p>
        </p:txBody>
      </p:sp>
      <p:sp>
        <p:nvSpPr>
          <p:cNvPr id="8" name="Text 6"/>
          <p:cNvSpPr/>
          <p:nvPr/>
        </p:nvSpPr>
        <p:spPr>
          <a:xfrm>
            <a:off x="3127248" y="1783080"/>
            <a:ext cx="320040" cy="1097280"/>
          </a:xfrm>
          <a:prstGeom prst="rect">
            <a:avLst/>
          </a:prstGeom>
          <a:noFill/>
          <a:ln/>
        </p:spPr>
        <p:txBody>
          <a:bodyPr wrap="square" rtlCol="0" anchor="ctr"/>
          <a:lstStyle/>
          <a:p>
            <a:pPr algn="ctr" indent="0" marL="0">
              <a:buNone/>
            </a:pPr>
            <a:r>
              <a:rPr lang="en-US" sz="2800" b="1" dirty="0">
                <a:solidFill>
                  <a:srgbClr val="F2711C"/>
                </a:solidFill>
                <a:latin typeface="Georgia" pitchFamily="34" charset="0"/>
                <a:ea typeface="Georgia" pitchFamily="34" charset="-122"/>
                <a:cs typeface="Georgia" pitchFamily="34" charset="-120"/>
              </a:rPr>
              <a:t>›</a:t>
            </a:r>
            <a:endParaRPr lang="en-US" sz="2800" dirty="0"/>
          </a:p>
        </p:txBody>
      </p:sp>
      <p:sp>
        <p:nvSpPr>
          <p:cNvPr id="9" name="Shape 7"/>
          <p:cNvSpPr/>
          <p:nvPr/>
        </p:nvSpPr>
        <p:spPr>
          <a:xfrm>
            <a:off x="3401568" y="1691640"/>
            <a:ext cx="2514600" cy="1280160"/>
          </a:xfrm>
          <a:prstGeom prst="roundRect">
            <a:avLst>
              <a:gd name="adj" fmla="val 5714"/>
            </a:avLst>
          </a:prstGeom>
          <a:solidFill>
            <a:srgbClr val="F5F6F4"/>
          </a:solidFill>
          <a:ln w="19050">
            <a:solidFill>
              <a:srgbClr val="F2711C"/>
            </a:solidFill>
            <a:prstDash val="solid"/>
          </a:ln>
        </p:spPr>
      </p:sp>
      <p:sp>
        <p:nvSpPr>
          <p:cNvPr id="10" name="Text 8"/>
          <p:cNvSpPr/>
          <p:nvPr/>
        </p:nvSpPr>
        <p:spPr>
          <a:xfrm>
            <a:off x="3401568" y="1847088"/>
            <a:ext cx="2514600" cy="457200"/>
          </a:xfrm>
          <a:prstGeom prst="rect">
            <a:avLst/>
          </a:prstGeom>
          <a:noFill/>
          <a:ln/>
        </p:spPr>
        <p:txBody>
          <a:bodyPr wrap="square" rtlCol="0" anchor="ctr"/>
          <a:lstStyle/>
          <a:p>
            <a:pPr algn="ctr" indent="0" marL="0">
              <a:buNone/>
            </a:pPr>
            <a:r>
              <a:rPr lang="en-US" sz="1500" b="1" dirty="0">
                <a:solidFill>
                  <a:srgbClr val="1A1C22"/>
                </a:solidFill>
                <a:latin typeface="Georgia" pitchFamily="34" charset="0"/>
                <a:ea typeface="Georgia" pitchFamily="34" charset="-122"/>
                <a:cs typeface="Georgia" pitchFamily="34" charset="-120"/>
              </a:rPr>
              <a:t>B-spline basis</a:t>
            </a:r>
            <a:endParaRPr lang="en-US" sz="1500" dirty="0"/>
          </a:p>
        </p:txBody>
      </p:sp>
      <p:sp>
        <p:nvSpPr>
          <p:cNvPr id="11" name="Text 9"/>
          <p:cNvSpPr/>
          <p:nvPr/>
        </p:nvSpPr>
        <p:spPr>
          <a:xfrm>
            <a:off x="3511296" y="2304288"/>
            <a:ext cx="2295144" cy="548640"/>
          </a:xfrm>
          <a:prstGeom prst="rect">
            <a:avLst/>
          </a:prstGeom>
          <a:noFill/>
          <a:ln/>
        </p:spPr>
        <p:txBody>
          <a:bodyPr wrap="square"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 1,416 coefficients</a:t>
            </a:r>
            <a:endParaRPr lang="en-US" sz="1150" dirty="0"/>
          </a:p>
        </p:txBody>
      </p:sp>
      <p:sp>
        <p:nvSpPr>
          <p:cNvPr id="12" name="Text 10"/>
          <p:cNvSpPr/>
          <p:nvPr/>
        </p:nvSpPr>
        <p:spPr>
          <a:xfrm>
            <a:off x="5888736" y="1783080"/>
            <a:ext cx="320040" cy="1097280"/>
          </a:xfrm>
          <a:prstGeom prst="rect">
            <a:avLst/>
          </a:prstGeom>
          <a:noFill/>
          <a:ln/>
        </p:spPr>
        <p:txBody>
          <a:bodyPr wrap="square" rtlCol="0" anchor="ctr"/>
          <a:lstStyle/>
          <a:p>
            <a:pPr algn="ctr" indent="0" marL="0">
              <a:buNone/>
            </a:pPr>
            <a:r>
              <a:rPr lang="en-US" sz="2800" b="1" dirty="0">
                <a:solidFill>
                  <a:srgbClr val="F2711C"/>
                </a:solidFill>
                <a:latin typeface="Georgia" pitchFamily="34" charset="0"/>
                <a:ea typeface="Georgia" pitchFamily="34" charset="-122"/>
                <a:cs typeface="Georgia" pitchFamily="34" charset="-120"/>
              </a:rPr>
              <a:t>›</a:t>
            </a:r>
            <a:endParaRPr lang="en-US" sz="2800" dirty="0"/>
          </a:p>
        </p:txBody>
      </p:sp>
      <p:sp>
        <p:nvSpPr>
          <p:cNvPr id="13" name="Shape 11"/>
          <p:cNvSpPr/>
          <p:nvPr/>
        </p:nvSpPr>
        <p:spPr>
          <a:xfrm>
            <a:off x="6163056" y="1691640"/>
            <a:ext cx="2514600" cy="1280160"/>
          </a:xfrm>
          <a:prstGeom prst="roundRect">
            <a:avLst>
              <a:gd name="adj" fmla="val 5714"/>
            </a:avLst>
          </a:prstGeom>
          <a:solidFill>
            <a:srgbClr val="F5F6F4"/>
          </a:solidFill>
          <a:ln w="19050">
            <a:solidFill>
              <a:srgbClr val="179C8E"/>
            </a:solidFill>
            <a:prstDash val="solid"/>
          </a:ln>
        </p:spPr>
      </p:sp>
      <p:sp>
        <p:nvSpPr>
          <p:cNvPr id="14" name="Text 12"/>
          <p:cNvSpPr/>
          <p:nvPr/>
        </p:nvSpPr>
        <p:spPr>
          <a:xfrm>
            <a:off x="6163056" y="1847088"/>
            <a:ext cx="2514600" cy="457200"/>
          </a:xfrm>
          <a:prstGeom prst="rect">
            <a:avLst/>
          </a:prstGeom>
          <a:noFill/>
          <a:ln/>
        </p:spPr>
        <p:txBody>
          <a:bodyPr wrap="square" rtlCol="0" anchor="ctr"/>
          <a:lstStyle/>
          <a:p>
            <a:pPr algn="ctr" indent="0" marL="0">
              <a:buNone/>
            </a:pPr>
            <a:r>
              <a:rPr lang="en-US" sz="1500" b="1" dirty="0">
                <a:solidFill>
                  <a:srgbClr val="1A1C22"/>
                </a:solidFill>
                <a:latin typeface="Georgia" pitchFamily="34" charset="0"/>
                <a:ea typeface="Georgia" pitchFamily="34" charset="-122"/>
                <a:cs typeface="Georgia" pitchFamily="34" charset="-120"/>
              </a:rPr>
              <a:t>Featurize</a:t>
            </a:r>
            <a:endParaRPr lang="en-US" sz="1500" dirty="0"/>
          </a:p>
        </p:txBody>
      </p:sp>
      <p:sp>
        <p:nvSpPr>
          <p:cNvPr id="15" name="Text 13"/>
          <p:cNvSpPr/>
          <p:nvPr/>
        </p:nvSpPr>
        <p:spPr>
          <a:xfrm>
            <a:off x="6272784" y="2304288"/>
            <a:ext cx="2295144" cy="548640"/>
          </a:xfrm>
          <a:prstGeom prst="rect">
            <a:avLst/>
          </a:prstGeom>
          <a:noFill/>
          <a:ln/>
        </p:spPr>
        <p:txBody>
          <a:bodyPr wrap="square"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structures → matrix</a:t>
            </a:r>
            <a:endParaRPr lang="en-US" sz="1150" dirty="0"/>
          </a:p>
        </p:txBody>
      </p:sp>
      <p:sp>
        <p:nvSpPr>
          <p:cNvPr id="16" name="Text 14"/>
          <p:cNvSpPr/>
          <p:nvPr/>
        </p:nvSpPr>
        <p:spPr>
          <a:xfrm>
            <a:off x="8650224" y="1783080"/>
            <a:ext cx="320040" cy="1097280"/>
          </a:xfrm>
          <a:prstGeom prst="rect">
            <a:avLst/>
          </a:prstGeom>
          <a:noFill/>
          <a:ln/>
        </p:spPr>
        <p:txBody>
          <a:bodyPr wrap="square" rtlCol="0" anchor="ctr"/>
          <a:lstStyle/>
          <a:p>
            <a:pPr algn="ctr" indent="0" marL="0">
              <a:buNone/>
            </a:pPr>
            <a:r>
              <a:rPr lang="en-US" sz="2800" b="1" dirty="0">
                <a:solidFill>
                  <a:srgbClr val="F2711C"/>
                </a:solidFill>
                <a:latin typeface="Georgia" pitchFamily="34" charset="0"/>
                <a:ea typeface="Georgia" pitchFamily="34" charset="-122"/>
                <a:cs typeface="Georgia" pitchFamily="34" charset="-120"/>
              </a:rPr>
              <a:t>›</a:t>
            </a:r>
            <a:endParaRPr lang="en-US" sz="2800" dirty="0"/>
          </a:p>
        </p:txBody>
      </p:sp>
      <p:sp>
        <p:nvSpPr>
          <p:cNvPr id="17" name="Shape 15"/>
          <p:cNvSpPr/>
          <p:nvPr/>
        </p:nvSpPr>
        <p:spPr>
          <a:xfrm>
            <a:off x="8924544" y="1691640"/>
            <a:ext cx="2514600" cy="1280160"/>
          </a:xfrm>
          <a:prstGeom prst="roundRect">
            <a:avLst>
              <a:gd name="adj" fmla="val 5714"/>
            </a:avLst>
          </a:prstGeom>
          <a:solidFill>
            <a:srgbClr val="F5F6F4"/>
          </a:solidFill>
          <a:ln w="19050">
            <a:solidFill>
              <a:srgbClr val="F2711C"/>
            </a:solidFill>
            <a:prstDash val="solid"/>
          </a:ln>
        </p:spPr>
      </p:sp>
      <p:sp>
        <p:nvSpPr>
          <p:cNvPr id="18" name="Text 16"/>
          <p:cNvSpPr/>
          <p:nvPr/>
        </p:nvSpPr>
        <p:spPr>
          <a:xfrm>
            <a:off x="8924544" y="1847088"/>
            <a:ext cx="2514600" cy="457200"/>
          </a:xfrm>
          <a:prstGeom prst="rect">
            <a:avLst/>
          </a:prstGeom>
          <a:noFill/>
          <a:ln/>
        </p:spPr>
        <p:txBody>
          <a:bodyPr wrap="square" rtlCol="0" anchor="ctr"/>
          <a:lstStyle/>
          <a:p>
            <a:pPr algn="ctr" indent="0" marL="0">
              <a:buNone/>
            </a:pPr>
            <a:r>
              <a:rPr lang="en-US" sz="1500" b="1" dirty="0">
                <a:solidFill>
                  <a:srgbClr val="1A1C22"/>
                </a:solidFill>
                <a:latin typeface="Georgia" pitchFamily="34" charset="0"/>
                <a:ea typeface="Georgia" pitchFamily="34" charset="-122"/>
                <a:cs typeface="Georgia" pitchFamily="34" charset="-120"/>
              </a:rPr>
              <a:t>One linear solve</a:t>
            </a:r>
            <a:endParaRPr lang="en-US" sz="1500" dirty="0"/>
          </a:p>
        </p:txBody>
      </p:sp>
      <p:sp>
        <p:nvSpPr>
          <p:cNvPr id="19" name="Text 17"/>
          <p:cNvSpPr/>
          <p:nvPr/>
        </p:nvSpPr>
        <p:spPr>
          <a:xfrm>
            <a:off x="9034272" y="2304288"/>
            <a:ext cx="2295144" cy="548640"/>
          </a:xfrm>
          <a:prstGeom prst="rect">
            <a:avLst/>
          </a:prstGeom>
          <a:noFill/>
          <a:ln/>
        </p:spPr>
        <p:txBody>
          <a:bodyPr wrap="square" rtlCol="0" anchor="ctr"/>
          <a:lstStyle/>
          <a:p>
            <a:pPr algn="ctr" indent="0" marL="0">
              <a:buNone/>
            </a:pPr>
            <a:r>
              <a:rPr lang="en-US" sz="1150" dirty="0">
                <a:solidFill>
                  <a:srgbClr val="6B7280"/>
                </a:solidFill>
                <a:latin typeface="Calibri" pitchFamily="34" charset="0"/>
                <a:ea typeface="Calibri" pitchFamily="34" charset="-122"/>
                <a:cs typeface="Calibri" pitchFamily="34" charset="-120"/>
              </a:rPr>
              <a:t>least-squares fit</a:t>
            </a:r>
            <a:endParaRPr lang="en-US" sz="1150" dirty="0"/>
          </a:p>
        </p:txBody>
      </p:sp>
      <p:sp>
        <p:nvSpPr>
          <p:cNvPr id="20" name="Text 18"/>
          <p:cNvSpPr/>
          <p:nvPr/>
        </p:nvSpPr>
        <p:spPr>
          <a:xfrm>
            <a:off x="640080" y="3337560"/>
            <a:ext cx="10972800" cy="3840480"/>
          </a:xfrm>
          <a:prstGeom prst="rect">
            <a:avLst/>
          </a:prstGeom>
          <a:noFill/>
          <a:ln/>
        </p:spPr>
        <p:txBody>
          <a:bodyPr wrap="square" rtlCol="0" anchor="t"/>
          <a:lstStyle/>
          <a:p>
            <a:pPr marL="177800" indent="-177800">
              <a:spcAft>
                <a:spcPts val="1100"/>
              </a:spcAft>
              <a:buSzPct val="100000"/>
              <a:buChar char="•"/>
            </a:pPr>
            <a:r>
              <a:rPr lang="en-US" sz="1500" dirty="0">
                <a:solidFill>
                  <a:srgbClr val="1A1C22"/>
                </a:solidFill>
                <a:latin typeface="Calibri" pitchFamily="34" charset="0"/>
                <a:ea typeface="Calibri" pitchFamily="34" charset="-122"/>
                <a:cs typeface="Calibri" pitchFamily="34" charset="-120"/>
              </a:rPr>
              <a:t>Each pair of the 12 elements gets its own learned distance-curve — 78 pair types, 1,416 coefficients total.</a:t>
            </a:r>
            <a:endParaRPr lang="en-US" sz="1500" dirty="0"/>
          </a:p>
          <a:p>
            <a:pPr marL="177800" indent="-177800">
              <a:spcAft>
                <a:spcPts val="1100"/>
              </a:spcAft>
              <a:buSzPct val="100000"/>
              <a:buChar char="•"/>
            </a:pPr>
            <a:r>
              <a:rPr lang="en-US" sz="1500" b="1" dirty="0">
                <a:solidFill>
                  <a:srgbClr val="1A1C22"/>
                </a:solidFill>
                <a:latin typeface="Calibri" pitchFamily="34" charset="0"/>
                <a:ea typeface="Calibri" pitchFamily="34" charset="-122"/>
                <a:cs typeface="Calibri" pitchFamily="34" charset="-120"/>
              </a:rPr>
              <a:t>Because the energy is linear in those coefficients, fitting the whole 12-species model is one matrix solve — no slow neural-network training.</a:t>
            </a:r>
            <a:endParaRPr lang="en-US" sz="1500" dirty="0"/>
          </a:p>
          <a:p>
            <a:pPr marL="177800" indent="-177800">
              <a:spcAft>
                <a:spcPts val="1100"/>
              </a:spcAft>
              <a:buSzPct val="100000"/>
              <a:buChar char="•"/>
            </a:pPr>
            <a:r>
              <a:rPr lang="en-US" sz="1500" dirty="0">
                <a:solidFill>
                  <a:srgbClr val="1A1C22"/>
                </a:solidFill>
                <a:latin typeface="Calibri" pitchFamily="34" charset="0"/>
                <a:ea typeface="Calibri" pitchFamily="34" charset="-122"/>
                <a:cs typeface="Calibri" pitchFamily="34" charset="-120"/>
              </a:rPr>
              <a:t>Trained on the SuperSalt DFT data, scored on the same held-out test sets.</a:t>
            </a:r>
            <a:endParaRPr lang="en-US" sz="1500" dirty="0"/>
          </a:p>
        </p:txBody>
      </p:sp>
      <p:sp>
        <p:nvSpPr>
          <p:cNvPr id="22" name="Text 19"/>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23" name="Text 20"/>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STEP 2 · RESULT</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The 2-body model hits a floor</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Shape 3"/>
          <p:cNvSpPr/>
          <p:nvPr/>
        </p:nvSpPr>
        <p:spPr>
          <a:xfrm>
            <a:off x="640080" y="1691640"/>
            <a:ext cx="3383280" cy="1234440"/>
          </a:xfrm>
          <a:prstGeom prst="roundRect">
            <a:avLst>
              <a:gd name="adj" fmla="val 5926"/>
            </a:avLst>
          </a:prstGeom>
          <a:solidFill>
            <a:srgbClr val="F5F6F4"/>
          </a:solidFill>
          <a:ln w="12700">
            <a:solidFill>
              <a:srgbClr val="ECEDF0"/>
            </a:solidFill>
            <a:prstDash val="solid"/>
          </a:ln>
        </p:spPr>
      </p:sp>
      <p:sp>
        <p:nvSpPr>
          <p:cNvPr id="6" name="Text 4"/>
          <p:cNvSpPr/>
          <p:nvPr/>
        </p:nvSpPr>
        <p:spPr>
          <a:xfrm>
            <a:off x="640080" y="1819656"/>
            <a:ext cx="3383280" cy="548640"/>
          </a:xfrm>
          <a:prstGeom prst="rect">
            <a:avLst/>
          </a:prstGeom>
          <a:noFill/>
          <a:ln/>
        </p:spPr>
        <p:txBody>
          <a:bodyPr wrap="square" rtlCol="0" anchor="ctr"/>
          <a:lstStyle/>
          <a:p>
            <a:pPr algn="ctr" indent="0" marL="0">
              <a:buNone/>
            </a:pPr>
            <a:r>
              <a:rPr lang="en-US" sz="2600" b="1" dirty="0">
                <a:solidFill>
                  <a:srgbClr val="179C8E"/>
                </a:solidFill>
                <a:latin typeface="Georgia" pitchFamily="34" charset="0"/>
                <a:ea typeface="Georgia" pitchFamily="34" charset="-122"/>
                <a:cs typeface="Georgia" pitchFamily="34" charset="-120"/>
              </a:rPr>
              <a:t>13–15</a:t>
            </a:r>
            <a:endParaRPr lang="en-US" sz="2600" dirty="0"/>
          </a:p>
        </p:txBody>
      </p:sp>
      <p:sp>
        <p:nvSpPr>
          <p:cNvPr id="7" name="Text 5"/>
          <p:cNvSpPr/>
          <p:nvPr/>
        </p:nvSpPr>
        <p:spPr>
          <a:xfrm>
            <a:off x="749808" y="2404872"/>
            <a:ext cx="316382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energy MAE (meV/atom)</a:t>
            </a:r>
            <a:endParaRPr lang="en-US" sz="1100" dirty="0"/>
          </a:p>
        </p:txBody>
      </p:sp>
      <p:sp>
        <p:nvSpPr>
          <p:cNvPr id="8" name="Shape 6"/>
          <p:cNvSpPr/>
          <p:nvPr/>
        </p:nvSpPr>
        <p:spPr>
          <a:xfrm>
            <a:off x="4206240" y="1691640"/>
            <a:ext cx="3383280" cy="1234440"/>
          </a:xfrm>
          <a:prstGeom prst="roundRect">
            <a:avLst>
              <a:gd name="adj" fmla="val 5926"/>
            </a:avLst>
          </a:prstGeom>
          <a:solidFill>
            <a:srgbClr val="F5F6F4"/>
          </a:solidFill>
          <a:ln w="12700">
            <a:solidFill>
              <a:srgbClr val="ECEDF0"/>
            </a:solidFill>
            <a:prstDash val="solid"/>
          </a:ln>
        </p:spPr>
      </p:sp>
      <p:sp>
        <p:nvSpPr>
          <p:cNvPr id="9" name="Text 7"/>
          <p:cNvSpPr/>
          <p:nvPr/>
        </p:nvSpPr>
        <p:spPr>
          <a:xfrm>
            <a:off x="4206240" y="1819656"/>
            <a:ext cx="3383280" cy="548640"/>
          </a:xfrm>
          <a:prstGeom prst="rect">
            <a:avLst/>
          </a:prstGeom>
          <a:noFill/>
          <a:ln/>
        </p:spPr>
        <p:txBody>
          <a:bodyPr wrap="square" rtlCol="0" anchor="ctr"/>
          <a:lstStyle/>
          <a:p>
            <a:pPr algn="ctr" indent="0" marL="0">
              <a:buNone/>
            </a:pPr>
            <a:r>
              <a:rPr lang="en-US" sz="2600" b="1" dirty="0">
                <a:solidFill>
                  <a:srgbClr val="F2711C"/>
                </a:solidFill>
                <a:latin typeface="Georgia" pitchFamily="34" charset="0"/>
                <a:ea typeface="Georgia" pitchFamily="34" charset="-122"/>
                <a:cs typeface="Georgia" pitchFamily="34" charset="-120"/>
              </a:rPr>
              <a:t>280–310</a:t>
            </a:r>
            <a:endParaRPr lang="en-US" sz="2600" dirty="0"/>
          </a:p>
        </p:txBody>
      </p:sp>
      <p:sp>
        <p:nvSpPr>
          <p:cNvPr id="10" name="Text 8"/>
          <p:cNvSpPr/>
          <p:nvPr/>
        </p:nvSpPr>
        <p:spPr>
          <a:xfrm>
            <a:off x="4315968" y="2404872"/>
            <a:ext cx="316382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force RMSE (meV/Å)</a:t>
            </a:r>
            <a:endParaRPr lang="en-US" sz="1100" dirty="0"/>
          </a:p>
        </p:txBody>
      </p:sp>
      <p:sp>
        <p:nvSpPr>
          <p:cNvPr id="11" name="Shape 9"/>
          <p:cNvSpPr/>
          <p:nvPr/>
        </p:nvSpPr>
        <p:spPr>
          <a:xfrm>
            <a:off x="7772400" y="1691640"/>
            <a:ext cx="3749040" cy="1234440"/>
          </a:xfrm>
          <a:prstGeom prst="roundRect">
            <a:avLst>
              <a:gd name="adj" fmla="val 5926"/>
            </a:avLst>
          </a:prstGeom>
          <a:solidFill>
            <a:srgbClr val="F5F6F4"/>
          </a:solidFill>
          <a:ln w="12700">
            <a:solidFill>
              <a:srgbClr val="ECEDF0"/>
            </a:solidFill>
            <a:prstDash val="solid"/>
          </a:ln>
        </p:spPr>
      </p:sp>
      <p:sp>
        <p:nvSpPr>
          <p:cNvPr id="12" name="Text 10"/>
          <p:cNvSpPr/>
          <p:nvPr/>
        </p:nvSpPr>
        <p:spPr>
          <a:xfrm>
            <a:off x="7772400" y="1819656"/>
            <a:ext cx="3749040" cy="548640"/>
          </a:xfrm>
          <a:prstGeom prst="rect">
            <a:avLst/>
          </a:prstGeom>
          <a:noFill/>
          <a:ln/>
        </p:spPr>
        <p:txBody>
          <a:bodyPr wrap="square" rtlCol="0" anchor="ctr"/>
          <a:lstStyle/>
          <a:p>
            <a:pPr algn="ctr" indent="0" marL="0">
              <a:buNone/>
            </a:pPr>
            <a:r>
              <a:rPr lang="en-US" sz="2600" b="1" dirty="0">
                <a:solidFill>
                  <a:srgbClr val="1A1C22"/>
                </a:solidFill>
                <a:latin typeface="Georgia" pitchFamily="34" charset="0"/>
                <a:ea typeface="Georgia" pitchFamily="34" charset="-122"/>
                <a:cs typeface="Georgia" pitchFamily="34" charset="-120"/>
              </a:rPr>
              <a:t>flat</a:t>
            </a:r>
            <a:endParaRPr lang="en-US" sz="2600" dirty="0"/>
          </a:p>
        </p:txBody>
      </p:sp>
      <p:sp>
        <p:nvSpPr>
          <p:cNvPr id="13" name="Text 11"/>
          <p:cNvSpPr/>
          <p:nvPr/>
        </p:nvSpPr>
        <p:spPr>
          <a:xfrm>
            <a:off x="7882128" y="2404872"/>
            <a:ext cx="352958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learning curve vs data</a:t>
            </a:r>
            <a:endParaRPr lang="en-US" sz="1100" dirty="0"/>
          </a:p>
        </p:txBody>
      </p:sp>
      <p:sp>
        <p:nvSpPr>
          <p:cNvPr id="14" name="Text 12"/>
          <p:cNvSpPr/>
          <p:nvPr/>
        </p:nvSpPr>
        <p:spPr>
          <a:xfrm>
            <a:off x="640080" y="3246120"/>
            <a:ext cx="10972800" cy="3840480"/>
          </a:xfrm>
          <a:prstGeom prst="rect">
            <a:avLst/>
          </a:prstGeom>
          <a:noFill/>
          <a:ln/>
        </p:spPr>
        <p:txBody>
          <a:bodyPr wrap="square" rtlCol="0" anchor="t"/>
          <a:lstStyle/>
          <a:p>
            <a:pPr marL="177800" indent="-177800">
              <a:spcAft>
                <a:spcPts val="1100"/>
              </a:spcAft>
              <a:buSzPct val="100000"/>
              <a:buChar char="•"/>
            </a:pPr>
            <a:r>
              <a:rPr lang="en-US" sz="1450" dirty="0">
                <a:solidFill>
                  <a:srgbClr val="1A1C22"/>
                </a:solidFill>
                <a:latin typeface="Calibri" pitchFamily="34" charset="0"/>
                <a:ea typeface="Calibri" pitchFamily="34" charset="-122"/>
                <a:cs typeface="Calibri" pitchFamily="34" charset="-120"/>
              </a:rPr>
              <a:t>The force error stays in a band and does not fall as more training data is added — a sign the model is at its structural limit, not data-limited.</a:t>
            </a:r>
            <a:endParaRPr lang="en-US" sz="1450" dirty="0"/>
          </a:p>
          <a:p>
            <a:pPr marL="177800" indent="-177800">
              <a:spcAft>
                <a:spcPts val="1100"/>
              </a:spcAft>
              <a:buSzPct val="100000"/>
              <a:buChar char="•"/>
            </a:pPr>
            <a:r>
              <a:rPr lang="en-US" sz="1450" b="1" dirty="0">
                <a:solidFill>
                  <a:srgbClr val="1A1C22"/>
                </a:solidFill>
                <a:latin typeface="Calibri" pitchFamily="34" charset="0"/>
                <a:ea typeface="Calibri" pitchFamily="34" charset="-122"/>
                <a:cs typeface="Calibri" pitchFamily="34" charset="-120"/>
              </a:rPr>
              <a:t>Why: a 2-body term only sees the distance of each pair — there is no angle in it, so it cannot capture coordination geometry.</a:t>
            </a:r>
            <a:endParaRPr lang="en-US" sz="1450" dirty="0"/>
          </a:p>
          <a:p>
            <a:pPr marL="177800" indent="-177800">
              <a:spcAft>
                <a:spcPts val="1100"/>
              </a:spcAft>
              <a:buSzPct val="100000"/>
              <a:buChar char="•"/>
            </a:pPr>
            <a:r>
              <a:rPr lang="en-US" sz="1450" dirty="0">
                <a:solidFill>
                  <a:srgbClr val="6B7280"/>
                </a:solidFill>
                <a:latin typeface="Calibri" pitchFamily="34" charset="0"/>
                <a:ea typeface="Calibri" pitchFamily="34" charset="-122"/>
                <a:cs typeface="Calibri" pitchFamily="34" charset="-120"/>
              </a:rPr>
              <a:t>Cheaper and interpretable, but clearly a floor to build on — which is what motivates the 3-body term.</a:t>
            </a:r>
            <a:endParaRPr lang="en-US" sz="1450" dirty="0"/>
          </a:p>
        </p:txBody>
      </p:sp>
      <p:sp>
        <p:nvSpPr>
          <p:cNvPr id="16" name="Text 13"/>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17" name="Text 14"/>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STEP 3 · THE 3-BODY TERM</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Adding angles — with a subsystem model</a:t>
            </a:r>
            <a:endParaRPr lang="en-US" sz="2600" dirty="0"/>
          </a:p>
        </p:txBody>
      </p:sp>
      <p:sp>
        <p:nvSpPr>
          <p:cNvPr id="4" name="Shape 2"/>
          <p:cNvSpPr/>
          <p:nvPr/>
        </p:nvSpPr>
        <p:spPr>
          <a:xfrm>
            <a:off x="658368" y="1298448"/>
            <a:ext cx="822960" cy="54864"/>
          </a:xfrm>
          <a:prstGeom prst="rect">
            <a:avLst/>
          </a:prstGeom>
          <a:solidFill>
            <a:srgbClr val="F2711C"/>
          </a:solidFill>
          <a:ln/>
        </p:spPr>
      </p:sp>
      <p:sp>
        <p:nvSpPr>
          <p:cNvPr id="5" name="Text 3"/>
          <p:cNvSpPr/>
          <p:nvPr/>
        </p:nvSpPr>
        <p:spPr>
          <a:xfrm>
            <a:off x="640080" y="1645920"/>
            <a:ext cx="10972800" cy="1143000"/>
          </a:xfrm>
          <a:prstGeom prst="rect">
            <a:avLst/>
          </a:prstGeom>
          <a:noFill/>
          <a:ln/>
        </p:spPr>
        <p:txBody>
          <a:bodyPr wrap="square" rtlCol="0" anchor="t"/>
          <a:lstStyle/>
          <a:p>
            <a:pPr marL="177800" indent="-177800">
              <a:spcAft>
                <a:spcPts val="800"/>
              </a:spcAft>
              <a:buSzPct val="100000"/>
              <a:buChar char="•"/>
            </a:pPr>
            <a:r>
              <a:rPr lang="en-US" sz="1500" dirty="0">
                <a:solidFill>
                  <a:srgbClr val="1A1C22"/>
                </a:solidFill>
                <a:latin typeface="Calibri" pitchFamily="34" charset="0"/>
                <a:ea typeface="Calibri" pitchFamily="34" charset="-122"/>
                <a:cs typeface="Calibri" pitchFamily="34" charset="-120"/>
              </a:rPr>
              <a:t>The 3-body term uses a triangle of three atoms, so it can see the angle the 2-body term was blind to.</a:t>
            </a:r>
            <a:endParaRPr lang="en-US" sz="1500" dirty="0"/>
          </a:p>
          <a:p>
            <a:pPr marL="177800" indent="-177800">
              <a:spcAft>
                <a:spcPts val="800"/>
              </a:spcAft>
              <a:buSzPct val="100000"/>
              <a:buChar char="•"/>
            </a:pPr>
            <a:r>
              <a:rPr lang="en-US" sz="1500" b="1" dirty="0">
                <a:solidFill>
                  <a:srgbClr val="1A1C22"/>
                </a:solidFill>
                <a:latin typeface="Calibri" pitchFamily="34" charset="0"/>
                <a:ea typeface="Calibri" pitchFamily="34" charset="-122"/>
                <a:cs typeface="Calibri" pitchFamily="34" charset="-120"/>
              </a:rPr>
              <a:t>But the full 12-species 3-body model is intractable — 936 triplet types → 111,216 features (a ~100 GB matrix that won't fit).</a:t>
            </a:r>
            <a:endParaRPr lang="en-US" sz="1500" dirty="0"/>
          </a:p>
        </p:txBody>
      </p:sp>
      <p:sp>
        <p:nvSpPr>
          <p:cNvPr id="6" name="Shape 4"/>
          <p:cNvSpPr/>
          <p:nvPr/>
        </p:nvSpPr>
        <p:spPr>
          <a:xfrm>
            <a:off x="822960" y="2743200"/>
            <a:ext cx="3200400" cy="1234440"/>
          </a:xfrm>
          <a:prstGeom prst="roundRect">
            <a:avLst>
              <a:gd name="adj" fmla="val 5926"/>
            </a:avLst>
          </a:prstGeom>
          <a:solidFill>
            <a:srgbClr val="F5F6F4"/>
          </a:solidFill>
          <a:ln w="12700">
            <a:solidFill>
              <a:srgbClr val="ECEDF0"/>
            </a:solidFill>
            <a:prstDash val="solid"/>
          </a:ln>
        </p:spPr>
      </p:sp>
      <p:sp>
        <p:nvSpPr>
          <p:cNvPr id="7" name="Text 5"/>
          <p:cNvSpPr/>
          <p:nvPr/>
        </p:nvSpPr>
        <p:spPr>
          <a:xfrm>
            <a:off x="822960" y="2871216"/>
            <a:ext cx="3200400" cy="548640"/>
          </a:xfrm>
          <a:prstGeom prst="rect">
            <a:avLst/>
          </a:prstGeom>
          <a:noFill/>
          <a:ln/>
        </p:spPr>
        <p:txBody>
          <a:bodyPr wrap="square" rtlCol="0" anchor="ctr"/>
          <a:lstStyle/>
          <a:p>
            <a:pPr algn="ctr" indent="0" marL="0">
              <a:buNone/>
            </a:pPr>
            <a:r>
              <a:rPr lang="en-US" sz="2600" b="1" dirty="0">
                <a:solidFill>
                  <a:srgbClr val="F2711C"/>
                </a:solidFill>
                <a:latin typeface="Georgia" pitchFamily="34" charset="0"/>
                <a:ea typeface="Georgia" pitchFamily="34" charset="-122"/>
                <a:cs typeface="Georgia" pitchFamily="34" charset="-120"/>
              </a:rPr>
              <a:t>936</a:t>
            </a:r>
            <a:endParaRPr lang="en-US" sz="2600" dirty="0"/>
          </a:p>
        </p:txBody>
      </p:sp>
      <p:sp>
        <p:nvSpPr>
          <p:cNvPr id="8" name="Text 6"/>
          <p:cNvSpPr/>
          <p:nvPr/>
        </p:nvSpPr>
        <p:spPr>
          <a:xfrm>
            <a:off x="932688" y="3456432"/>
            <a:ext cx="298094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triplet types</a:t>
            </a:r>
            <a:endParaRPr lang="en-US" sz="1100" dirty="0"/>
          </a:p>
        </p:txBody>
      </p:sp>
      <p:sp>
        <p:nvSpPr>
          <p:cNvPr id="9" name="Shape 7"/>
          <p:cNvSpPr/>
          <p:nvPr/>
        </p:nvSpPr>
        <p:spPr>
          <a:xfrm>
            <a:off x="4297680" y="2743200"/>
            <a:ext cx="3200400" cy="1234440"/>
          </a:xfrm>
          <a:prstGeom prst="roundRect">
            <a:avLst>
              <a:gd name="adj" fmla="val 5926"/>
            </a:avLst>
          </a:prstGeom>
          <a:solidFill>
            <a:srgbClr val="F5F6F4"/>
          </a:solidFill>
          <a:ln w="12700">
            <a:solidFill>
              <a:srgbClr val="ECEDF0"/>
            </a:solidFill>
            <a:prstDash val="solid"/>
          </a:ln>
        </p:spPr>
      </p:sp>
      <p:sp>
        <p:nvSpPr>
          <p:cNvPr id="10" name="Text 8"/>
          <p:cNvSpPr/>
          <p:nvPr/>
        </p:nvSpPr>
        <p:spPr>
          <a:xfrm>
            <a:off x="4297680" y="2871216"/>
            <a:ext cx="3200400" cy="548640"/>
          </a:xfrm>
          <a:prstGeom prst="rect">
            <a:avLst/>
          </a:prstGeom>
          <a:noFill/>
          <a:ln/>
        </p:spPr>
        <p:txBody>
          <a:bodyPr wrap="square" rtlCol="0" anchor="ctr"/>
          <a:lstStyle/>
          <a:p>
            <a:pPr algn="ctr" indent="0" marL="0">
              <a:buNone/>
            </a:pPr>
            <a:r>
              <a:rPr lang="en-US" sz="2600" b="1" dirty="0">
                <a:solidFill>
                  <a:srgbClr val="F2711C"/>
                </a:solidFill>
                <a:latin typeface="Georgia" pitchFamily="34" charset="0"/>
                <a:ea typeface="Georgia" pitchFamily="34" charset="-122"/>
                <a:cs typeface="Georgia" pitchFamily="34" charset="-120"/>
              </a:rPr>
              <a:t>111,216</a:t>
            </a:r>
            <a:endParaRPr lang="en-US" sz="2600" dirty="0"/>
          </a:p>
        </p:txBody>
      </p:sp>
      <p:sp>
        <p:nvSpPr>
          <p:cNvPr id="11" name="Text 9"/>
          <p:cNvSpPr/>
          <p:nvPr/>
        </p:nvSpPr>
        <p:spPr>
          <a:xfrm>
            <a:off x="4407408" y="3456432"/>
            <a:ext cx="298094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features</a:t>
            </a:r>
            <a:endParaRPr lang="en-US" sz="1100" dirty="0"/>
          </a:p>
        </p:txBody>
      </p:sp>
      <p:sp>
        <p:nvSpPr>
          <p:cNvPr id="12" name="Shape 10"/>
          <p:cNvSpPr/>
          <p:nvPr/>
        </p:nvSpPr>
        <p:spPr>
          <a:xfrm>
            <a:off x="7772400" y="2743200"/>
            <a:ext cx="3566160" cy="1234440"/>
          </a:xfrm>
          <a:prstGeom prst="roundRect">
            <a:avLst>
              <a:gd name="adj" fmla="val 5926"/>
            </a:avLst>
          </a:prstGeom>
          <a:solidFill>
            <a:srgbClr val="F5F6F4"/>
          </a:solidFill>
          <a:ln w="12700">
            <a:solidFill>
              <a:srgbClr val="ECEDF0"/>
            </a:solidFill>
            <a:prstDash val="solid"/>
          </a:ln>
        </p:spPr>
      </p:sp>
      <p:sp>
        <p:nvSpPr>
          <p:cNvPr id="13" name="Text 11"/>
          <p:cNvSpPr/>
          <p:nvPr/>
        </p:nvSpPr>
        <p:spPr>
          <a:xfrm>
            <a:off x="7772400" y="2871216"/>
            <a:ext cx="3566160" cy="548640"/>
          </a:xfrm>
          <a:prstGeom prst="rect">
            <a:avLst/>
          </a:prstGeom>
          <a:noFill/>
          <a:ln/>
        </p:spPr>
        <p:txBody>
          <a:bodyPr wrap="square" rtlCol="0" anchor="ctr"/>
          <a:lstStyle/>
          <a:p>
            <a:pPr algn="ctr" indent="0" marL="0">
              <a:buNone/>
            </a:pPr>
            <a:r>
              <a:rPr lang="en-US" sz="2600" b="1" dirty="0">
                <a:solidFill>
                  <a:srgbClr val="1A1C22"/>
                </a:solidFill>
                <a:latin typeface="Georgia" pitchFamily="34" charset="0"/>
                <a:ea typeface="Georgia" pitchFamily="34" charset="-122"/>
                <a:cs typeface="Georgia" pitchFamily="34" charset="-120"/>
              </a:rPr>
              <a:t>~100 GB</a:t>
            </a:r>
            <a:endParaRPr lang="en-US" sz="2600" dirty="0"/>
          </a:p>
        </p:txBody>
      </p:sp>
      <p:sp>
        <p:nvSpPr>
          <p:cNvPr id="14" name="Text 12"/>
          <p:cNvSpPr/>
          <p:nvPr/>
        </p:nvSpPr>
        <p:spPr>
          <a:xfrm>
            <a:off x="7882128" y="3456432"/>
            <a:ext cx="3346704" cy="45720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won't fit in memory</a:t>
            </a:r>
            <a:endParaRPr lang="en-US" sz="1100" dirty="0"/>
          </a:p>
        </p:txBody>
      </p:sp>
      <p:sp>
        <p:nvSpPr>
          <p:cNvPr id="15" name="Shape 13"/>
          <p:cNvSpPr/>
          <p:nvPr/>
        </p:nvSpPr>
        <p:spPr>
          <a:xfrm>
            <a:off x="640080" y="4297680"/>
            <a:ext cx="10881360" cy="1783080"/>
          </a:xfrm>
          <a:prstGeom prst="roundRect">
            <a:avLst>
              <a:gd name="adj" fmla="val 4103"/>
            </a:avLst>
          </a:prstGeom>
          <a:solidFill>
            <a:srgbClr val="F5F6F4"/>
          </a:solidFill>
          <a:ln w="12700">
            <a:solidFill>
              <a:srgbClr val="ECEDF0"/>
            </a:solidFill>
            <a:prstDash val="solid"/>
          </a:ln>
        </p:spPr>
      </p:sp>
      <p:sp>
        <p:nvSpPr>
          <p:cNvPr id="16" name="Text 14"/>
          <p:cNvSpPr/>
          <p:nvPr/>
        </p:nvSpPr>
        <p:spPr>
          <a:xfrm>
            <a:off x="914400" y="4434840"/>
            <a:ext cx="10332720" cy="365760"/>
          </a:xfrm>
          <a:prstGeom prst="rect">
            <a:avLst/>
          </a:prstGeom>
          <a:noFill/>
          <a:ln/>
        </p:spPr>
        <p:txBody>
          <a:bodyPr wrap="square" rtlCol="0" anchor="ctr"/>
          <a:lstStyle/>
          <a:p>
            <a:pPr indent="0" marL="0">
              <a:buNone/>
            </a:pPr>
            <a:r>
              <a:rPr lang="en-US" sz="1500" b="1" dirty="0">
                <a:solidFill>
                  <a:srgbClr val="1A1C22"/>
                </a:solidFill>
                <a:latin typeface="Georgia" pitchFamily="34" charset="0"/>
                <a:ea typeface="Georgia" pitchFamily="34" charset="-122"/>
                <a:cs typeface="Georgia" pitchFamily="34" charset="-120"/>
              </a:rPr>
              <a:t>The workaround — a subsystem model</a:t>
            </a:r>
            <a:endParaRPr lang="en-US" sz="1500" dirty="0"/>
          </a:p>
        </p:txBody>
      </p:sp>
      <p:sp>
        <p:nvSpPr>
          <p:cNvPr id="17" name="Text 15"/>
          <p:cNvSpPr/>
          <p:nvPr/>
        </p:nvSpPr>
        <p:spPr>
          <a:xfrm>
            <a:off x="914400" y="4846320"/>
            <a:ext cx="10332720" cy="1097280"/>
          </a:xfrm>
          <a:prstGeom prst="rect">
            <a:avLst/>
          </a:prstGeom>
          <a:noFill/>
          <a:ln/>
        </p:spPr>
        <p:txBody>
          <a:bodyPr wrap="square" rtlCol="0" anchor="t"/>
          <a:lstStyle/>
          <a:p>
            <a:pPr marL="177800" indent="-177800">
              <a:spcAft>
                <a:spcPts val="600"/>
              </a:spcAft>
              <a:buSzPct val="100000"/>
              <a:buChar char="•"/>
            </a:pPr>
            <a:r>
              <a:rPr lang="en-US" sz="1300" dirty="0">
                <a:solidFill>
                  <a:srgbClr val="1A1C22"/>
                </a:solidFill>
                <a:latin typeface="Calibri" pitchFamily="34" charset="0"/>
                <a:ea typeface="Calibri" pitchFamily="34" charset="-122"/>
                <a:cs typeface="Calibri" pitchFamily="34" charset="-120"/>
              </a:rPr>
              <a:t>Cut to a tractable 3-element subsystem (18 triplet types instead of 936) and ask directly: does the angular term help?</a:t>
            </a:r>
            <a:endParaRPr lang="en-US" sz="1300" dirty="0"/>
          </a:p>
          <a:p>
            <a:pPr marL="177800" indent="-177800">
              <a:spcAft>
                <a:spcPts val="600"/>
              </a:spcAft>
              <a:buSzPct val="100000"/>
              <a:buChar char="•"/>
            </a:pPr>
            <a:r>
              <a:rPr lang="en-US" sz="1300" dirty="0">
                <a:solidFill>
                  <a:srgbClr val="1A1C22"/>
                </a:solidFill>
                <a:latin typeface="Calibri" pitchFamily="34" charset="0"/>
                <a:ea typeface="Calibri" pitchFamily="34" charset="-122"/>
                <a:cs typeface="Calibri" pitchFamily="34" charset="-120"/>
              </a:rPr>
              <a:t>Test a directional cation (Mg, Zr) where it should — against a spherical control (K/Rb) where it should not.</a:t>
            </a:r>
            <a:endParaRPr lang="en-US" sz="1300" dirty="0"/>
          </a:p>
        </p:txBody>
      </p:sp>
      <p:sp>
        <p:nvSpPr>
          <p:cNvPr id="19" name="Text 16"/>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20" name="Text 17"/>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972800" cy="274320"/>
          </a:xfrm>
          <a:prstGeom prst="rect">
            <a:avLst/>
          </a:prstGeom>
          <a:noFill/>
          <a:ln/>
        </p:spPr>
        <p:txBody>
          <a:bodyPr wrap="square" rtlCol="0" anchor="ctr"/>
          <a:lstStyle/>
          <a:p>
            <a:pPr indent="0" marL="0">
              <a:buNone/>
            </a:pPr>
            <a:r>
              <a:rPr lang="en-US" sz="1200" b="1" spc="200" kern="0" dirty="0">
                <a:solidFill>
                  <a:srgbClr val="F2711C"/>
                </a:solidFill>
                <a:latin typeface="Calibri" pitchFamily="34" charset="0"/>
                <a:ea typeface="Calibri" pitchFamily="34" charset="-122"/>
                <a:cs typeface="Calibri" pitchFamily="34" charset="-120"/>
              </a:rPr>
              <a:t>STEP 3 · RESULT</a:t>
            </a:r>
            <a:endParaRPr lang="en-US" sz="1200" dirty="0"/>
          </a:p>
        </p:txBody>
      </p:sp>
      <p:sp>
        <p:nvSpPr>
          <p:cNvPr id="3" name="Text 1"/>
          <p:cNvSpPr/>
          <p:nvPr/>
        </p:nvSpPr>
        <p:spPr>
          <a:xfrm>
            <a:off x="640080" y="658368"/>
            <a:ext cx="10972800" cy="640080"/>
          </a:xfrm>
          <a:prstGeom prst="rect">
            <a:avLst/>
          </a:prstGeom>
          <a:noFill/>
          <a:ln/>
        </p:spPr>
        <p:txBody>
          <a:bodyPr wrap="square" rtlCol="0" anchor="ctr"/>
          <a:lstStyle/>
          <a:p>
            <a:pPr indent="0" marL="0">
              <a:buNone/>
            </a:pPr>
            <a:r>
              <a:rPr lang="en-US" sz="2600" b="1" dirty="0">
                <a:solidFill>
                  <a:srgbClr val="1A1C22"/>
                </a:solidFill>
                <a:latin typeface="Georgia" pitchFamily="34" charset="0"/>
                <a:ea typeface="Georgia" pitchFamily="34" charset="-122"/>
                <a:cs typeface="Georgia" pitchFamily="34" charset="-120"/>
              </a:rPr>
              <a:t>The 3-body term helps — where it should</a:t>
            </a:r>
            <a:endParaRPr lang="en-US" sz="2600" dirty="0"/>
          </a:p>
        </p:txBody>
      </p:sp>
      <p:sp>
        <p:nvSpPr>
          <p:cNvPr id="4" name="Shape 2"/>
          <p:cNvSpPr/>
          <p:nvPr/>
        </p:nvSpPr>
        <p:spPr>
          <a:xfrm>
            <a:off x="658368" y="1298448"/>
            <a:ext cx="822960" cy="54864"/>
          </a:xfrm>
          <a:prstGeom prst="rect">
            <a:avLst/>
          </a:prstGeom>
          <a:solidFill>
            <a:srgbClr val="F2711C"/>
          </a:solidFill>
          <a:ln/>
        </p:spPr>
      </p:sp>
      <p:pic>
        <p:nvPicPr>
          <p:cNvPr id="5" name="Image 0" descr="body3_result.png">    </p:cNvPr>
          <p:cNvPicPr>
            <a:picLocks noChangeAspect="1"/>
          </p:cNvPicPr>
          <p:nvPr/>
        </p:nvPicPr>
        <p:blipFill>
          <a:blip r:embed="rId1"/>
          <a:stretch>
            <a:fillRect/>
          </a:stretch>
        </p:blipFill>
        <p:spPr>
          <a:xfrm>
            <a:off x="1280160" y="1600200"/>
            <a:ext cx="7498080" cy="3703320"/>
          </a:xfrm>
          <a:prstGeom prst="rect">
            <a:avLst/>
          </a:prstGeom>
        </p:spPr>
      </p:pic>
      <p:sp>
        <p:nvSpPr>
          <p:cNvPr id="6" name="Shape 3"/>
          <p:cNvSpPr/>
          <p:nvPr/>
        </p:nvSpPr>
        <p:spPr>
          <a:xfrm>
            <a:off x="9052560" y="1691640"/>
            <a:ext cx="2514600" cy="3520440"/>
          </a:xfrm>
          <a:prstGeom prst="roundRect">
            <a:avLst>
              <a:gd name="adj" fmla="val 2909"/>
            </a:avLst>
          </a:prstGeom>
          <a:solidFill>
            <a:srgbClr val="F5F6F4"/>
          </a:solidFill>
          <a:ln w="12700">
            <a:solidFill>
              <a:srgbClr val="ECEDF0"/>
            </a:solidFill>
            <a:prstDash val="solid"/>
          </a:ln>
        </p:spPr>
      </p:sp>
      <p:sp>
        <p:nvSpPr>
          <p:cNvPr id="7" name="Text 4"/>
          <p:cNvSpPr/>
          <p:nvPr/>
        </p:nvSpPr>
        <p:spPr>
          <a:xfrm>
            <a:off x="9189720" y="1920240"/>
            <a:ext cx="2240280" cy="3108960"/>
          </a:xfrm>
          <a:prstGeom prst="rect">
            <a:avLst/>
          </a:prstGeom>
          <a:noFill/>
          <a:ln/>
        </p:spPr>
        <p:txBody>
          <a:bodyPr wrap="square" rtlCol="0" anchor="t"/>
          <a:lstStyle/>
          <a:p>
            <a:pPr indent="0" marL="0">
              <a:lnSpc>
                <a:spcPct val="110000"/>
              </a:lnSpc>
              <a:buNone/>
            </a:pPr>
            <a:r>
              <a:rPr lang="en-US" sz="1500" b="1" dirty="0">
                <a:solidFill>
                  <a:srgbClr val="F2711C"/>
                </a:solidFill>
                <a:latin typeface="Calibri" pitchFamily="34" charset="0"/>
                <a:ea typeface="Calibri" pitchFamily="34" charset="-122"/>
                <a:cs typeface="Calibri" pitchFamily="34" charset="-120"/>
              </a:rPr>
              <a:t>Directional
</a:t>
            </a:r>
            <a:pPr indent="0" marL="0">
              <a:lnSpc>
                <a:spcPct val="110000"/>
              </a:lnSpc>
              <a:buNone/>
            </a:pPr>
            <a:r>
              <a:rPr lang="en-US" sz="1400" dirty="0">
                <a:solidFill>
                  <a:srgbClr val="1A1C22"/>
                </a:solidFill>
                <a:latin typeface="Calibri" pitchFamily="34" charset="0"/>
                <a:ea typeface="Calibri" pitchFamily="34" charset="-122"/>
                <a:cs typeface="Calibri" pitchFamily="34" charset="-120"/>
              </a:rPr>
              <a:t>Mg  −35%
Zr  −21%
</a:t>
            </a:r>
            <a:pPr indent="0" marL="0">
              <a:lnSpc>
                <a:spcPct val="110000"/>
              </a:lnSpc>
              <a:buNone/>
            </a:pPr>
            <a:r>
              <a:rPr lang="en-US" sz="1500" b="1" dirty="0">
                <a:solidFill>
                  <a:srgbClr val="6B7280"/>
                </a:solidFill>
                <a:latin typeface="Calibri" pitchFamily="34" charset="0"/>
                <a:ea typeface="Calibri" pitchFamily="34" charset="-122"/>
                <a:cs typeface="Calibri" pitchFamily="34" charset="-120"/>
              </a:rPr>
              <a:t>Spherical control
</a:t>
            </a:r>
            <a:pPr indent="0" marL="0">
              <a:lnSpc>
                <a:spcPct val="110000"/>
              </a:lnSpc>
              <a:buNone/>
            </a:pPr>
            <a:r>
              <a:rPr lang="en-US" sz="1400" dirty="0">
                <a:solidFill>
                  <a:srgbClr val="1A1C22"/>
                </a:solidFill>
                <a:latin typeface="Calibri" pitchFamily="34" charset="0"/>
                <a:ea typeface="Calibri" pitchFamily="34" charset="-122"/>
                <a:cs typeface="Calibri" pitchFamily="34" charset="-120"/>
              </a:rPr>
              <a:t>K/Rb  −5%</a:t>
            </a:r>
            <a:endParaRPr lang="en-US" sz="1500" dirty="0"/>
          </a:p>
        </p:txBody>
      </p:sp>
      <p:sp>
        <p:nvSpPr>
          <p:cNvPr id="8" name="Text 5"/>
          <p:cNvSpPr/>
          <p:nvPr/>
        </p:nvSpPr>
        <p:spPr>
          <a:xfrm>
            <a:off x="640080" y="5440680"/>
            <a:ext cx="10881360" cy="731520"/>
          </a:xfrm>
          <a:prstGeom prst="rect">
            <a:avLst/>
          </a:prstGeom>
          <a:noFill/>
          <a:ln/>
        </p:spPr>
        <p:txBody>
          <a:bodyPr wrap="square" rtlCol="0" anchor="ctr"/>
          <a:lstStyle/>
          <a:p>
            <a:pPr indent="0" marL="0">
              <a:buNone/>
            </a:pPr>
            <a:r>
              <a:rPr lang="en-US" sz="1400" b="1" dirty="0">
                <a:solidFill>
                  <a:srgbClr val="1A1C22"/>
                </a:solidFill>
                <a:latin typeface="Calibri" pitchFamily="34" charset="0"/>
                <a:ea typeface="Calibri" pitchFamily="34" charset="-122"/>
                <a:cs typeface="Calibri" pitchFamily="34" charset="-120"/>
              </a:rPr>
              <a:t>The gain tracks the cation:  </a:t>
            </a:r>
            <a:pPr indent="0" marL="0">
              <a:buNone/>
            </a:pPr>
            <a:r>
              <a:rPr lang="en-US" sz="1400" dirty="0">
                <a:solidFill>
                  <a:srgbClr val="1A1C22"/>
                </a:solidFill>
                <a:latin typeface="Calibri" pitchFamily="34" charset="0"/>
                <a:ea typeface="Calibri" pitchFamily="34" charset="-122"/>
                <a:cs typeface="Calibri" pitchFamily="34" charset="-120"/>
              </a:rPr>
              <a:t>big for directional Mg and Zr, negligible for the spherical control — exactly the coordination physics a pair model misses.</a:t>
            </a:r>
            <a:endParaRPr lang="en-US" sz="1400" dirty="0"/>
          </a:p>
        </p:txBody>
      </p:sp>
      <p:sp>
        <p:nvSpPr>
          <p:cNvPr id="10" name="Text 6"/>
          <p:cNvSpPr/>
          <p:nvPr/>
        </p:nvSpPr>
        <p:spPr>
          <a:xfrm>
            <a:off x="640080" y="6446520"/>
            <a:ext cx="82296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Ultra-Fast MLFF for Molten Salts  ·  Marios Poulis</a:t>
            </a:r>
            <a:endParaRPr lang="en-US" sz="900" dirty="0"/>
          </a:p>
        </p:txBody>
      </p:sp>
      <p:sp>
        <p:nvSpPr>
          <p:cNvPr id="11" name="Text 7"/>
          <p:cNvSpPr/>
          <p:nvPr/>
        </p:nvSpPr>
        <p:spPr>
          <a:xfrm>
            <a:off x="11338560" y="644652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41C"/>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F2711C"/>
          </a:solidFill>
          <a:ln/>
        </p:spPr>
      </p:sp>
      <p:sp>
        <p:nvSpPr>
          <p:cNvPr id="3" name="Text 1"/>
          <p:cNvSpPr/>
          <p:nvPr/>
        </p:nvSpPr>
        <p:spPr>
          <a:xfrm>
            <a:off x="822960" y="548640"/>
            <a:ext cx="10058400" cy="365760"/>
          </a:xfrm>
          <a:prstGeom prst="rect">
            <a:avLst/>
          </a:prstGeom>
          <a:noFill/>
          <a:ln/>
        </p:spPr>
        <p:txBody>
          <a:bodyPr wrap="square" rtlCol="0" anchor="ctr"/>
          <a:lstStyle/>
          <a:p>
            <a:pPr indent="0" marL="0">
              <a:buNone/>
            </a:pPr>
            <a:r>
              <a:rPr lang="en-US" sz="1300" b="1" spc="200" kern="0" dirty="0">
                <a:solidFill>
                  <a:srgbClr val="179C8E"/>
                </a:solidFill>
                <a:latin typeface="Calibri" pitchFamily="34" charset="0"/>
                <a:ea typeface="Calibri" pitchFamily="34" charset="-122"/>
                <a:cs typeface="Calibri" pitchFamily="34" charset="-120"/>
              </a:rPr>
              <a:t>WHERE WE ARE &amp; WHAT'S NEXT</a:t>
            </a:r>
            <a:endParaRPr lang="en-US" sz="1300" dirty="0"/>
          </a:p>
        </p:txBody>
      </p:sp>
      <p:sp>
        <p:nvSpPr>
          <p:cNvPr id="4" name="Text 2"/>
          <p:cNvSpPr/>
          <p:nvPr/>
        </p:nvSpPr>
        <p:spPr>
          <a:xfrm>
            <a:off x="777240" y="914400"/>
            <a:ext cx="1060704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Status and next steps</a:t>
            </a:r>
            <a:endParaRPr lang="en-US" sz="2600" dirty="0"/>
          </a:p>
        </p:txBody>
      </p:sp>
      <p:sp>
        <p:nvSpPr>
          <p:cNvPr id="5" name="Text 3"/>
          <p:cNvSpPr/>
          <p:nvPr/>
        </p:nvSpPr>
        <p:spPr>
          <a:xfrm>
            <a:off x="822960" y="1783080"/>
            <a:ext cx="5029200" cy="365760"/>
          </a:xfrm>
          <a:prstGeom prst="rect">
            <a:avLst/>
          </a:prstGeom>
          <a:noFill/>
          <a:ln/>
        </p:spPr>
        <p:txBody>
          <a:bodyPr wrap="square" rtlCol="0" anchor="ctr"/>
          <a:lstStyle/>
          <a:p>
            <a:pPr indent="0" marL="0">
              <a:buNone/>
            </a:pPr>
            <a:r>
              <a:rPr lang="en-US" sz="1600" b="1" dirty="0">
                <a:solidFill>
                  <a:srgbClr val="179C8E"/>
                </a:solidFill>
                <a:latin typeface="Georgia" pitchFamily="34" charset="0"/>
                <a:ea typeface="Georgia" pitchFamily="34" charset="-122"/>
                <a:cs typeface="Georgia" pitchFamily="34" charset="-120"/>
              </a:rPr>
              <a:t>Done</a:t>
            </a:r>
            <a:endParaRPr lang="en-US" sz="1600" dirty="0"/>
          </a:p>
        </p:txBody>
      </p:sp>
      <p:sp>
        <p:nvSpPr>
          <p:cNvPr id="6" name="Text 4"/>
          <p:cNvSpPr/>
          <p:nvPr/>
        </p:nvSpPr>
        <p:spPr>
          <a:xfrm>
            <a:off x="822960" y="2194560"/>
            <a:ext cx="5120640" cy="3657600"/>
          </a:xfrm>
          <a:prstGeom prst="rect">
            <a:avLst/>
          </a:prstGeom>
          <a:noFill/>
          <a:ln/>
        </p:spPr>
        <p:txBody>
          <a:bodyPr wrap="square" rtlCol="0" anchor="t"/>
          <a:lstStyle/>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Reproduced the SuperSalt benchmark within ~1 meV/Å.</a:t>
            </a:r>
            <a:endParaRPr lang="en-US" sz="1350" dirty="0"/>
          </a:p>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Built a 12-species 2-body UF3 model — established its accuracy floor.</a:t>
            </a:r>
            <a:endParaRPr lang="en-US" sz="1350" dirty="0"/>
          </a:p>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Built a 3-body subsystem model — showed the angular term helps directional cations (Mg −35%, Zr −21%) but not the spherical control.</a:t>
            </a:r>
            <a:endParaRPr lang="en-US" sz="1350" dirty="0"/>
          </a:p>
          <a:p>
            <a:pPr marL="177800" indent="-177800">
              <a:buSzPct val="100000"/>
              <a:buChar char="•"/>
            </a:pPr>
            <a:r>
              <a:rPr lang="en-US" sz="1350" dirty="0">
                <a:solidFill>
                  <a:srgbClr val="ECEDF0"/>
                </a:solidFill>
                <a:latin typeface="Calibri" pitchFamily="34" charset="0"/>
                <a:ea typeface="Calibri" pitchFamily="34" charset="-122"/>
                <a:cs typeface="Calibri" pitchFamily="34" charset="-120"/>
              </a:rPr>
              <a:t>Packaged a reproducible pipeline and handed it to DIFFER's compute.</a:t>
            </a:r>
            <a:endParaRPr lang="en-US" sz="1350" dirty="0"/>
          </a:p>
        </p:txBody>
      </p:sp>
      <p:sp>
        <p:nvSpPr>
          <p:cNvPr id="7" name="Text 5"/>
          <p:cNvSpPr/>
          <p:nvPr/>
        </p:nvSpPr>
        <p:spPr>
          <a:xfrm>
            <a:off x="6309360" y="1783080"/>
            <a:ext cx="5029200" cy="365760"/>
          </a:xfrm>
          <a:prstGeom prst="rect">
            <a:avLst/>
          </a:prstGeom>
          <a:noFill/>
          <a:ln/>
        </p:spPr>
        <p:txBody>
          <a:bodyPr wrap="square" rtlCol="0" anchor="ctr"/>
          <a:lstStyle/>
          <a:p>
            <a:pPr indent="0" marL="0">
              <a:buNone/>
            </a:pPr>
            <a:r>
              <a:rPr lang="en-US" sz="1600" b="1" dirty="0">
                <a:solidFill>
                  <a:srgbClr val="F2711C"/>
                </a:solidFill>
                <a:latin typeface="Georgia" pitchFamily="34" charset="0"/>
                <a:ea typeface="Georgia" pitchFamily="34" charset="-122"/>
                <a:cs typeface="Georgia" pitchFamily="34" charset="-120"/>
              </a:rPr>
              <a:t>Next</a:t>
            </a:r>
            <a:endParaRPr lang="en-US" sz="1600" dirty="0"/>
          </a:p>
        </p:txBody>
      </p:sp>
      <p:sp>
        <p:nvSpPr>
          <p:cNvPr id="8" name="Text 6"/>
          <p:cNvSpPr/>
          <p:nvPr/>
        </p:nvSpPr>
        <p:spPr>
          <a:xfrm>
            <a:off x="6309360" y="2194560"/>
            <a:ext cx="5120640" cy="3657600"/>
          </a:xfrm>
          <a:prstGeom prst="rect">
            <a:avLst/>
          </a:prstGeom>
          <a:noFill/>
          <a:ln/>
        </p:spPr>
        <p:txBody>
          <a:bodyPr wrap="square" rtlCol="0" anchor="t"/>
          <a:lstStyle/>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Scale the models up on the cluster (larger 2-body, larger 3-body).</a:t>
            </a:r>
            <a:endParaRPr lang="en-US" sz="1350" dirty="0"/>
          </a:p>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The headline figure: accuracy vs computational cost, UF3 vs SuperSalt.</a:t>
            </a:r>
            <a:endParaRPr lang="en-US" sz="1350" dirty="0"/>
          </a:p>
          <a:p>
            <a:pPr marL="177800" indent="-177800">
              <a:spcAft>
                <a:spcPts val="900"/>
              </a:spcAft>
              <a:buSzPct val="100000"/>
              <a:buChar char="•"/>
            </a:pPr>
            <a:r>
              <a:rPr lang="en-US" sz="1350" dirty="0">
                <a:solidFill>
                  <a:srgbClr val="ECEDF0"/>
                </a:solidFill>
                <a:latin typeface="Calibri" pitchFamily="34" charset="0"/>
                <a:ea typeface="Calibri" pitchFamily="34" charset="-122"/>
                <a:cs typeface="Calibri" pitchFamily="34" charset="-120"/>
              </a:rPr>
              <a:t>Predict molten-salt properties via molecular dynamics (density, RDF, diffusion).</a:t>
            </a:r>
            <a:endParaRPr lang="en-US" sz="1350" dirty="0"/>
          </a:p>
          <a:p>
            <a:pPr marL="177800" indent="-177800">
              <a:buSzPct val="100000"/>
              <a:buChar char="•"/>
            </a:pPr>
            <a:r>
              <a:rPr lang="en-US" sz="1350" dirty="0">
                <a:solidFill>
                  <a:srgbClr val="ECEDF0"/>
                </a:solidFill>
                <a:latin typeface="Calibri" pitchFamily="34" charset="0"/>
                <a:ea typeface="Calibri" pitchFamily="34" charset="-122"/>
                <a:cs typeface="Calibri" pitchFamily="34" charset="-120"/>
              </a:rPr>
              <a:t>Write up the 2-/3-body results for the thesis.</a:t>
            </a:r>
            <a:endParaRPr lang="en-US" sz="1350" dirty="0"/>
          </a:p>
        </p:txBody>
      </p:sp>
      <p:sp>
        <p:nvSpPr>
          <p:cNvPr id="9" name="Text 7"/>
          <p:cNvSpPr/>
          <p:nvPr/>
        </p:nvSpPr>
        <p:spPr>
          <a:xfrm>
            <a:off x="822960" y="6035040"/>
            <a:ext cx="10058400" cy="365760"/>
          </a:xfrm>
          <a:prstGeom prst="rect">
            <a:avLst/>
          </a:prstGeom>
          <a:noFill/>
          <a:ln/>
        </p:spPr>
        <p:txBody>
          <a:bodyPr wrap="square" rtlCol="0" anchor="ctr"/>
          <a:lstStyle/>
          <a:p>
            <a:pPr indent="0" marL="0">
              <a:buNone/>
            </a:pPr>
            <a:r>
              <a:rPr lang="en-US" sz="1500" i="1" dirty="0">
                <a:solidFill>
                  <a:srgbClr val="FFFFFF"/>
                </a:solidFill>
                <a:latin typeface="Georgia" pitchFamily="34" charset="0"/>
                <a:ea typeface="Georgia" pitchFamily="34" charset="-122"/>
                <a:cs typeface="Georg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2026-09-23T08:34:36Z</dcterms:created>
  <dcterms:modified xsi:type="dcterms:W3CDTF">2026-09-23T08:34:36Z</dcterms:modified>
</cp:coreProperties>
</file>