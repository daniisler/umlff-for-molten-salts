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rts/chart1.xml" ContentType="application/vnd.openxmlformats-officedocument.drawingml.chart+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0"/>
  </p:notesMasterIdLst>
  <p:sldIdLst>
    <p:sldId id="256" r:id="rId2"/>
    <p:sldId id="257" r:id="rId3"/>
    <p:sldId id="258" r:id="rId4"/>
    <p:sldId id="259" r:id="rId5"/>
    <p:sldId id="260" r:id="rId6"/>
    <p:sldId id="261" r:id="rId7"/>
    <p:sldId id="262" r:id="rId8"/>
    <p:sldId id="263" r:id="rId9"/>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22" d="100"/>
          <a:sy n="122" d="100"/>
        </p:scale>
        <p:origin x="224" y="28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1"/>
  <c:style val="2"/>
  <c:chart>
    <c:title>
      <c:tx>
        <c:rich>
          <a:bodyPr/>
          <a:lstStyle/>
          <a:p>
            <a:pPr>
              <a:defRPr sz="1300" b="0" i="0" u="none" strike="noStrike">
                <a:solidFill>
                  <a:srgbClr val="1A1D29"/>
                </a:solidFill>
                <a:latin typeface="Calibri"/>
              </a:defRPr>
            </a:pPr>
            <a:r>
              <a:rPr lang="en-GB" sz="1300" b="0" i="0" u="none" strike="noStrike">
                <a:solidFill>
                  <a:srgbClr val="1A1D29"/>
                </a:solidFill>
                <a:latin typeface="Calibri"/>
              </a:rPr>
              <a:t>Force RMSE  (meV/Å)  —  lower is better</a:t>
            </a:r>
          </a:p>
        </c:rich>
      </c:tx>
      <c:overlay val="0"/>
    </c:title>
    <c:autoTitleDeleted val="0"/>
    <c:plotArea>
      <c:layout/>
      <c:barChart>
        <c:barDir val="col"/>
        <c:grouping val="clustered"/>
        <c:varyColors val="0"/>
        <c:ser>
          <c:idx val="0"/>
          <c:order val="0"/>
          <c:tx>
            <c:strRef>
              <c:f>Sheet1!$B$1</c:f>
              <c:strCache>
                <c:ptCount val="1"/>
                <c:pt idx="0">
                  <c:v>UF3 2-body (ours)</c:v>
                </c:pt>
              </c:strCache>
            </c:strRef>
          </c:tx>
          <c:spPr>
            <a:solidFill>
              <a:srgbClr val="F2711C"/>
            </a:solidFill>
            <a:effectLst/>
          </c:spPr>
          <c:invertIfNegative val="0"/>
          <c:dLbls>
            <c:numFmt formatCode="0" sourceLinked="0"/>
            <c:spPr>
              <a:noFill/>
              <a:ln>
                <a:noFill/>
              </a:ln>
              <a:effectLst/>
            </c:spPr>
            <c:txPr>
              <a:bodyPr/>
              <a:lstStyle/>
              <a:p>
                <a:pPr>
                  <a:defRPr sz="1100" b="0" i="0" u="none" strike="noStrike">
                    <a:solidFill>
                      <a:srgbClr val="1A1D29"/>
                    </a:solidFill>
                    <a:latin typeface="Calibri"/>
                  </a:defRPr>
                </a:pPr>
                <a:endParaRPr lang="en-GR"/>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Test 1 (ternary)</c:v>
                </c:pt>
                <c:pt idx="1">
                  <c:v>Test 2 (multi-cation)</c:v>
                </c:pt>
              </c:strCache>
            </c:strRef>
          </c:cat>
          <c:val>
            <c:numRef>
              <c:f>Sheet1!$B$2:$B$3</c:f>
              <c:numCache>
                <c:formatCode>General</c:formatCode>
                <c:ptCount val="2"/>
                <c:pt idx="0">
                  <c:v>302</c:v>
                </c:pt>
                <c:pt idx="1">
                  <c:v>278</c:v>
                </c:pt>
              </c:numCache>
            </c:numRef>
          </c:val>
          <c:extLst>
            <c:ext xmlns:c16="http://schemas.microsoft.com/office/drawing/2014/chart" uri="{C3380CC4-5D6E-409C-BE32-E72D297353CC}">
              <c16:uniqueId val="{00000000-C5D9-554B-A014-3240198FED71}"/>
            </c:ext>
          </c:extLst>
        </c:ser>
        <c:ser>
          <c:idx val="1"/>
          <c:order val="1"/>
          <c:tx>
            <c:strRef>
              <c:f>Sheet1!$C$1</c:f>
              <c:strCache>
                <c:ptCount val="1"/>
                <c:pt idx="0">
                  <c:v>MACE-swa (target)</c:v>
                </c:pt>
              </c:strCache>
            </c:strRef>
          </c:tx>
          <c:spPr>
            <a:solidFill>
              <a:srgbClr val="2FB6A8"/>
            </a:solidFill>
            <a:effectLst/>
          </c:spPr>
          <c:invertIfNegative val="0"/>
          <c:dLbls>
            <c:numFmt formatCode="0" sourceLinked="0"/>
            <c:spPr>
              <a:noFill/>
              <a:ln>
                <a:noFill/>
              </a:ln>
              <a:effectLst/>
            </c:spPr>
            <c:txPr>
              <a:bodyPr/>
              <a:lstStyle/>
              <a:p>
                <a:pPr>
                  <a:defRPr sz="1100" b="0" i="0" u="none" strike="noStrike">
                    <a:solidFill>
                      <a:srgbClr val="1A1D29"/>
                    </a:solidFill>
                    <a:latin typeface="Calibri"/>
                  </a:defRPr>
                </a:pPr>
                <a:endParaRPr lang="en-GR"/>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Test 1 (ternary)</c:v>
                </c:pt>
                <c:pt idx="1">
                  <c:v>Test 2 (multi-cation)</c:v>
                </c:pt>
              </c:strCache>
            </c:strRef>
          </c:cat>
          <c:val>
            <c:numRef>
              <c:f>Sheet1!$C$2:$C$3</c:f>
              <c:numCache>
                <c:formatCode>General</c:formatCode>
                <c:ptCount val="2"/>
                <c:pt idx="0">
                  <c:v>17.600000000000001</c:v>
                </c:pt>
                <c:pt idx="1">
                  <c:v>24.4</c:v>
                </c:pt>
              </c:numCache>
            </c:numRef>
          </c:val>
          <c:extLst>
            <c:ext xmlns:c16="http://schemas.microsoft.com/office/drawing/2014/chart" uri="{C3380CC4-5D6E-409C-BE32-E72D297353CC}">
              <c16:uniqueId val="{00000001-C5D9-554B-A014-3240198FED71}"/>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1A1D29"/>
                </a:solidFill>
                <a:latin typeface="Calibri"/>
              </a:defRPr>
            </a:pPr>
            <a:endParaRPr lang="en-US"/>
          </a:p>
        </c:txPr>
        <c:crossAx val="2094734552"/>
        <c:crosses val="autoZero"/>
        <c:auto val="1"/>
        <c:lblAlgn val="ctr"/>
        <c:lblOffset val="100"/>
        <c:noMultiLvlLbl val="1"/>
      </c:catAx>
      <c:valAx>
        <c:axId val="2094734552"/>
        <c:scaling>
          <c:orientation val="minMax"/>
          <c:max val="320"/>
          <c:min val="0"/>
        </c:scaling>
        <c:delete val="0"/>
        <c:axPos val="l"/>
        <c:majorGridlines>
          <c:spPr>
            <a:ln w="12700" cap="flat">
              <a:solidFill>
                <a:srgbClr val="E3E5EA"/>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B7280"/>
                </a:solidFill>
                <a:latin typeface="Calibri"/>
              </a:defRPr>
            </a:pPr>
            <a:endParaRPr lang="en-US"/>
          </a:p>
        </c:txPr>
        <c:crossAx val="2094734554"/>
        <c:crosses val="autoZero"/>
        <c:crossBetween val="between"/>
      </c:valAx>
      <c:spPr>
        <a:noFill/>
        <a:ln>
          <a:noFill/>
        </a:ln>
        <a:effectLst/>
      </c:spPr>
    </c:plotArea>
    <c:legend>
      <c:legendPos val="b"/>
      <c:overlay val="0"/>
      <c:txPr>
        <a:bodyPr/>
        <a:lstStyle/>
        <a:p>
          <a:pPr>
            <a:defRPr sz="1200">
              <a:solidFill>
                <a:srgbClr val="1A1D29"/>
              </a:solidFill>
              <a:latin typeface="Calibri"/>
              <a:cs typeface="Calibri"/>
            </a:defRPr>
          </a:pPr>
          <a:endParaRPr lang="en-US"/>
        </a:p>
      </c:txPr>
    </c:legend>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6117866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this week was about building my own model. Last week I'd validated the SuperSalt reproduction; this week I actually built the UF3 model from scratch — the 2-body version fully, and I started testing the 3-body term. Let me walk you through it.</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roadmap: first what UF3 actually is under the hood, then the two-body and three-body terms, then the pipeline I built to train it, and finally the results and where I want to go next.</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core idea: instead of a big neural network, UF3 writes the energy as a sum of simple pieces — a one-body offset per element, a two-body term for every pair, and in principle a three-body term for triangles. Each piece is a flexible spline curve fit to the DFT data. And because the energy is linear in those spline coefficients, training isn't iterative — it's a single least-squares solve. That's the whole selling point: seconds to fit, cheap to run, and every curve is interpretable.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building block is the two-body term — a pair potential, energy as a function of the distance between two atoms. On the left are the classic fixed formulas, Lennard-Jones and Morse, with two or three knobs. UF3 replaces the formula with a flexible spline — about fifteen coefficients — so it can take any shape the data needs. You read the curve directly: the wall is atom size, the dip is bond length, its depth is bond strength. But — and this is the key limitation for later — it depends only on distance. It sees how far, never at what angle.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pipeline is five steps: define the system and get the pairs; build a spline basis — that's 1,416 coefficients for the twelve elements; featurize every structure and force into rows of numbers; fit all the coefficients in one regularized least-squares solve; and wrap the result as an ASE calculator. That last part matters — it's the same interface as MACE, so the exact scoring loop from last week's reproduction works on my model with no changes.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first working model, scored on both held-out test sets with the same metric as the paper. Energies are reasonable — 13 to 15 meV per atom. Forces are 278 to 302, well above MACE's roughly 20. I want to be clear why: that gap is structural, not a data problem — I ran a learning curve, and more data doesn't lower it. A pair potential fundamentally can't represent angular forces, so it hits a floor. The point isn't to beat MACE on accuracy — it's that it trains in seconds, runs about a thousand times cheaper, and it's the foundation the three-body term improves on.   ACTING ON YOUR CRITIQUE: one thing worth flagging — I benchmarked against the SWA model, not the plain SuperSalt one. That came directly from your report: you'd found from the authors that the SWA checkpoint was the one used for all their benchmarking, so it's the fair baseline. I also confirmed which test file is which by composition, not by the filenames, since you flagged the naming as ambiguous — and I hit the same swap you did. And where my Test-1 number doesn't perfectly match the paper, I'm reading that as the reproducibility ambiguity you documented — the model-per-figure being unstated and the D3 handling unclear — rather than a bug on my side.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part I'm most happy with. Full 3-body over twelve elements is intractable — 111 thousand features — so I tested it on small three-element subsystems, and I designed it as a controlled experiment: two systems with directional cations, magnesium and zirconium, where angles should matter, and one spherical control, potassium-rubidium, where they shouldn't. The result is clean: three-body cuts the force error 35 percent for magnesium, 21 for zirconium, but only 5 percent for the spherical control. So the improvement tracks directionality exactly, which tells me it's genuinely capturing angular coordination, not just adding parameters. These are small subsystems with a short cutoff, so I treat the absolute numbers as a proof of concept — but the directional-versus-control contrast is the robust claim.</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Next: I want to firm up those three-body numbers with more data and a longer cutoff — but the featurization is single-threaded and heavy, so it's slow on my laptop. Which is my one ask: is there a DIFFER cluster or workstation I could use? It's CPU I need, not GPU — UF3 has no GPU path. After that, score on the full test sets for final numbers. And for the MD phase later, I've noted the points from your critique on initialization and finite-size effects — packing and equilibrating the start structures, and using big-enough boxes. That's where I'm at — anything you'd change or want me to prioritise?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IGHT">
    <p:bg>
      <p:bgPr>
        <a:solidFill>
          <a:srgbClr val="FFFFFF"/>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rgbClr val="12141C"/>
        </a:solid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8869680" y="-1463040"/>
            <a:ext cx="5120640" cy="5120640"/>
          </a:xfrm>
          <a:prstGeom prst="ellipse">
            <a:avLst/>
          </a:prstGeom>
          <a:solidFill>
            <a:srgbClr val="F2711C">
              <a:alpha val="18000"/>
            </a:srgbClr>
          </a:solidFill>
          <a:ln/>
        </p:spPr>
        <p:txBody>
          <a:bodyPr/>
          <a:lstStyle/>
          <a:p>
            <a:endParaRPr lang="en-GR"/>
          </a:p>
        </p:txBody>
      </p:sp>
      <p:sp>
        <p:nvSpPr>
          <p:cNvPr id="3" name="Shape 1"/>
          <p:cNvSpPr/>
          <p:nvPr/>
        </p:nvSpPr>
        <p:spPr>
          <a:xfrm>
            <a:off x="10058400" y="3291840"/>
            <a:ext cx="4206240" cy="4206240"/>
          </a:xfrm>
          <a:prstGeom prst="ellipse">
            <a:avLst/>
          </a:prstGeom>
          <a:solidFill>
            <a:srgbClr val="F5A623">
              <a:alpha val="12000"/>
            </a:srgbClr>
          </a:solidFill>
          <a:ln/>
        </p:spPr>
        <p:txBody>
          <a:bodyPr/>
          <a:lstStyle/>
          <a:p>
            <a:endParaRPr lang="en-GR"/>
          </a:p>
        </p:txBody>
      </p:sp>
      <p:sp>
        <p:nvSpPr>
          <p:cNvPr id="4" name="Text 2"/>
          <p:cNvSpPr txBox="1"/>
          <p:nvPr/>
        </p:nvSpPr>
        <p:spPr>
          <a:xfrm>
            <a:off x="640080" y="1920240"/>
            <a:ext cx="9144000" cy="365760"/>
          </a:xfrm>
          <a:prstGeom prst="rect">
            <a:avLst/>
          </a:prstGeom>
          <a:noFill/>
          <a:ln/>
        </p:spPr>
        <p:txBody>
          <a:bodyPr wrap="square" lIns="0" tIns="0" rIns="0" bIns="0" rtlCol="0" anchor="ctr"/>
          <a:lstStyle/>
          <a:p>
            <a:pPr marL="0" indent="0">
              <a:buNone/>
            </a:pPr>
            <a:r>
              <a:rPr lang="en-US" sz="1400" b="1" kern="0" spc="300" dirty="0">
                <a:solidFill>
                  <a:srgbClr val="F5A623"/>
                </a:solidFill>
                <a:latin typeface="Calibri" pitchFamily="34" charset="0"/>
                <a:ea typeface="Calibri" pitchFamily="34" charset="-122"/>
                <a:cs typeface="Calibri" pitchFamily="34" charset="-120"/>
              </a:rPr>
              <a:t>WEEKLY PROGRESS · WEEK 3</a:t>
            </a:r>
            <a:endParaRPr lang="en-US" sz="1400" dirty="0"/>
          </a:p>
        </p:txBody>
      </p:sp>
      <p:sp>
        <p:nvSpPr>
          <p:cNvPr id="5" name="Text 3"/>
          <p:cNvSpPr txBox="1"/>
          <p:nvPr/>
        </p:nvSpPr>
        <p:spPr>
          <a:xfrm>
            <a:off x="640080" y="2331720"/>
            <a:ext cx="10515600" cy="1005840"/>
          </a:xfrm>
          <a:prstGeom prst="rect">
            <a:avLst/>
          </a:prstGeom>
          <a:noFill/>
          <a:ln/>
        </p:spPr>
        <p:txBody>
          <a:bodyPr wrap="square" lIns="0" tIns="0" rIns="0" bIns="0" rtlCol="0" anchor="ctr"/>
          <a:lstStyle/>
          <a:p>
            <a:pPr marL="0" indent="0">
              <a:buNone/>
            </a:pPr>
            <a:r>
              <a:rPr lang="en-US" sz="4400" b="1" dirty="0">
                <a:solidFill>
                  <a:srgbClr val="FFFFFF"/>
                </a:solidFill>
                <a:latin typeface="Cambria" pitchFamily="34" charset="0"/>
                <a:ea typeface="Cambria" pitchFamily="34" charset="-122"/>
                <a:cs typeface="Cambria" pitchFamily="34" charset="-120"/>
              </a:rPr>
              <a:t>Building the UF3 model</a:t>
            </a:r>
            <a:endParaRPr lang="en-US" sz="4400" dirty="0"/>
          </a:p>
        </p:txBody>
      </p:sp>
      <p:sp>
        <p:nvSpPr>
          <p:cNvPr id="6" name="Text 4"/>
          <p:cNvSpPr txBox="1"/>
          <p:nvPr/>
        </p:nvSpPr>
        <p:spPr>
          <a:xfrm>
            <a:off x="640080" y="5212080"/>
            <a:ext cx="10058400" cy="365760"/>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Marios Poulis</a:t>
            </a:r>
            <a:endParaRPr lang="en-US" sz="1500" dirty="0"/>
          </a:p>
        </p:txBody>
      </p:sp>
      <p:sp>
        <p:nvSpPr>
          <p:cNvPr id="7" name="Text 5"/>
          <p:cNvSpPr txBox="1"/>
          <p:nvPr/>
        </p:nvSpPr>
        <p:spPr>
          <a:xfrm>
            <a:off x="640080" y="5577840"/>
            <a:ext cx="10058400" cy="365760"/>
          </a:xfrm>
          <a:prstGeom prst="rect">
            <a:avLst/>
          </a:prstGeom>
          <a:noFill/>
          <a:ln/>
        </p:spPr>
        <p:txBody>
          <a:bodyPr wrap="square" lIns="0" tIns="0" rIns="0" bIns="0" rtlCol="0" anchor="ctr"/>
          <a:lstStyle/>
          <a:p>
            <a:pPr marL="0" indent="0">
              <a:buNone/>
            </a:pPr>
            <a:r>
              <a:rPr lang="en-US" sz="1300" dirty="0">
                <a:solidFill>
                  <a:srgbClr val="9AA0AC"/>
                </a:solidFill>
                <a:latin typeface="Calibri" pitchFamily="34" charset="0"/>
                <a:ea typeface="Calibri" pitchFamily="34" charset="-122"/>
                <a:cs typeface="Calibri" pitchFamily="34" charset="-120"/>
              </a:rPr>
              <a:t>Monday 21 September 2026</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457200" y="384048"/>
            <a:ext cx="10972800" cy="274320"/>
          </a:xfrm>
          <a:prstGeom prst="rect">
            <a:avLst/>
          </a:prstGeom>
          <a:noFill/>
          <a:ln/>
        </p:spPr>
        <p:txBody>
          <a:bodyPr wrap="square" lIns="0" tIns="0" rIns="0" bIns="0" rtlCol="0" anchor="ctr"/>
          <a:lstStyle/>
          <a:p>
            <a:pPr marL="0" indent="0">
              <a:buNone/>
            </a:pPr>
            <a:r>
              <a:rPr lang="en-US" sz="1200" b="1" kern="0" spc="200" dirty="0">
                <a:solidFill>
                  <a:srgbClr val="F2711C"/>
                </a:solidFill>
                <a:latin typeface="Calibri" pitchFamily="34" charset="0"/>
                <a:ea typeface="Calibri" pitchFamily="34" charset="-122"/>
                <a:cs typeface="Calibri" pitchFamily="34" charset="-120"/>
              </a:rPr>
              <a:t>AGENDA</a:t>
            </a:r>
            <a:endParaRPr lang="en-US" sz="1200" dirty="0"/>
          </a:p>
        </p:txBody>
      </p:sp>
      <p:sp>
        <p:nvSpPr>
          <p:cNvPr id="3" name="Text 1"/>
          <p:cNvSpPr txBox="1"/>
          <p:nvPr/>
        </p:nvSpPr>
        <p:spPr>
          <a:xfrm>
            <a:off x="457200" y="658368"/>
            <a:ext cx="11247120" cy="822960"/>
          </a:xfrm>
          <a:prstGeom prst="rect">
            <a:avLst/>
          </a:prstGeom>
          <a:noFill/>
          <a:ln/>
        </p:spPr>
        <p:txBody>
          <a:bodyPr wrap="square" lIns="0" tIns="0" rIns="0" bIns="0" rtlCol="0" anchor="ctr"/>
          <a:lstStyle/>
          <a:p>
            <a:pPr marL="0" indent="0">
              <a:buNone/>
            </a:pPr>
            <a:r>
              <a:rPr lang="en-US" sz="3200" b="1" dirty="0">
                <a:solidFill>
                  <a:srgbClr val="1A1D29"/>
                </a:solidFill>
                <a:latin typeface="Cambria" pitchFamily="34" charset="0"/>
                <a:ea typeface="Cambria" pitchFamily="34" charset="-122"/>
                <a:cs typeface="Cambria" pitchFamily="34" charset="-120"/>
              </a:rPr>
              <a:t>This week</a:t>
            </a:r>
            <a:endParaRPr lang="en-US" sz="3200" dirty="0"/>
          </a:p>
        </p:txBody>
      </p:sp>
      <p:sp>
        <p:nvSpPr>
          <p:cNvPr id="4" name="Shape 2"/>
          <p:cNvSpPr/>
          <p:nvPr/>
        </p:nvSpPr>
        <p:spPr>
          <a:xfrm>
            <a:off x="548640" y="2103120"/>
            <a:ext cx="658368" cy="658368"/>
          </a:xfrm>
          <a:prstGeom prst="ellipse">
            <a:avLst/>
          </a:prstGeom>
          <a:solidFill>
            <a:srgbClr val="F5A623"/>
          </a:solidFill>
          <a:ln/>
        </p:spPr>
        <p:txBody>
          <a:bodyPr/>
          <a:lstStyle/>
          <a:p>
            <a:endParaRPr lang="en-GR"/>
          </a:p>
        </p:txBody>
      </p:sp>
      <p:sp>
        <p:nvSpPr>
          <p:cNvPr id="5" name="Text 3"/>
          <p:cNvSpPr txBox="1"/>
          <p:nvPr/>
        </p:nvSpPr>
        <p:spPr>
          <a:xfrm>
            <a:off x="548640" y="2103120"/>
            <a:ext cx="658368" cy="658368"/>
          </a:xfrm>
          <a:prstGeom prst="rect">
            <a:avLst/>
          </a:prstGeom>
          <a:noFill/>
          <a:ln/>
        </p:spPr>
        <p:txBody>
          <a:bodyPr wrap="square" lIns="0" tIns="0" rIns="0" bIns="0"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01</a:t>
            </a:r>
            <a:endParaRPr lang="en-US" sz="1800" dirty="0"/>
          </a:p>
        </p:txBody>
      </p:sp>
      <p:sp>
        <p:nvSpPr>
          <p:cNvPr id="6" name="Text 4"/>
          <p:cNvSpPr txBox="1"/>
          <p:nvPr/>
        </p:nvSpPr>
        <p:spPr>
          <a:xfrm>
            <a:off x="1463040" y="2084832"/>
            <a:ext cx="10058400" cy="365760"/>
          </a:xfrm>
          <a:prstGeom prst="rect">
            <a:avLst/>
          </a:prstGeom>
          <a:noFill/>
          <a:ln/>
        </p:spPr>
        <p:txBody>
          <a:bodyPr wrap="square" lIns="0" tIns="0" rIns="0" bIns="0" rtlCol="0" anchor="ctr"/>
          <a:lstStyle/>
          <a:p>
            <a:pPr marL="0" indent="0">
              <a:buNone/>
            </a:pPr>
            <a:r>
              <a:rPr lang="en-US" sz="1800" b="1" dirty="0">
                <a:solidFill>
                  <a:srgbClr val="1A1D29"/>
                </a:solidFill>
                <a:latin typeface="Calibri" pitchFamily="34" charset="0"/>
                <a:ea typeface="Calibri" pitchFamily="34" charset="-122"/>
                <a:cs typeface="Calibri" pitchFamily="34" charset="-120"/>
              </a:rPr>
              <a:t>What UF3 actually is</a:t>
            </a:r>
            <a:endParaRPr lang="en-US" sz="1800" dirty="0"/>
          </a:p>
        </p:txBody>
      </p:sp>
      <p:sp>
        <p:nvSpPr>
          <p:cNvPr id="7" name="Text 5"/>
          <p:cNvSpPr txBox="1"/>
          <p:nvPr/>
        </p:nvSpPr>
        <p:spPr>
          <a:xfrm>
            <a:off x="1463040" y="2432304"/>
            <a:ext cx="10058400" cy="365760"/>
          </a:xfrm>
          <a:prstGeom prst="rect">
            <a:avLst/>
          </a:prstGeom>
          <a:noFill/>
          <a:ln/>
        </p:spPr>
        <p:txBody>
          <a:bodyPr wrap="square" lIns="0" tIns="0" rIns="0" bIns="0" rtlCol="0" anchor="ctr"/>
          <a:lstStyle/>
          <a:p>
            <a:pPr marL="0" indent="0">
              <a:buNone/>
            </a:pPr>
            <a:r>
              <a:rPr lang="en-US" sz="1350" dirty="0">
                <a:solidFill>
                  <a:srgbClr val="6B7280"/>
                </a:solidFill>
                <a:latin typeface="Calibri" pitchFamily="34" charset="0"/>
                <a:ea typeface="Calibri" pitchFamily="34" charset="-122"/>
                <a:cs typeface="Calibri" pitchFamily="34" charset="-120"/>
              </a:rPr>
              <a:t>The many-body expansion, flexible splines, a linear fit</a:t>
            </a:r>
            <a:endParaRPr lang="en-US" sz="1350" dirty="0"/>
          </a:p>
        </p:txBody>
      </p:sp>
      <p:sp>
        <p:nvSpPr>
          <p:cNvPr id="8" name="Shape 6"/>
          <p:cNvSpPr/>
          <p:nvPr/>
        </p:nvSpPr>
        <p:spPr>
          <a:xfrm>
            <a:off x="548640" y="3017520"/>
            <a:ext cx="658368" cy="658368"/>
          </a:xfrm>
          <a:prstGeom prst="ellipse">
            <a:avLst/>
          </a:prstGeom>
          <a:solidFill>
            <a:srgbClr val="2FB6A8"/>
          </a:solidFill>
          <a:ln/>
        </p:spPr>
        <p:txBody>
          <a:bodyPr/>
          <a:lstStyle/>
          <a:p>
            <a:endParaRPr lang="en-GR"/>
          </a:p>
        </p:txBody>
      </p:sp>
      <p:sp>
        <p:nvSpPr>
          <p:cNvPr id="9" name="Text 7"/>
          <p:cNvSpPr txBox="1"/>
          <p:nvPr/>
        </p:nvSpPr>
        <p:spPr>
          <a:xfrm>
            <a:off x="548640" y="3017520"/>
            <a:ext cx="658368" cy="658368"/>
          </a:xfrm>
          <a:prstGeom prst="rect">
            <a:avLst/>
          </a:prstGeom>
          <a:noFill/>
          <a:ln/>
        </p:spPr>
        <p:txBody>
          <a:bodyPr wrap="square" lIns="0" tIns="0" rIns="0" bIns="0"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02</a:t>
            </a:r>
            <a:endParaRPr lang="en-US" sz="1800" dirty="0"/>
          </a:p>
        </p:txBody>
      </p:sp>
      <p:sp>
        <p:nvSpPr>
          <p:cNvPr id="10" name="Text 8"/>
          <p:cNvSpPr txBox="1"/>
          <p:nvPr/>
        </p:nvSpPr>
        <p:spPr>
          <a:xfrm>
            <a:off x="1463040" y="2999232"/>
            <a:ext cx="10058400" cy="365760"/>
          </a:xfrm>
          <a:prstGeom prst="rect">
            <a:avLst/>
          </a:prstGeom>
          <a:noFill/>
          <a:ln/>
        </p:spPr>
        <p:txBody>
          <a:bodyPr wrap="square" lIns="0" tIns="0" rIns="0" bIns="0" rtlCol="0" anchor="ctr"/>
          <a:lstStyle/>
          <a:p>
            <a:pPr marL="0" indent="0">
              <a:buNone/>
            </a:pPr>
            <a:r>
              <a:rPr lang="en-US" sz="1800" b="1" dirty="0">
                <a:solidFill>
                  <a:srgbClr val="1A1D29"/>
                </a:solidFill>
                <a:latin typeface="Calibri" pitchFamily="34" charset="0"/>
                <a:ea typeface="Calibri" pitchFamily="34" charset="-122"/>
                <a:cs typeface="Calibri" pitchFamily="34" charset="-120"/>
              </a:rPr>
              <a:t>The 2-body term and 3-body term</a:t>
            </a:r>
            <a:endParaRPr lang="en-US" sz="1800" dirty="0"/>
          </a:p>
        </p:txBody>
      </p:sp>
      <p:sp>
        <p:nvSpPr>
          <p:cNvPr id="11" name="Text 9"/>
          <p:cNvSpPr txBox="1"/>
          <p:nvPr/>
        </p:nvSpPr>
        <p:spPr>
          <a:xfrm>
            <a:off x="1463040" y="3346704"/>
            <a:ext cx="10058400" cy="365760"/>
          </a:xfrm>
          <a:prstGeom prst="rect">
            <a:avLst/>
          </a:prstGeom>
          <a:noFill/>
          <a:ln/>
        </p:spPr>
        <p:txBody>
          <a:bodyPr wrap="square" lIns="0" tIns="0" rIns="0" bIns="0" rtlCol="0" anchor="ctr"/>
          <a:lstStyle/>
          <a:p>
            <a:pPr marL="0" indent="0">
              <a:buNone/>
            </a:pPr>
            <a:r>
              <a:rPr lang="en-US" sz="1350" dirty="0">
                <a:solidFill>
                  <a:srgbClr val="6B7280"/>
                </a:solidFill>
                <a:latin typeface="Calibri" pitchFamily="34" charset="0"/>
                <a:ea typeface="Calibri" pitchFamily="34" charset="-122"/>
                <a:cs typeface="Calibri" pitchFamily="34" charset="-120"/>
              </a:rPr>
              <a:t>A learned pair potential — what it captures and what it can't</a:t>
            </a:r>
            <a:endParaRPr lang="en-US" sz="1350" dirty="0"/>
          </a:p>
        </p:txBody>
      </p:sp>
      <p:sp>
        <p:nvSpPr>
          <p:cNvPr id="12" name="Shape 10"/>
          <p:cNvSpPr/>
          <p:nvPr/>
        </p:nvSpPr>
        <p:spPr>
          <a:xfrm>
            <a:off x="548640" y="3931920"/>
            <a:ext cx="658368" cy="658368"/>
          </a:xfrm>
          <a:prstGeom prst="ellipse">
            <a:avLst/>
          </a:prstGeom>
          <a:solidFill>
            <a:srgbClr val="F2711C"/>
          </a:solidFill>
          <a:ln/>
        </p:spPr>
        <p:txBody>
          <a:bodyPr/>
          <a:lstStyle/>
          <a:p>
            <a:endParaRPr lang="en-GR"/>
          </a:p>
        </p:txBody>
      </p:sp>
      <p:sp>
        <p:nvSpPr>
          <p:cNvPr id="13" name="Text 11"/>
          <p:cNvSpPr txBox="1"/>
          <p:nvPr/>
        </p:nvSpPr>
        <p:spPr>
          <a:xfrm>
            <a:off x="548640" y="3931920"/>
            <a:ext cx="658368" cy="658368"/>
          </a:xfrm>
          <a:prstGeom prst="rect">
            <a:avLst/>
          </a:prstGeom>
          <a:noFill/>
          <a:ln/>
        </p:spPr>
        <p:txBody>
          <a:bodyPr wrap="square" lIns="0" tIns="0" rIns="0" bIns="0"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03</a:t>
            </a:r>
            <a:endParaRPr lang="en-US" sz="1800" dirty="0"/>
          </a:p>
        </p:txBody>
      </p:sp>
      <p:sp>
        <p:nvSpPr>
          <p:cNvPr id="14" name="Text 12"/>
          <p:cNvSpPr txBox="1"/>
          <p:nvPr/>
        </p:nvSpPr>
        <p:spPr>
          <a:xfrm>
            <a:off x="1463040" y="3913632"/>
            <a:ext cx="10058400" cy="365760"/>
          </a:xfrm>
          <a:prstGeom prst="rect">
            <a:avLst/>
          </a:prstGeom>
          <a:noFill/>
          <a:ln/>
        </p:spPr>
        <p:txBody>
          <a:bodyPr wrap="square" lIns="0" tIns="0" rIns="0" bIns="0" rtlCol="0" anchor="ctr"/>
          <a:lstStyle/>
          <a:p>
            <a:pPr marL="0" indent="0">
              <a:buNone/>
            </a:pPr>
            <a:r>
              <a:rPr lang="en-US" sz="1800" b="1" dirty="0">
                <a:solidFill>
                  <a:srgbClr val="1A1D29"/>
                </a:solidFill>
                <a:latin typeface="Calibri" pitchFamily="34" charset="0"/>
                <a:ea typeface="Calibri" pitchFamily="34" charset="-122"/>
                <a:cs typeface="Calibri" pitchFamily="34" charset="-120"/>
              </a:rPr>
              <a:t>The pipeline I built</a:t>
            </a:r>
            <a:endParaRPr lang="en-US" sz="1800" dirty="0"/>
          </a:p>
        </p:txBody>
      </p:sp>
      <p:sp>
        <p:nvSpPr>
          <p:cNvPr id="15" name="Text 13"/>
          <p:cNvSpPr txBox="1"/>
          <p:nvPr/>
        </p:nvSpPr>
        <p:spPr>
          <a:xfrm>
            <a:off x="1463040" y="4261104"/>
            <a:ext cx="10058400" cy="365760"/>
          </a:xfrm>
          <a:prstGeom prst="rect">
            <a:avLst/>
          </a:prstGeom>
          <a:noFill/>
          <a:ln/>
        </p:spPr>
        <p:txBody>
          <a:bodyPr wrap="square" lIns="0" tIns="0" rIns="0" bIns="0" rtlCol="0" anchor="ctr"/>
          <a:lstStyle/>
          <a:p>
            <a:pPr marL="0" indent="0">
              <a:buNone/>
            </a:pPr>
            <a:r>
              <a:rPr lang="en-US" sz="1350" dirty="0">
                <a:solidFill>
                  <a:srgbClr val="6B7280"/>
                </a:solidFill>
                <a:latin typeface="Calibri" pitchFamily="34" charset="0"/>
                <a:ea typeface="Calibri" pitchFamily="34" charset="-122"/>
                <a:cs typeface="Calibri" pitchFamily="34" charset="-120"/>
              </a:rPr>
              <a:t>Five steps from structures to a working ASE calculator</a:t>
            </a:r>
            <a:endParaRPr lang="en-US" sz="1350" dirty="0"/>
          </a:p>
        </p:txBody>
      </p:sp>
      <p:sp>
        <p:nvSpPr>
          <p:cNvPr id="16" name="Shape 14"/>
          <p:cNvSpPr/>
          <p:nvPr/>
        </p:nvSpPr>
        <p:spPr>
          <a:xfrm>
            <a:off x="548640" y="4846320"/>
            <a:ext cx="658368" cy="658368"/>
          </a:xfrm>
          <a:prstGeom prst="ellipse">
            <a:avLst/>
          </a:prstGeom>
          <a:solidFill>
            <a:srgbClr val="1A1D29"/>
          </a:solidFill>
          <a:ln/>
        </p:spPr>
        <p:txBody>
          <a:bodyPr/>
          <a:lstStyle/>
          <a:p>
            <a:endParaRPr lang="en-GR"/>
          </a:p>
        </p:txBody>
      </p:sp>
      <p:sp>
        <p:nvSpPr>
          <p:cNvPr id="17" name="Text 15"/>
          <p:cNvSpPr txBox="1"/>
          <p:nvPr/>
        </p:nvSpPr>
        <p:spPr>
          <a:xfrm>
            <a:off x="548640" y="4846320"/>
            <a:ext cx="658368" cy="658368"/>
          </a:xfrm>
          <a:prstGeom prst="rect">
            <a:avLst/>
          </a:prstGeom>
          <a:noFill/>
          <a:ln/>
        </p:spPr>
        <p:txBody>
          <a:bodyPr wrap="square" lIns="0" tIns="0" rIns="0" bIns="0"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04</a:t>
            </a:r>
            <a:endParaRPr lang="en-US" sz="1800" dirty="0"/>
          </a:p>
        </p:txBody>
      </p:sp>
      <p:sp>
        <p:nvSpPr>
          <p:cNvPr id="18" name="Text 16"/>
          <p:cNvSpPr txBox="1"/>
          <p:nvPr/>
        </p:nvSpPr>
        <p:spPr>
          <a:xfrm>
            <a:off x="1463040" y="4828032"/>
            <a:ext cx="10058400" cy="365760"/>
          </a:xfrm>
          <a:prstGeom prst="rect">
            <a:avLst/>
          </a:prstGeom>
          <a:noFill/>
          <a:ln/>
        </p:spPr>
        <p:txBody>
          <a:bodyPr wrap="square" lIns="0" tIns="0" rIns="0" bIns="0" rtlCol="0" anchor="ctr"/>
          <a:lstStyle/>
          <a:p>
            <a:pPr marL="0" indent="0">
              <a:buNone/>
            </a:pPr>
            <a:r>
              <a:rPr lang="en-US" sz="1800" b="1" dirty="0">
                <a:solidFill>
                  <a:srgbClr val="1A1D29"/>
                </a:solidFill>
                <a:latin typeface="Calibri" pitchFamily="34" charset="0"/>
                <a:ea typeface="Calibri" pitchFamily="34" charset="-122"/>
                <a:cs typeface="Calibri" pitchFamily="34" charset="-120"/>
              </a:rPr>
              <a:t>Results &amp; next steps</a:t>
            </a:r>
            <a:endParaRPr lang="en-US" sz="1800" dirty="0"/>
          </a:p>
        </p:txBody>
      </p:sp>
      <p:sp>
        <p:nvSpPr>
          <p:cNvPr id="19" name="Text 17"/>
          <p:cNvSpPr txBox="1"/>
          <p:nvPr/>
        </p:nvSpPr>
        <p:spPr>
          <a:xfrm>
            <a:off x="1463040" y="5175504"/>
            <a:ext cx="10058400" cy="365760"/>
          </a:xfrm>
          <a:prstGeom prst="rect">
            <a:avLst/>
          </a:prstGeom>
          <a:noFill/>
          <a:ln/>
        </p:spPr>
        <p:txBody>
          <a:bodyPr wrap="square" lIns="0" tIns="0" rIns="0" bIns="0" rtlCol="0" anchor="ctr"/>
          <a:lstStyle/>
          <a:p>
            <a:pPr marL="0" indent="0">
              <a:buNone/>
            </a:pPr>
            <a:r>
              <a:rPr lang="en-US" sz="1350" dirty="0">
                <a:solidFill>
                  <a:srgbClr val="6B7280"/>
                </a:solidFill>
                <a:latin typeface="Calibri" pitchFamily="34" charset="0"/>
                <a:ea typeface="Calibri" pitchFamily="34" charset="-122"/>
                <a:cs typeface="Calibri" pitchFamily="34" charset="-120"/>
              </a:rPr>
              <a:t>2-body accuracy on both test sets, and where it goes</a:t>
            </a:r>
            <a:endParaRPr lang="en-US" sz="1350" dirty="0"/>
          </a:p>
        </p:txBody>
      </p:sp>
      <p:sp>
        <p:nvSpPr>
          <p:cNvPr id="21" name="Text 18"/>
          <p:cNvSpPr txBox="1"/>
          <p:nvPr/>
        </p:nvSpPr>
        <p:spPr>
          <a:xfrm>
            <a:off x="457200" y="6419088"/>
            <a:ext cx="8229600" cy="274320"/>
          </a:xfrm>
          <a:prstGeom prst="rect">
            <a:avLst/>
          </a:prstGeom>
          <a:noFill/>
          <a:ln/>
        </p:spPr>
        <p:txBody>
          <a:bodyPr wrap="square" lIns="0" tIns="0" rIns="0" bIns="0" rtlCol="0" anchor="ctr"/>
          <a:lstStyle/>
          <a:p>
            <a:pPr marL="0" indent="0" algn="l">
              <a:buNone/>
            </a:pPr>
            <a:r>
              <a:rPr lang="en-US" sz="900" dirty="0">
                <a:solidFill>
                  <a:srgbClr val="6B7280"/>
                </a:solidFill>
                <a:latin typeface="Calibri" pitchFamily="34" charset="0"/>
                <a:ea typeface="Calibri" pitchFamily="34" charset="-122"/>
                <a:cs typeface="Calibri" pitchFamily="34" charset="-120"/>
              </a:rPr>
              <a:t>Marios Poulis · DIFFER</a:t>
            </a:r>
            <a:endParaRPr lang="en-US" sz="900" dirty="0"/>
          </a:p>
        </p:txBody>
      </p:sp>
      <p:sp>
        <p:nvSpPr>
          <p:cNvPr id="22" name="Text 19"/>
          <p:cNvSpPr txBox="1"/>
          <p:nvPr/>
        </p:nvSpPr>
        <p:spPr>
          <a:xfrm>
            <a:off x="11338560" y="6419088"/>
            <a:ext cx="457200" cy="274320"/>
          </a:xfrm>
          <a:prstGeom prst="rect">
            <a:avLst/>
          </a:prstGeom>
          <a:noFill/>
          <a:ln/>
        </p:spPr>
        <p:txBody>
          <a:bodyPr wrap="square" lIns="0" tIns="0" rIns="0" bIns="0" rtlCol="0" anchor="ctr"/>
          <a:lstStyle/>
          <a:p>
            <a:pPr marL="0" indent="0" algn="r">
              <a:buNone/>
            </a:pPr>
            <a:r>
              <a:rPr lang="en-US" sz="900" dirty="0">
                <a:solidFill>
                  <a:srgbClr val="6B7280"/>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457200" y="384048"/>
            <a:ext cx="10972800" cy="274320"/>
          </a:xfrm>
          <a:prstGeom prst="rect">
            <a:avLst/>
          </a:prstGeom>
          <a:noFill/>
          <a:ln/>
        </p:spPr>
        <p:txBody>
          <a:bodyPr wrap="square" lIns="0" tIns="0" rIns="0" bIns="0" rtlCol="0" anchor="ctr"/>
          <a:lstStyle/>
          <a:p>
            <a:pPr marL="0" indent="0">
              <a:buNone/>
            </a:pPr>
            <a:r>
              <a:rPr lang="en-US" sz="1200" b="1" kern="0" spc="200" dirty="0">
                <a:solidFill>
                  <a:srgbClr val="F2711C"/>
                </a:solidFill>
                <a:latin typeface="Calibri" pitchFamily="34" charset="0"/>
                <a:ea typeface="Calibri" pitchFamily="34" charset="-122"/>
                <a:cs typeface="Calibri" pitchFamily="34" charset="-120"/>
              </a:rPr>
              <a:t>THE METHOD</a:t>
            </a:r>
            <a:endParaRPr lang="en-US" sz="1200" dirty="0"/>
          </a:p>
        </p:txBody>
      </p:sp>
      <p:sp>
        <p:nvSpPr>
          <p:cNvPr id="3" name="Text 1"/>
          <p:cNvSpPr txBox="1"/>
          <p:nvPr/>
        </p:nvSpPr>
        <p:spPr>
          <a:xfrm>
            <a:off x="457200" y="658368"/>
            <a:ext cx="11247120" cy="822960"/>
          </a:xfrm>
          <a:prstGeom prst="rect">
            <a:avLst/>
          </a:prstGeom>
          <a:noFill/>
          <a:ln/>
        </p:spPr>
        <p:txBody>
          <a:bodyPr wrap="square" lIns="0" tIns="0" rIns="0" bIns="0" rtlCol="0" anchor="ctr"/>
          <a:lstStyle/>
          <a:p>
            <a:pPr marL="0" indent="0">
              <a:buNone/>
            </a:pPr>
            <a:r>
              <a:rPr lang="en-US" sz="3200" b="1" dirty="0">
                <a:solidFill>
                  <a:srgbClr val="1A1D29"/>
                </a:solidFill>
                <a:latin typeface="Cambria" pitchFamily="34" charset="0"/>
                <a:ea typeface="Cambria" pitchFamily="34" charset="-122"/>
                <a:cs typeface="Cambria" pitchFamily="34" charset="-120"/>
              </a:rPr>
              <a:t>What UF3 is</a:t>
            </a:r>
            <a:endParaRPr lang="en-US" sz="3200" dirty="0"/>
          </a:p>
        </p:txBody>
      </p:sp>
      <p:sp>
        <p:nvSpPr>
          <p:cNvPr id="4" name="Text 2"/>
          <p:cNvSpPr txBox="1"/>
          <p:nvPr/>
        </p:nvSpPr>
        <p:spPr>
          <a:xfrm>
            <a:off x="457200" y="1371600"/>
            <a:ext cx="11247120" cy="320040"/>
          </a:xfrm>
          <a:prstGeom prst="rect">
            <a:avLst/>
          </a:prstGeom>
          <a:noFill/>
          <a:ln/>
        </p:spPr>
        <p:txBody>
          <a:bodyPr wrap="square" lIns="0" tIns="0" rIns="0" bIns="0" rtlCol="0" anchor="ctr"/>
          <a:lstStyle/>
          <a:p>
            <a:pPr marL="0" indent="0">
              <a:buNone/>
            </a:pPr>
            <a:r>
              <a:rPr lang="en-US" sz="1400" dirty="0">
                <a:solidFill>
                  <a:srgbClr val="6B7280"/>
                </a:solidFill>
                <a:latin typeface="Calibri" pitchFamily="34" charset="0"/>
                <a:ea typeface="Calibri" pitchFamily="34" charset="-122"/>
                <a:cs typeface="Calibri" pitchFamily="34" charset="-120"/>
              </a:rPr>
              <a:t>A force field written as a sum of simple interaction terms, each a flexible curve fit to DFT data.</a:t>
            </a:r>
            <a:endParaRPr lang="en-US" sz="1400" dirty="0"/>
          </a:p>
        </p:txBody>
      </p:sp>
      <p:sp>
        <p:nvSpPr>
          <p:cNvPr id="5" name="Shape 3"/>
          <p:cNvSpPr/>
          <p:nvPr/>
        </p:nvSpPr>
        <p:spPr>
          <a:xfrm>
            <a:off x="548640" y="1874520"/>
            <a:ext cx="11091672" cy="1051560"/>
          </a:xfrm>
          <a:prstGeom prst="roundRect">
            <a:avLst>
              <a:gd name="adj" fmla="val 5217"/>
            </a:avLst>
          </a:prstGeom>
          <a:solidFill>
            <a:srgbClr val="12141C"/>
          </a:solidFill>
          <a:ln/>
        </p:spPr>
        <p:txBody>
          <a:bodyPr/>
          <a:lstStyle/>
          <a:p>
            <a:endParaRPr lang="en-GR"/>
          </a:p>
        </p:txBody>
      </p:sp>
      <p:sp>
        <p:nvSpPr>
          <p:cNvPr id="6" name="Text 4"/>
          <p:cNvSpPr txBox="1"/>
          <p:nvPr/>
        </p:nvSpPr>
        <p:spPr>
          <a:xfrm>
            <a:off x="548640" y="1874520"/>
            <a:ext cx="11091672" cy="1051560"/>
          </a:xfrm>
          <a:prstGeom prst="rect">
            <a:avLst/>
          </a:prstGeom>
          <a:noFill/>
          <a:ln/>
        </p:spPr>
        <p:txBody>
          <a:bodyPr wrap="square" lIns="0" tIns="0" rIns="0" bIns="0" rtlCol="0" anchor="ctr"/>
          <a:lstStyle/>
          <a:p>
            <a:pPr marL="0" indent="0" algn="ctr">
              <a:buNone/>
            </a:pPr>
            <a:r>
              <a:rPr lang="en-US" sz="2400" dirty="0">
                <a:solidFill>
                  <a:srgbClr val="FFFFFF"/>
                </a:solidFill>
                <a:latin typeface="Cambria" pitchFamily="34" charset="0"/>
                <a:ea typeface="Cambria" pitchFamily="34" charset="-122"/>
                <a:cs typeface="Cambria" pitchFamily="34" charset="-120"/>
              </a:rPr>
              <a:t>E  ≈  </a:t>
            </a:r>
            <a:r>
              <a:rPr lang="en-US" sz="2400" dirty="0">
                <a:solidFill>
                  <a:srgbClr val="9AA0AC"/>
                </a:solidFill>
                <a:latin typeface="Cambria" pitchFamily="34" charset="0"/>
                <a:ea typeface="Cambria" pitchFamily="34" charset="-122"/>
                <a:cs typeface="Cambria" pitchFamily="34" charset="-120"/>
              </a:rPr>
              <a:t>Σ E₁</a:t>
            </a:r>
            <a:r>
              <a:rPr lang="en-US" sz="2400" dirty="0">
                <a:solidFill>
                  <a:srgbClr val="FFFFFF"/>
                </a:solidFill>
                <a:latin typeface="Cambria" pitchFamily="34" charset="0"/>
                <a:ea typeface="Cambria" pitchFamily="34" charset="-122"/>
                <a:cs typeface="Cambria" pitchFamily="34" charset="-120"/>
              </a:rPr>
              <a:t>  +  </a:t>
            </a:r>
            <a:r>
              <a:rPr lang="en-US" sz="2400" b="1" dirty="0">
                <a:solidFill>
                  <a:srgbClr val="F2711C"/>
                </a:solidFill>
                <a:latin typeface="Cambria" pitchFamily="34" charset="0"/>
                <a:ea typeface="Cambria" pitchFamily="34" charset="-122"/>
                <a:cs typeface="Cambria" pitchFamily="34" charset="-120"/>
              </a:rPr>
              <a:t>½ Σ V₂(r)</a:t>
            </a:r>
            <a:r>
              <a:rPr lang="en-US" sz="2400" dirty="0">
                <a:solidFill>
                  <a:srgbClr val="FFFFFF"/>
                </a:solidFill>
                <a:latin typeface="Cambria" pitchFamily="34" charset="0"/>
                <a:ea typeface="Cambria" pitchFamily="34" charset="-122"/>
                <a:cs typeface="Cambria" pitchFamily="34" charset="-120"/>
              </a:rPr>
              <a:t>  +  </a:t>
            </a:r>
            <a:r>
              <a:rPr lang="en-US" sz="2400" dirty="0">
                <a:solidFill>
                  <a:srgbClr val="5A6070"/>
                </a:solidFill>
                <a:latin typeface="Cambria" pitchFamily="34" charset="0"/>
                <a:ea typeface="Cambria" pitchFamily="34" charset="-122"/>
                <a:cs typeface="Cambria" pitchFamily="34" charset="-120"/>
              </a:rPr>
              <a:t>⅙ Σ V₃(triangle)</a:t>
            </a:r>
            <a:endParaRPr lang="en-US" sz="2400" dirty="0"/>
          </a:p>
        </p:txBody>
      </p:sp>
      <p:sp>
        <p:nvSpPr>
          <p:cNvPr id="7" name="Text 5"/>
          <p:cNvSpPr txBox="1"/>
          <p:nvPr/>
        </p:nvSpPr>
        <p:spPr>
          <a:xfrm>
            <a:off x="548640" y="2971800"/>
            <a:ext cx="11091672" cy="274320"/>
          </a:xfrm>
          <a:prstGeom prst="rect">
            <a:avLst/>
          </a:prstGeom>
          <a:noFill/>
          <a:ln/>
        </p:spPr>
        <p:txBody>
          <a:bodyPr wrap="square" lIns="0" tIns="0" rIns="0" bIns="0" rtlCol="0" anchor="ctr"/>
          <a:lstStyle/>
          <a:p>
            <a:pPr marL="0" indent="0" algn="ctr">
              <a:buNone/>
            </a:pPr>
            <a:r>
              <a:rPr lang="en-US" sz="1200" i="1" dirty="0">
                <a:solidFill>
                  <a:srgbClr val="6B7280"/>
                </a:solidFill>
                <a:latin typeface="Calibri" pitchFamily="34" charset="0"/>
                <a:ea typeface="Calibri" pitchFamily="34" charset="-122"/>
                <a:cs typeface="Calibri" pitchFamily="34" charset="-120"/>
              </a:rPr>
              <a:t>one-body offsets      +      pairs (built this week)      +      triangles (a later extension)</a:t>
            </a:r>
            <a:endParaRPr lang="en-US" sz="1200" dirty="0"/>
          </a:p>
        </p:txBody>
      </p:sp>
      <p:sp>
        <p:nvSpPr>
          <p:cNvPr id="8" name="Shape 6"/>
          <p:cNvSpPr/>
          <p:nvPr/>
        </p:nvSpPr>
        <p:spPr>
          <a:xfrm>
            <a:off x="548640" y="3520440"/>
            <a:ext cx="3538728" cy="2606040"/>
          </a:xfrm>
          <a:prstGeom prst="roundRect">
            <a:avLst>
              <a:gd name="adj" fmla="val 2807"/>
            </a:avLst>
          </a:prstGeom>
          <a:solidFill>
            <a:srgbClr val="F4F5F7"/>
          </a:solidFill>
          <a:ln w="12700">
            <a:solidFill>
              <a:srgbClr val="E3E5EA"/>
            </a:solidFill>
            <a:prstDash val="solid"/>
          </a:ln>
        </p:spPr>
        <p:txBody>
          <a:bodyPr/>
          <a:lstStyle/>
          <a:p>
            <a:endParaRPr lang="en-GR"/>
          </a:p>
        </p:txBody>
      </p:sp>
      <p:sp>
        <p:nvSpPr>
          <p:cNvPr id="9" name="Text 7"/>
          <p:cNvSpPr txBox="1"/>
          <p:nvPr/>
        </p:nvSpPr>
        <p:spPr>
          <a:xfrm>
            <a:off x="804672" y="3730752"/>
            <a:ext cx="3063240" cy="685800"/>
          </a:xfrm>
          <a:prstGeom prst="rect">
            <a:avLst/>
          </a:prstGeom>
          <a:noFill/>
          <a:ln/>
        </p:spPr>
        <p:txBody>
          <a:bodyPr wrap="square" lIns="0" tIns="0" rIns="0" bIns="0" rtlCol="0" anchor="ctr"/>
          <a:lstStyle/>
          <a:p>
            <a:pPr marL="0" indent="0">
              <a:buNone/>
            </a:pPr>
            <a:r>
              <a:rPr lang="en-US" sz="1700" b="1" dirty="0">
                <a:solidFill>
                  <a:srgbClr val="F2711C"/>
                </a:solidFill>
                <a:latin typeface="Cambria" pitchFamily="34" charset="0"/>
                <a:ea typeface="Cambria" pitchFamily="34" charset="-122"/>
                <a:cs typeface="Cambria" pitchFamily="34" charset="-120"/>
              </a:rPr>
              <a:t>Flexible curves</a:t>
            </a:r>
            <a:endParaRPr lang="en-US" sz="1700" dirty="0"/>
          </a:p>
        </p:txBody>
      </p:sp>
      <p:sp>
        <p:nvSpPr>
          <p:cNvPr id="10" name="Text 8"/>
          <p:cNvSpPr txBox="1"/>
          <p:nvPr/>
        </p:nvSpPr>
        <p:spPr>
          <a:xfrm>
            <a:off x="804672" y="4370832"/>
            <a:ext cx="3063240" cy="1645920"/>
          </a:xfrm>
          <a:prstGeom prst="rect">
            <a:avLst/>
          </a:prstGeom>
          <a:noFill/>
          <a:ln/>
        </p:spPr>
        <p:txBody>
          <a:bodyPr wrap="square" lIns="0" tIns="0" rIns="0" bIns="0" rtlCol="0" anchor="ctr"/>
          <a:lstStyle/>
          <a:p>
            <a:pPr marL="0" indent="0">
              <a:lnSpc>
                <a:spcPct val="112000"/>
              </a:lnSpc>
              <a:buNone/>
            </a:pPr>
            <a:r>
              <a:rPr lang="en-US" sz="1300" dirty="0">
                <a:solidFill>
                  <a:srgbClr val="1A1D29"/>
                </a:solidFill>
                <a:latin typeface="Calibri" pitchFamily="34" charset="0"/>
                <a:ea typeface="Calibri" pitchFamily="34" charset="-122"/>
                <a:cs typeface="Calibri" pitchFamily="34" charset="-120"/>
              </a:rPr>
              <a:t>Each term is a cubic B-spline — a smooth curve made of local bumps — not a fixed formula. It bends to fit whatever the DFT data shows.</a:t>
            </a:r>
            <a:endParaRPr lang="en-US" sz="1300" dirty="0"/>
          </a:p>
        </p:txBody>
      </p:sp>
      <p:sp>
        <p:nvSpPr>
          <p:cNvPr id="11" name="Shape 9"/>
          <p:cNvSpPr/>
          <p:nvPr/>
        </p:nvSpPr>
        <p:spPr>
          <a:xfrm>
            <a:off x="4325112" y="3520440"/>
            <a:ext cx="3538728" cy="2606040"/>
          </a:xfrm>
          <a:prstGeom prst="roundRect">
            <a:avLst>
              <a:gd name="adj" fmla="val 2807"/>
            </a:avLst>
          </a:prstGeom>
          <a:solidFill>
            <a:srgbClr val="F4F5F7"/>
          </a:solidFill>
          <a:ln w="12700">
            <a:solidFill>
              <a:srgbClr val="E3E5EA"/>
            </a:solidFill>
            <a:prstDash val="solid"/>
          </a:ln>
        </p:spPr>
        <p:txBody>
          <a:bodyPr/>
          <a:lstStyle/>
          <a:p>
            <a:endParaRPr lang="en-GR"/>
          </a:p>
        </p:txBody>
      </p:sp>
      <p:sp>
        <p:nvSpPr>
          <p:cNvPr id="12" name="Text 10"/>
          <p:cNvSpPr txBox="1"/>
          <p:nvPr/>
        </p:nvSpPr>
        <p:spPr>
          <a:xfrm>
            <a:off x="4581144" y="3730752"/>
            <a:ext cx="3063240" cy="685800"/>
          </a:xfrm>
          <a:prstGeom prst="rect">
            <a:avLst/>
          </a:prstGeom>
          <a:noFill/>
          <a:ln/>
        </p:spPr>
        <p:txBody>
          <a:bodyPr wrap="square" lIns="0" tIns="0" rIns="0" bIns="0" rtlCol="0" anchor="ctr"/>
          <a:lstStyle/>
          <a:p>
            <a:pPr marL="0" indent="0">
              <a:buNone/>
            </a:pPr>
            <a:r>
              <a:rPr lang="en-US" sz="1700" b="1" dirty="0">
                <a:solidFill>
                  <a:srgbClr val="2FB6A8"/>
                </a:solidFill>
                <a:latin typeface="Cambria" pitchFamily="34" charset="0"/>
                <a:ea typeface="Cambria" pitchFamily="34" charset="-122"/>
                <a:cs typeface="Cambria" pitchFamily="34" charset="-120"/>
              </a:rPr>
              <a:t>A linear fit</a:t>
            </a:r>
            <a:endParaRPr lang="en-US" sz="1700" dirty="0"/>
          </a:p>
        </p:txBody>
      </p:sp>
      <p:sp>
        <p:nvSpPr>
          <p:cNvPr id="13" name="Text 11"/>
          <p:cNvSpPr txBox="1"/>
          <p:nvPr/>
        </p:nvSpPr>
        <p:spPr>
          <a:xfrm>
            <a:off x="4581144" y="4370832"/>
            <a:ext cx="3063240" cy="1645920"/>
          </a:xfrm>
          <a:prstGeom prst="rect">
            <a:avLst/>
          </a:prstGeom>
          <a:noFill/>
          <a:ln/>
        </p:spPr>
        <p:txBody>
          <a:bodyPr wrap="square" lIns="0" tIns="0" rIns="0" bIns="0" rtlCol="0" anchor="ctr"/>
          <a:lstStyle/>
          <a:p>
            <a:pPr marL="0" indent="0">
              <a:lnSpc>
                <a:spcPct val="112000"/>
              </a:lnSpc>
              <a:buNone/>
            </a:pPr>
            <a:r>
              <a:rPr lang="en-US" sz="1300" dirty="0">
                <a:solidFill>
                  <a:srgbClr val="1A1D29"/>
                </a:solidFill>
                <a:latin typeface="Calibri" pitchFamily="34" charset="0"/>
                <a:ea typeface="Calibri" pitchFamily="34" charset="-122"/>
                <a:cs typeface="Calibri" pitchFamily="34" charset="-120"/>
              </a:rPr>
              <a:t>Energy is linear in the spline coefficients, so training is one regularized least-squares solve — no iterative neural-network training.</a:t>
            </a:r>
            <a:endParaRPr lang="en-US" sz="1300" dirty="0"/>
          </a:p>
        </p:txBody>
      </p:sp>
      <p:sp>
        <p:nvSpPr>
          <p:cNvPr id="14" name="Shape 12"/>
          <p:cNvSpPr/>
          <p:nvPr/>
        </p:nvSpPr>
        <p:spPr>
          <a:xfrm>
            <a:off x="8101584" y="3520440"/>
            <a:ext cx="3538728" cy="2606040"/>
          </a:xfrm>
          <a:prstGeom prst="roundRect">
            <a:avLst>
              <a:gd name="adj" fmla="val 2807"/>
            </a:avLst>
          </a:prstGeom>
          <a:solidFill>
            <a:srgbClr val="F4F5F7"/>
          </a:solidFill>
          <a:ln w="12700">
            <a:solidFill>
              <a:srgbClr val="E3E5EA"/>
            </a:solidFill>
            <a:prstDash val="solid"/>
          </a:ln>
        </p:spPr>
        <p:txBody>
          <a:bodyPr/>
          <a:lstStyle/>
          <a:p>
            <a:endParaRPr lang="en-GR"/>
          </a:p>
        </p:txBody>
      </p:sp>
      <p:sp>
        <p:nvSpPr>
          <p:cNvPr id="15" name="Text 13"/>
          <p:cNvSpPr txBox="1"/>
          <p:nvPr/>
        </p:nvSpPr>
        <p:spPr>
          <a:xfrm>
            <a:off x="8357616" y="3730752"/>
            <a:ext cx="3063240" cy="685800"/>
          </a:xfrm>
          <a:prstGeom prst="rect">
            <a:avLst/>
          </a:prstGeom>
          <a:noFill/>
          <a:ln/>
        </p:spPr>
        <p:txBody>
          <a:bodyPr wrap="square" lIns="0" tIns="0" rIns="0" bIns="0" rtlCol="0" anchor="ctr"/>
          <a:lstStyle/>
          <a:p>
            <a:pPr marL="0" indent="0">
              <a:buNone/>
            </a:pPr>
            <a:r>
              <a:rPr lang="en-US" sz="1700" b="1" dirty="0">
                <a:solidFill>
                  <a:srgbClr val="F5A623"/>
                </a:solidFill>
                <a:latin typeface="Cambria" pitchFamily="34" charset="0"/>
                <a:ea typeface="Cambria" pitchFamily="34" charset="-122"/>
                <a:cs typeface="Cambria" pitchFamily="34" charset="-120"/>
              </a:rPr>
              <a:t>“Ultra-fast”</a:t>
            </a:r>
            <a:endParaRPr lang="en-US" sz="1700" dirty="0"/>
          </a:p>
        </p:txBody>
      </p:sp>
      <p:sp>
        <p:nvSpPr>
          <p:cNvPr id="16" name="Text 14"/>
          <p:cNvSpPr txBox="1"/>
          <p:nvPr/>
        </p:nvSpPr>
        <p:spPr>
          <a:xfrm>
            <a:off x="8357616" y="4370832"/>
            <a:ext cx="3063240" cy="1645920"/>
          </a:xfrm>
          <a:prstGeom prst="rect">
            <a:avLst/>
          </a:prstGeom>
          <a:noFill/>
          <a:ln/>
        </p:spPr>
        <p:txBody>
          <a:bodyPr wrap="square" lIns="0" tIns="0" rIns="0" bIns="0" rtlCol="0" anchor="ctr"/>
          <a:lstStyle/>
          <a:p>
            <a:pPr marL="0" indent="0">
              <a:lnSpc>
                <a:spcPct val="112000"/>
              </a:lnSpc>
              <a:buNone/>
            </a:pPr>
            <a:r>
              <a:rPr lang="en-US" sz="1300" dirty="0">
                <a:solidFill>
                  <a:srgbClr val="1A1D29"/>
                </a:solidFill>
                <a:latin typeface="Calibri" pitchFamily="34" charset="0"/>
                <a:ea typeface="Calibri" pitchFamily="34" charset="-122"/>
                <a:cs typeface="Calibri" pitchFamily="34" charset="-120"/>
              </a:rPr>
              <a:t>That linear form is the whole point: fitting is seconds, and evaluating the potential in MD is far cheaper than a neural network.</a:t>
            </a:r>
            <a:endParaRPr lang="en-US" sz="1300" dirty="0"/>
          </a:p>
        </p:txBody>
      </p:sp>
      <p:sp>
        <p:nvSpPr>
          <p:cNvPr id="18" name="Text 15"/>
          <p:cNvSpPr txBox="1"/>
          <p:nvPr/>
        </p:nvSpPr>
        <p:spPr>
          <a:xfrm>
            <a:off x="457200" y="6419088"/>
            <a:ext cx="8229600" cy="274320"/>
          </a:xfrm>
          <a:prstGeom prst="rect">
            <a:avLst/>
          </a:prstGeom>
          <a:noFill/>
          <a:ln/>
        </p:spPr>
        <p:txBody>
          <a:bodyPr wrap="square" lIns="0" tIns="0" rIns="0" bIns="0" rtlCol="0" anchor="ctr"/>
          <a:lstStyle/>
          <a:p>
            <a:pPr marL="0" indent="0" algn="l">
              <a:buNone/>
            </a:pPr>
            <a:r>
              <a:rPr lang="en-US" sz="900" dirty="0">
                <a:solidFill>
                  <a:srgbClr val="6B7280"/>
                </a:solidFill>
                <a:latin typeface="Calibri" pitchFamily="34" charset="0"/>
                <a:ea typeface="Calibri" pitchFamily="34" charset="-122"/>
                <a:cs typeface="Calibri" pitchFamily="34" charset="-120"/>
              </a:rPr>
              <a:t>Marios Poulis · DIFFER</a:t>
            </a:r>
            <a:endParaRPr lang="en-US" sz="900" dirty="0"/>
          </a:p>
        </p:txBody>
      </p:sp>
      <p:sp>
        <p:nvSpPr>
          <p:cNvPr id="19" name="Text 16"/>
          <p:cNvSpPr txBox="1"/>
          <p:nvPr/>
        </p:nvSpPr>
        <p:spPr>
          <a:xfrm>
            <a:off x="11338560" y="6419088"/>
            <a:ext cx="457200" cy="274320"/>
          </a:xfrm>
          <a:prstGeom prst="rect">
            <a:avLst/>
          </a:prstGeom>
          <a:noFill/>
          <a:ln/>
        </p:spPr>
        <p:txBody>
          <a:bodyPr wrap="square" lIns="0" tIns="0" rIns="0" bIns="0" rtlCol="0" anchor="ctr"/>
          <a:lstStyle/>
          <a:p>
            <a:pPr marL="0" indent="0" algn="r">
              <a:buNone/>
            </a:pPr>
            <a:r>
              <a:rPr lang="en-US" sz="900" dirty="0">
                <a:solidFill>
                  <a:srgbClr val="6B7280"/>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457200" y="384048"/>
            <a:ext cx="10972800" cy="274320"/>
          </a:xfrm>
          <a:prstGeom prst="rect">
            <a:avLst/>
          </a:prstGeom>
          <a:noFill/>
          <a:ln/>
        </p:spPr>
        <p:txBody>
          <a:bodyPr wrap="square" lIns="0" tIns="0" rIns="0" bIns="0" rtlCol="0" anchor="ctr"/>
          <a:lstStyle/>
          <a:p>
            <a:pPr marL="0" indent="0">
              <a:buNone/>
            </a:pPr>
            <a:r>
              <a:rPr lang="en-US" sz="1200" b="1" kern="0" spc="200" dirty="0">
                <a:solidFill>
                  <a:srgbClr val="F2711C"/>
                </a:solidFill>
                <a:latin typeface="Calibri" pitchFamily="34" charset="0"/>
                <a:ea typeface="Calibri" pitchFamily="34" charset="-122"/>
                <a:cs typeface="Calibri" pitchFamily="34" charset="-120"/>
              </a:rPr>
              <a:t>THE BUILDING BLOCK</a:t>
            </a:r>
            <a:endParaRPr lang="en-US" sz="1200" dirty="0"/>
          </a:p>
        </p:txBody>
      </p:sp>
      <p:sp>
        <p:nvSpPr>
          <p:cNvPr id="3" name="Text 1"/>
          <p:cNvSpPr txBox="1"/>
          <p:nvPr/>
        </p:nvSpPr>
        <p:spPr>
          <a:xfrm>
            <a:off x="457200" y="658368"/>
            <a:ext cx="11247120" cy="822960"/>
          </a:xfrm>
          <a:prstGeom prst="rect">
            <a:avLst/>
          </a:prstGeom>
          <a:noFill/>
          <a:ln/>
        </p:spPr>
        <p:txBody>
          <a:bodyPr wrap="square" lIns="0" tIns="0" rIns="0" bIns="0" rtlCol="0" anchor="ctr"/>
          <a:lstStyle/>
          <a:p>
            <a:pPr marL="0" indent="0">
              <a:buNone/>
            </a:pPr>
            <a:r>
              <a:rPr lang="en-US" sz="3200" b="1" dirty="0">
                <a:solidFill>
                  <a:srgbClr val="1A1D29"/>
                </a:solidFill>
                <a:latin typeface="Cambria" pitchFamily="34" charset="0"/>
                <a:ea typeface="Cambria" pitchFamily="34" charset="-122"/>
                <a:cs typeface="Cambria" pitchFamily="34" charset="-120"/>
              </a:rPr>
              <a:t>The 2-body term: a learned pair potential</a:t>
            </a:r>
            <a:endParaRPr lang="en-US" sz="3200" dirty="0"/>
          </a:p>
        </p:txBody>
      </p:sp>
      <p:pic>
        <p:nvPicPr>
          <p:cNvPr id="4" name="Image 0" descr="/tmp/claude-0/-home-claude/fccb0421-ce31-56d7-8f9a-a4b2db061784/scratchpad/uf3_potentials.png"/>
          <p:cNvPicPr>
            <a:picLocks noChangeAspect="1"/>
          </p:cNvPicPr>
          <p:nvPr/>
        </p:nvPicPr>
        <p:blipFill>
          <a:blip r:embed="rId3"/>
          <a:stretch>
            <a:fillRect/>
          </a:stretch>
        </p:blipFill>
        <p:spPr>
          <a:xfrm>
            <a:off x="457200" y="1554480"/>
            <a:ext cx="7040880" cy="2871216"/>
          </a:xfrm>
          <a:prstGeom prst="rect">
            <a:avLst/>
          </a:prstGeom>
        </p:spPr>
      </p:pic>
      <p:sp>
        <p:nvSpPr>
          <p:cNvPr id="5" name="Text 2"/>
          <p:cNvSpPr txBox="1"/>
          <p:nvPr/>
        </p:nvSpPr>
        <p:spPr>
          <a:xfrm>
            <a:off x="457200" y="4526280"/>
            <a:ext cx="7040880" cy="731520"/>
          </a:xfrm>
          <a:prstGeom prst="rect">
            <a:avLst/>
          </a:prstGeom>
          <a:noFill/>
          <a:ln/>
        </p:spPr>
        <p:txBody>
          <a:bodyPr wrap="square" lIns="0" tIns="0" rIns="0" bIns="0" rtlCol="0" anchor="ctr"/>
          <a:lstStyle/>
          <a:p>
            <a:pPr marL="0" indent="0">
              <a:lnSpc>
                <a:spcPct val="110000"/>
              </a:lnSpc>
              <a:buNone/>
            </a:pPr>
            <a:r>
              <a:rPr lang="en-US" sz="1200" i="1" dirty="0">
                <a:solidFill>
                  <a:srgbClr val="6B7280"/>
                </a:solidFill>
                <a:latin typeface="Calibri" pitchFamily="34" charset="0"/>
                <a:ea typeface="Calibri" pitchFamily="34" charset="-122"/>
                <a:cs typeface="Calibri" pitchFamily="34" charset="-120"/>
              </a:rPr>
              <a:t>Left: fixed formulas (Lennard-Jones, Morse) have 2–3 knobs.  Right: UF3's pair term is a spline — ~15 coefficients — so it can take a shape the fixed forms can't.</a:t>
            </a:r>
            <a:endParaRPr lang="en-US" sz="1200" dirty="0"/>
          </a:p>
        </p:txBody>
      </p:sp>
      <p:sp>
        <p:nvSpPr>
          <p:cNvPr id="6" name="Shape 3"/>
          <p:cNvSpPr/>
          <p:nvPr/>
        </p:nvSpPr>
        <p:spPr>
          <a:xfrm>
            <a:off x="7772400" y="1554480"/>
            <a:ext cx="3886200" cy="4434840"/>
          </a:xfrm>
          <a:prstGeom prst="roundRect">
            <a:avLst>
              <a:gd name="adj" fmla="val 1882"/>
            </a:avLst>
          </a:prstGeom>
          <a:solidFill>
            <a:srgbClr val="F4F5F7"/>
          </a:solidFill>
          <a:ln w="12700">
            <a:solidFill>
              <a:srgbClr val="E3E5EA"/>
            </a:solidFill>
            <a:prstDash val="solid"/>
          </a:ln>
        </p:spPr>
        <p:txBody>
          <a:bodyPr/>
          <a:lstStyle/>
          <a:p>
            <a:endParaRPr lang="en-GR"/>
          </a:p>
        </p:txBody>
      </p:sp>
      <p:sp>
        <p:nvSpPr>
          <p:cNvPr id="7" name="Text 4"/>
          <p:cNvSpPr txBox="1"/>
          <p:nvPr/>
        </p:nvSpPr>
        <p:spPr>
          <a:xfrm>
            <a:off x="8046720" y="1783080"/>
            <a:ext cx="3383280" cy="365760"/>
          </a:xfrm>
          <a:prstGeom prst="rect">
            <a:avLst/>
          </a:prstGeom>
          <a:noFill/>
          <a:ln/>
        </p:spPr>
        <p:txBody>
          <a:bodyPr wrap="square" lIns="0" tIns="0" rIns="0" bIns="0" rtlCol="0" anchor="ctr"/>
          <a:lstStyle/>
          <a:p>
            <a:pPr marL="0" indent="0">
              <a:buNone/>
            </a:pPr>
            <a:r>
              <a:rPr lang="en-US" sz="1700" b="1" dirty="0">
                <a:solidFill>
                  <a:srgbClr val="F2711C"/>
                </a:solidFill>
                <a:latin typeface="Cambria" pitchFamily="34" charset="0"/>
                <a:ea typeface="Cambria" pitchFamily="34" charset="-122"/>
                <a:cs typeface="Cambria" pitchFamily="34" charset="-120"/>
              </a:rPr>
              <a:t>Reading the curve V₂(r)</a:t>
            </a:r>
            <a:endParaRPr lang="en-US" sz="1700" dirty="0"/>
          </a:p>
        </p:txBody>
      </p:sp>
      <p:sp>
        <p:nvSpPr>
          <p:cNvPr id="8" name="Text 5"/>
          <p:cNvSpPr txBox="1"/>
          <p:nvPr/>
        </p:nvSpPr>
        <p:spPr>
          <a:xfrm>
            <a:off x="8046720" y="2286000"/>
            <a:ext cx="3383280" cy="2651760"/>
          </a:xfrm>
          <a:prstGeom prst="rect">
            <a:avLst/>
          </a:prstGeom>
          <a:noFill/>
          <a:ln/>
        </p:spPr>
        <p:txBody>
          <a:bodyPr wrap="square" lIns="0" tIns="0" rIns="0" bIns="0" rtlCol="0" anchor="ctr"/>
          <a:lstStyle/>
          <a:p>
            <a:pPr marL="0" indent="0">
              <a:lnSpc>
                <a:spcPct val="115000"/>
              </a:lnSpc>
              <a:spcAft>
                <a:spcPts val="700"/>
              </a:spcAft>
              <a:buNone/>
            </a:pPr>
            <a:r>
              <a:rPr lang="en-US" sz="1350" b="1" dirty="0">
                <a:solidFill>
                  <a:srgbClr val="1A1D29"/>
                </a:solidFill>
                <a:latin typeface="Calibri" pitchFamily="34" charset="0"/>
                <a:ea typeface="Calibri" pitchFamily="34" charset="-122"/>
                <a:cs typeface="Calibri" pitchFamily="34" charset="-120"/>
              </a:rPr>
              <a:t>Repulsive wall  </a:t>
            </a:r>
            <a:r>
              <a:rPr lang="en-US" sz="1350" dirty="0">
                <a:solidFill>
                  <a:srgbClr val="1A1D29"/>
                </a:solidFill>
                <a:latin typeface="Calibri" pitchFamily="34" charset="0"/>
                <a:ea typeface="Calibri" pitchFamily="34" charset="-122"/>
                <a:cs typeface="Calibri" pitchFamily="34" charset="-120"/>
              </a:rPr>
              <a:t>— how close two atoms can get (their size).
</a:t>
            </a:r>
            <a:r>
              <a:rPr lang="en-US" sz="1350" b="1" dirty="0">
                <a:solidFill>
                  <a:srgbClr val="1A1D29"/>
                </a:solidFill>
                <a:latin typeface="Calibri" pitchFamily="34" charset="0"/>
                <a:ea typeface="Calibri" pitchFamily="34" charset="-122"/>
                <a:cs typeface="Calibri" pitchFamily="34" charset="-120"/>
              </a:rPr>
              <a:t>Minimum position  </a:t>
            </a:r>
            <a:r>
              <a:rPr lang="en-US" sz="1350" dirty="0">
                <a:solidFill>
                  <a:srgbClr val="1A1D29"/>
                </a:solidFill>
                <a:latin typeface="Calibri" pitchFamily="34" charset="0"/>
                <a:ea typeface="Calibri" pitchFamily="34" charset="-122"/>
                <a:cs typeface="Calibri" pitchFamily="34" charset="-120"/>
              </a:rPr>
              <a:t>— the preferred bond length.
</a:t>
            </a:r>
            <a:r>
              <a:rPr lang="en-US" sz="1350" b="1" dirty="0">
                <a:solidFill>
                  <a:srgbClr val="1A1D29"/>
                </a:solidFill>
                <a:latin typeface="Calibri" pitchFamily="34" charset="0"/>
                <a:ea typeface="Calibri" pitchFamily="34" charset="-122"/>
                <a:cs typeface="Calibri" pitchFamily="34" charset="-120"/>
              </a:rPr>
              <a:t>Well depth  </a:t>
            </a:r>
            <a:r>
              <a:rPr lang="en-US" sz="1350" dirty="0">
                <a:solidFill>
                  <a:srgbClr val="1A1D29"/>
                </a:solidFill>
                <a:latin typeface="Calibri" pitchFamily="34" charset="0"/>
                <a:ea typeface="Calibri" pitchFamily="34" charset="-122"/>
                <a:cs typeface="Calibri" pitchFamily="34" charset="-120"/>
              </a:rPr>
              <a:t>— how strong the bond is.
</a:t>
            </a:r>
            <a:r>
              <a:rPr lang="en-US" sz="1350" b="1" dirty="0">
                <a:solidFill>
                  <a:srgbClr val="1A1D29"/>
                </a:solidFill>
                <a:latin typeface="Calibri" pitchFamily="34" charset="0"/>
                <a:ea typeface="Calibri" pitchFamily="34" charset="-122"/>
                <a:cs typeface="Calibri" pitchFamily="34" charset="-120"/>
              </a:rPr>
              <a:t>Curvature  </a:t>
            </a:r>
            <a:r>
              <a:rPr lang="en-US" sz="1350" dirty="0">
                <a:solidFill>
                  <a:srgbClr val="1A1D29"/>
                </a:solidFill>
                <a:latin typeface="Calibri" pitchFamily="34" charset="0"/>
                <a:ea typeface="Calibri" pitchFamily="34" charset="-122"/>
                <a:cs typeface="Calibri" pitchFamily="34" charset="-120"/>
              </a:rPr>
              <a:t>— the stiffness of the bond.</a:t>
            </a:r>
            <a:endParaRPr lang="en-US" sz="1350" dirty="0"/>
          </a:p>
        </p:txBody>
      </p:sp>
      <p:sp>
        <p:nvSpPr>
          <p:cNvPr id="9" name="Text 6"/>
          <p:cNvSpPr txBox="1"/>
          <p:nvPr/>
        </p:nvSpPr>
        <p:spPr>
          <a:xfrm>
            <a:off x="8046720" y="5074920"/>
            <a:ext cx="3383280" cy="822960"/>
          </a:xfrm>
          <a:prstGeom prst="rect">
            <a:avLst/>
          </a:prstGeom>
          <a:noFill/>
          <a:ln/>
        </p:spPr>
        <p:txBody>
          <a:bodyPr wrap="square" lIns="0" tIns="0" rIns="0" bIns="0" rtlCol="0" anchor="ctr"/>
          <a:lstStyle/>
          <a:p>
            <a:pPr marL="0" indent="0">
              <a:lnSpc>
                <a:spcPct val="110000"/>
              </a:lnSpc>
              <a:buNone/>
            </a:pPr>
            <a:r>
              <a:rPr lang="en-US" sz="1250" i="1" dirty="0">
                <a:solidFill>
                  <a:srgbClr val="2FB6A8"/>
                </a:solidFill>
                <a:latin typeface="Calibri" pitchFamily="34" charset="0"/>
                <a:ea typeface="Calibri" pitchFamily="34" charset="-122"/>
                <a:cs typeface="Calibri" pitchFamily="34" charset="-120"/>
              </a:rPr>
              <a:t>It depends only on distance — so it captures how far, never at what angle.</a:t>
            </a:r>
            <a:endParaRPr lang="en-US" sz="1250" dirty="0"/>
          </a:p>
        </p:txBody>
      </p:sp>
      <p:sp>
        <p:nvSpPr>
          <p:cNvPr id="11" name="Text 7"/>
          <p:cNvSpPr txBox="1"/>
          <p:nvPr/>
        </p:nvSpPr>
        <p:spPr>
          <a:xfrm>
            <a:off x="457200" y="6419088"/>
            <a:ext cx="8229600" cy="274320"/>
          </a:xfrm>
          <a:prstGeom prst="rect">
            <a:avLst/>
          </a:prstGeom>
          <a:noFill/>
          <a:ln/>
        </p:spPr>
        <p:txBody>
          <a:bodyPr wrap="square" lIns="0" tIns="0" rIns="0" bIns="0" rtlCol="0" anchor="ctr"/>
          <a:lstStyle/>
          <a:p>
            <a:pPr marL="0" indent="0" algn="l">
              <a:buNone/>
            </a:pPr>
            <a:r>
              <a:rPr lang="en-US" sz="900" dirty="0">
                <a:solidFill>
                  <a:srgbClr val="6B7280"/>
                </a:solidFill>
                <a:latin typeface="Calibri" pitchFamily="34" charset="0"/>
                <a:ea typeface="Calibri" pitchFamily="34" charset="-122"/>
                <a:cs typeface="Calibri" pitchFamily="34" charset="-120"/>
              </a:rPr>
              <a:t>Marios Poulis · DIFFER</a:t>
            </a:r>
            <a:endParaRPr lang="en-US" sz="900" dirty="0"/>
          </a:p>
        </p:txBody>
      </p:sp>
      <p:sp>
        <p:nvSpPr>
          <p:cNvPr id="12" name="Text 8"/>
          <p:cNvSpPr txBox="1"/>
          <p:nvPr/>
        </p:nvSpPr>
        <p:spPr>
          <a:xfrm>
            <a:off x="11338560" y="6419088"/>
            <a:ext cx="457200" cy="274320"/>
          </a:xfrm>
          <a:prstGeom prst="rect">
            <a:avLst/>
          </a:prstGeom>
          <a:noFill/>
          <a:ln/>
        </p:spPr>
        <p:txBody>
          <a:bodyPr wrap="square" lIns="0" tIns="0" rIns="0" bIns="0" rtlCol="0" anchor="ctr"/>
          <a:lstStyle/>
          <a:p>
            <a:pPr marL="0" indent="0" algn="r">
              <a:buNone/>
            </a:pPr>
            <a:r>
              <a:rPr lang="en-US" sz="900" dirty="0">
                <a:solidFill>
                  <a:srgbClr val="6B7280"/>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457200" y="384048"/>
            <a:ext cx="10972800" cy="274320"/>
          </a:xfrm>
          <a:prstGeom prst="rect">
            <a:avLst/>
          </a:prstGeom>
          <a:noFill/>
          <a:ln/>
        </p:spPr>
        <p:txBody>
          <a:bodyPr wrap="square" lIns="0" tIns="0" rIns="0" bIns="0" rtlCol="0" anchor="ctr"/>
          <a:lstStyle/>
          <a:p>
            <a:pPr marL="0" indent="0">
              <a:buNone/>
            </a:pPr>
            <a:r>
              <a:rPr lang="en-US" sz="1200" b="1" kern="0" spc="200" dirty="0">
                <a:solidFill>
                  <a:srgbClr val="F2711C"/>
                </a:solidFill>
                <a:latin typeface="Calibri" pitchFamily="34" charset="0"/>
                <a:ea typeface="Calibri" pitchFamily="34" charset="-122"/>
                <a:cs typeface="Calibri" pitchFamily="34" charset="-120"/>
              </a:rPr>
              <a:t>FROM STRUCTURES TO A CALCULATOR</a:t>
            </a:r>
            <a:endParaRPr lang="en-US" sz="1200" dirty="0"/>
          </a:p>
        </p:txBody>
      </p:sp>
      <p:sp>
        <p:nvSpPr>
          <p:cNvPr id="3" name="Text 1"/>
          <p:cNvSpPr txBox="1"/>
          <p:nvPr/>
        </p:nvSpPr>
        <p:spPr>
          <a:xfrm>
            <a:off x="457200" y="658368"/>
            <a:ext cx="11247120" cy="822960"/>
          </a:xfrm>
          <a:prstGeom prst="rect">
            <a:avLst/>
          </a:prstGeom>
          <a:noFill/>
          <a:ln/>
        </p:spPr>
        <p:txBody>
          <a:bodyPr wrap="square" lIns="0" tIns="0" rIns="0" bIns="0" rtlCol="0" anchor="ctr"/>
          <a:lstStyle/>
          <a:p>
            <a:pPr marL="0" indent="0">
              <a:buNone/>
            </a:pPr>
            <a:r>
              <a:rPr lang="en-US" sz="3200" b="1" dirty="0">
                <a:solidFill>
                  <a:srgbClr val="1A1D29"/>
                </a:solidFill>
                <a:latin typeface="Cambria" pitchFamily="34" charset="0"/>
                <a:ea typeface="Cambria" pitchFamily="34" charset="-122"/>
                <a:cs typeface="Cambria" pitchFamily="34" charset="-120"/>
              </a:rPr>
              <a:t>The pipeline I built</a:t>
            </a:r>
            <a:endParaRPr lang="en-US" sz="3200" dirty="0"/>
          </a:p>
        </p:txBody>
      </p:sp>
      <p:sp>
        <p:nvSpPr>
          <p:cNvPr id="4" name="Shape 2"/>
          <p:cNvSpPr/>
          <p:nvPr/>
        </p:nvSpPr>
        <p:spPr>
          <a:xfrm>
            <a:off x="548640" y="1737360"/>
            <a:ext cx="530352" cy="530352"/>
          </a:xfrm>
          <a:prstGeom prst="ellipse">
            <a:avLst/>
          </a:prstGeom>
          <a:solidFill>
            <a:srgbClr val="F2711C"/>
          </a:solidFill>
          <a:ln/>
        </p:spPr>
        <p:txBody>
          <a:bodyPr/>
          <a:lstStyle/>
          <a:p>
            <a:endParaRPr lang="en-GR"/>
          </a:p>
        </p:txBody>
      </p:sp>
      <p:sp>
        <p:nvSpPr>
          <p:cNvPr id="5" name="Text 3"/>
          <p:cNvSpPr txBox="1"/>
          <p:nvPr/>
        </p:nvSpPr>
        <p:spPr>
          <a:xfrm>
            <a:off x="548640" y="1737360"/>
            <a:ext cx="530352" cy="530352"/>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1</a:t>
            </a:r>
            <a:endParaRPr lang="en-US" sz="1500" dirty="0"/>
          </a:p>
        </p:txBody>
      </p:sp>
      <p:sp>
        <p:nvSpPr>
          <p:cNvPr id="6" name="Text 4"/>
          <p:cNvSpPr txBox="1"/>
          <p:nvPr/>
        </p:nvSpPr>
        <p:spPr>
          <a:xfrm>
            <a:off x="1234440" y="1682496"/>
            <a:ext cx="4663440" cy="320040"/>
          </a:xfrm>
          <a:prstGeom prst="rect">
            <a:avLst/>
          </a:prstGeom>
          <a:noFill/>
          <a:ln/>
        </p:spPr>
        <p:txBody>
          <a:bodyPr wrap="square" lIns="0" tIns="0" rIns="0" bIns="0" rtlCol="0" anchor="ctr"/>
          <a:lstStyle/>
          <a:p>
            <a:pPr marL="0" indent="0">
              <a:buNone/>
            </a:pPr>
            <a:r>
              <a:rPr lang="en-US" sz="1550" b="1" dirty="0">
                <a:solidFill>
                  <a:srgbClr val="1A1D29"/>
                </a:solidFill>
                <a:latin typeface="Calibri" pitchFamily="34" charset="0"/>
                <a:ea typeface="Calibri" pitchFamily="34" charset="-122"/>
                <a:cs typeface="Calibri" pitchFamily="34" charset="-120"/>
              </a:rPr>
              <a:t>Define the system</a:t>
            </a:r>
            <a:endParaRPr lang="en-US" sz="1550" dirty="0"/>
          </a:p>
        </p:txBody>
      </p:sp>
      <p:sp>
        <p:nvSpPr>
          <p:cNvPr id="7" name="Text 5"/>
          <p:cNvSpPr txBox="1"/>
          <p:nvPr/>
        </p:nvSpPr>
        <p:spPr>
          <a:xfrm>
            <a:off x="1234440" y="2002536"/>
            <a:ext cx="4846320" cy="457200"/>
          </a:xfrm>
          <a:prstGeom prst="rect">
            <a:avLst/>
          </a:prstGeom>
          <a:noFill/>
          <a:ln/>
        </p:spPr>
        <p:txBody>
          <a:bodyPr wrap="square" lIns="0" tIns="0" rIns="0" bIns="0" rtlCol="0" anchor="ctr"/>
          <a:lstStyle/>
          <a:p>
            <a:pPr marL="0" indent="0">
              <a:buNone/>
            </a:pPr>
            <a:r>
              <a:rPr lang="en-US" sz="1200" dirty="0">
                <a:solidFill>
                  <a:srgbClr val="6B7280"/>
                </a:solidFill>
                <a:latin typeface="Calibri" pitchFamily="34" charset="0"/>
                <a:ea typeface="Calibri" pitchFamily="34" charset="-122"/>
                <a:cs typeface="Calibri" pitchFamily="34" charset="-120"/>
              </a:rPr>
              <a:t>List the 12 elements; ask for the 2-body pairs</a:t>
            </a:r>
            <a:endParaRPr lang="en-US" sz="1200" dirty="0"/>
          </a:p>
        </p:txBody>
      </p:sp>
      <p:sp>
        <p:nvSpPr>
          <p:cNvPr id="8" name="Shape 6"/>
          <p:cNvSpPr/>
          <p:nvPr/>
        </p:nvSpPr>
        <p:spPr>
          <a:xfrm>
            <a:off x="548640" y="2606040"/>
            <a:ext cx="530352" cy="530352"/>
          </a:xfrm>
          <a:prstGeom prst="ellipse">
            <a:avLst/>
          </a:prstGeom>
          <a:solidFill>
            <a:srgbClr val="F2711C"/>
          </a:solidFill>
          <a:ln/>
        </p:spPr>
        <p:txBody>
          <a:bodyPr/>
          <a:lstStyle/>
          <a:p>
            <a:endParaRPr lang="en-GR"/>
          </a:p>
        </p:txBody>
      </p:sp>
      <p:sp>
        <p:nvSpPr>
          <p:cNvPr id="9" name="Text 7"/>
          <p:cNvSpPr txBox="1"/>
          <p:nvPr/>
        </p:nvSpPr>
        <p:spPr>
          <a:xfrm>
            <a:off x="548640" y="2606040"/>
            <a:ext cx="530352" cy="530352"/>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2</a:t>
            </a:r>
            <a:endParaRPr lang="en-US" sz="1500" dirty="0"/>
          </a:p>
        </p:txBody>
      </p:sp>
      <p:sp>
        <p:nvSpPr>
          <p:cNvPr id="10" name="Text 8"/>
          <p:cNvSpPr txBox="1"/>
          <p:nvPr/>
        </p:nvSpPr>
        <p:spPr>
          <a:xfrm>
            <a:off x="1234440" y="2551176"/>
            <a:ext cx="4663440" cy="320040"/>
          </a:xfrm>
          <a:prstGeom prst="rect">
            <a:avLst/>
          </a:prstGeom>
          <a:noFill/>
          <a:ln/>
        </p:spPr>
        <p:txBody>
          <a:bodyPr wrap="square" lIns="0" tIns="0" rIns="0" bIns="0" rtlCol="0" anchor="ctr"/>
          <a:lstStyle/>
          <a:p>
            <a:pPr marL="0" indent="0">
              <a:buNone/>
            </a:pPr>
            <a:r>
              <a:rPr lang="en-US" sz="1550" b="1" dirty="0">
                <a:solidFill>
                  <a:srgbClr val="1A1D29"/>
                </a:solidFill>
                <a:latin typeface="Calibri" pitchFamily="34" charset="0"/>
                <a:ea typeface="Calibri" pitchFamily="34" charset="-122"/>
                <a:cs typeface="Calibri" pitchFamily="34" charset="-120"/>
              </a:rPr>
              <a:t>Build the basis</a:t>
            </a:r>
            <a:endParaRPr lang="en-US" sz="1550" dirty="0"/>
          </a:p>
        </p:txBody>
      </p:sp>
      <p:sp>
        <p:nvSpPr>
          <p:cNvPr id="11" name="Text 9"/>
          <p:cNvSpPr txBox="1"/>
          <p:nvPr/>
        </p:nvSpPr>
        <p:spPr>
          <a:xfrm>
            <a:off x="1234440" y="2871216"/>
            <a:ext cx="4846320" cy="457200"/>
          </a:xfrm>
          <a:prstGeom prst="rect">
            <a:avLst/>
          </a:prstGeom>
          <a:noFill/>
          <a:ln/>
        </p:spPr>
        <p:txBody>
          <a:bodyPr wrap="square" lIns="0" tIns="0" rIns="0" bIns="0" rtlCol="0" anchor="ctr"/>
          <a:lstStyle/>
          <a:p>
            <a:pPr marL="0" indent="0">
              <a:buNone/>
            </a:pPr>
            <a:r>
              <a:rPr lang="en-US" sz="1200" dirty="0">
                <a:solidFill>
                  <a:srgbClr val="6B7280"/>
                </a:solidFill>
                <a:latin typeface="Calibri" pitchFamily="34" charset="0"/>
                <a:ea typeface="Calibri" pitchFamily="34" charset="-122"/>
                <a:cs typeface="Calibri" pitchFamily="34" charset="-120"/>
              </a:rPr>
              <a:t>A B-spline per pair over r = 1.0–6.0 Å  → 1,416 coefficients</a:t>
            </a:r>
            <a:endParaRPr lang="en-US" sz="1200" dirty="0"/>
          </a:p>
        </p:txBody>
      </p:sp>
      <p:sp>
        <p:nvSpPr>
          <p:cNvPr id="12" name="Shape 10"/>
          <p:cNvSpPr/>
          <p:nvPr/>
        </p:nvSpPr>
        <p:spPr>
          <a:xfrm>
            <a:off x="548640" y="3474720"/>
            <a:ext cx="530352" cy="530352"/>
          </a:xfrm>
          <a:prstGeom prst="ellipse">
            <a:avLst/>
          </a:prstGeom>
          <a:solidFill>
            <a:srgbClr val="F2711C"/>
          </a:solidFill>
          <a:ln/>
        </p:spPr>
        <p:txBody>
          <a:bodyPr/>
          <a:lstStyle/>
          <a:p>
            <a:endParaRPr lang="en-GR"/>
          </a:p>
        </p:txBody>
      </p:sp>
      <p:sp>
        <p:nvSpPr>
          <p:cNvPr id="13" name="Text 11"/>
          <p:cNvSpPr txBox="1"/>
          <p:nvPr/>
        </p:nvSpPr>
        <p:spPr>
          <a:xfrm>
            <a:off x="548640" y="3474720"/>
            <a:ext cx="530352" cy="530352"/>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3</a:t>
            </a:r>
            <a:endParaRPr lang="en-US" sz="1500" dirty="0"/>
          </a:p>
        </p:txBody>
      </p:sp>
      <p:sp>
        <p:nvSpPr>
          <p:cNvPr id="14" name="Text 12"/>
          <p:cNvSpPr txBox="1"/>
          <p:nvPr/>
        </p:nvSpPr>
        <p:spPr>
          <a:xfrm>
            <a:off x="1234440" y="3419856"/>
            <a:ext cx="4663440" cy="320040"/>
          </a:xfrm>
          <a:prstGeom prst="rect">
            <a:avLst/>
          </a:prstGeom>
          <a:noFill/>
          <a:ln/>
        </p:spPr>
        <p:txBody>
          <a:bodyPr wrap="square" lIns="0" tIns="0" rIns="0" bIns="0" rtlCol="0" anchor="ctr"/>
          <a:lstStyle/>
          <a:p>
            <a:pPr marL="0" indent="0">
              <a:buNone/>
            </a:pPr>
            <a:r>
              <a:rPr lang="en-US" sz="1550" b="1" dirty="0">
                <a:solidFill>
                  <a:srgbClr val="1A1D29"/>
                </a:solidFill>
                <a:latin typeface="Calibri" pitchFamily="34" charset="0"/>
                <a:ea typeface="Calibri" pitchFamily="34" charset="-122"/>
                <a:cs typeface="Calibri" pitchFamily="34" charset="-120"/>
              </a:rPr>
              <a:t>Featurize</a:t>
            </a:r>
            <a:endParaRPr lang="en-US" sz="1550" dirty="0"/>
          </a:p>
        </p:txBody>
      </p:sp>
      <p:sp>
        <p:nvSpPr>
          <p:cNvPr id="15" name="Text 13"/>
          <p:cNvSpPr txBox="1"/>
          <p:nvPr/>
        </p:nvSpPr>
        <p:spPr>
          <a:xfrm>
            <a:off x="1234440" y="3739896"/>
            <a:ext cx="4846320" cy="457200"/>
          </a:xfrm>
          <a:prstGeom prst="rect">
            <a:avLst/>
          </a:prstGeom>
          <a:noFill/>
          <a:ln/>
        </p:spPr>
        <p:txBody>
          <a:bodyPr wrap="square" lIns="0" tIns="0" rIns="0" bIns="0" rtlCol="0" anchor="ctr"/>
          <a:lstStyle/>
          <a:p>
            <a:pPr marL="0" indent="0">
              <a:buNone/>
            </a:pPr>
            <a:r>
              <a:rPr lang="en-US" sz="1200" dirty="0">
                <a:solidFill>
                  <a:srgbClr val="6B7280"/>
                </a:solidFill>
                <a:latin typeface="Calibri" pitchFamily="34" charset="0"/>
                <a:ea typeface="Calibri" pitchFamily="34" charset="-122"/>
                <a:cs typeface="Calibri" pitchFamily="34" charset="-120"/>
              </a:rPr>
              <a:t>Turn every structure + force into rows of spline values</a:t>
            </a:r>
            <a:endParaRPr lang="en-US" sz="1200" dirty="0"/>
          </a:p>
        </p:txBody>
      </p:sp>
      <p:sp>
        <p:nvSpPr>
          <p:cNvPr id="16" name="Shape 14"/>
          <p:cNvSpPr/>
          <p:nvPr/>
        </p:nvSpPr>
        <p:spPr>
          <a:xfrm>
            <a:off x="548640" y="4343400"/>
            <a:ext cx="530352" cy="530352"/>
          </a:xfrm>
          <a:prstGeom prst="ellipse">
            <a:avLst/>
          </a:prstGeom>
          <a:solidFill>
            <a:srgbClr val="F2711C"/>
          </a:solidFill>
          <a:ln/>
        </p:spPr>
        <p:txBody>
          <a:bodyPr/>
          <a:lstStyle/>
          <a:p>
            <a:endParaRPr lang="en-GR"/>
          </a:p>
        </p:txBody>
      </p:sp>
      <p:sp>
        <p:nvSpPr>
          <p:cNvPr id="17" name="Text 15"/>
          <p:cNvSpPr txBox="1"/>
          <p:nvPr/>
        </p:nvSpPr>
        <p:spPr>
          <a:xfrm>
            <a:off x="548640" y="4343400"/>
            <a:ext cx="530352" cy="530352"/>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4</a:t>
            </a:r>
            <a:endParaRPr lang="en-US" sz="1500" dirty="0"/>
          </a:p>
        </p:txBody>
      </p:sp>
      <p:sp>
        <p:nvSpPr>
          <p:cNvPr id="18" name="Text 16"/>
          <p:cNvSpPr txBox="1"/>
          <p:nvPr/>
        </p:nvSpPr>
        <p:spPr>
          <a:xfrm>
            <a:off x="1234440" y="4288536"/>
            <a:ext cx="4663440" cy="320040"/>
          </a:xfrm>
          <a:prstGeom prst="rect">
            <a:avLst/>
          </a:prstGeom>
          <a:noFill/>
          <a:ln/>
        </p:spPr>
        <p:txBody>
          <a:bodyPr wrap="square" lIns="0" tIns="0" rIns="0" bIns="0" rtlCol="0" anchor="ctr"/>
          <a:lstStyle/>
          <a:p>
            <a:pPr marL="0" indent="0">
              <a:buNone/>
            </a:pPr>
            <a:r>
              <a:rPr lang="en-US" sz="1550" b="1" dirty="0">
                <a:solidFill>
                  <a:srgbClr val="1A1D29"/>
                </a:solidFill>
                <a:latin typeface="Calibri" pitchFamily="34" charset="0"/>
                <a:ea typeface="Calibri" pitchFamily="34" charset="-122"/>
                <a:cs typeface="Calibri" pitchFamily="34" charset="-120"/>
              </a:rPr>
              <a:t>Fit</a:t>
            </a:r>
            <a:endParaRPr lang="en-US" sz="1550" dirty="0"/>
          </a:p>
        </p:txBody>
      </p:sp>
      <p:sp>
        <p:nvSpPr>
          <p:cNvPr id="19" name="Text 17"/>
          <p:cNvSpPr txBox="1"/>
          <p:nvPr/>
        </p:nvSpPr>
        <p:spPr>
          <a:xfrm>
            <a:off x="1234440" y="4608576"/>
            <a:ext cx="4846320" cy="457200"/>
          </a:xfrm>
          <a:prstGeom prst="rect">
            <a:avLst/>
          </a:prstGeom>
          <a:noFill/>
          <a:ln/>
        </p:spPr>
        <p:txBody>
          <a:bodyPr wrap="square" lIns="0" tIns="0" rIns="0" bIns="0" rtlCol="0" anchor="ctr"/>
          <a:lstStyle/>
          <a:p>
            <a:pPr marL="0" indent="0">
              <a:buNone/>
            </a:pPr>
            <a:r>
              <a:rPr lang="en-US" sz="1200" dirty="0">
                <a:solidFill>
                  <a:srgbClr val="6B7280"/>
                </a:solidFill>
                <a:latin typeface="Calibri" pitchFamily="34" charset="0"/>
                <a:ea typeface="Calibri" pitchFamily="34" charset="-122"/>
                <a:cs typeface="Calibri" pitchFamily="34" charset="-120"/>
              </a:rPr>
              <a:t>One regularized least-squares solve for all coefficients</a:t>
            </a:r>
            <a:endParaRPr lang="en-US" sz="1200" dirty="0"/>
          </a:p>
        </p:txBody>
      </p:sp>
      <p:sp>
        <p:nvSpPr>
          <p:cNvPr id="20" name="Shape 18"/>
          <p:cNvSpPr/>
          <p:nvPr/>
        </p:nvSpPr>
        <p:spPr>
          <a:xfrm>
            <a:off x="548640" y="5212080"/>
            <a:ext cx="530352" cy="530352"/>
          </a:xfrm>
          <a:prstGeom prst="ellipse">
            <a:avLst/>
          </a:prstGeom>
          <a:solidFill>
            <a:srgbClr val="F2711C"/>
          </a:solidFill>
          <a:ln/>
        </p:spPr>
        <p:txBody>
          <a:bodyPr/>
          <a:lstStyle/>
          <a:p>
            <a:endParaRPr lang="en-GR"/>
          </a:p>
        </p:txBody>
      </p:sp>
      <p:sp>
        <p:nvSpPr>
          <p:cNvPr id="21" name="Text 19"/>
          <p:cNvSpPr txBox="1"/>
          <p:nvPr/>
        </p:nvSpPr>
        <p:spPr>
          <a:xfrm>
            <a:off x="548640" y="5212080"/>
            <a:ext cx="530352" cy="530352"/>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5</a:t>
            </a:r>
            <a:endParaRPr lang="en-US" sz="1500" dirty="0"/>
          </a:p>
        </p:txBody>
      </p:sp>
      <p:sp>
        <p:nvSpPr>
          <p:cNvPr id="22" name="Text 20"/>
          <p:cNvSpPr txBox="1"/>
          <p:nvPr/>
        </p:nvSpPr>
        <p:spPr>
          <a:xfrm>
            <a:off x="1234440" y="5157216"/>
            <a:ext cx="4663440" cy="320040"/>
          </a:xfrm>
          <a:prstGeom prst="rect">
            <a:avLst/>
          </a:prstGeom>
          <a:noFill/>
          <a:ln/>
        </p:spPr>
        <p:txBody>
          <a:bodyPr wrap="square" lIns="0" tIns="0" rIns="0" bIns="0" rtlCol="0" anchor="ctr"/>
          <a:lstStyle/>
          <a:p>
            <a:pPr marL="0" indent="0">
              <a:buNone/>
            </a:pPr>
            <a:r>
              <a:rPr lang="en-US" sz="1550" b="1" dirty="0">
                <a:solidFill>
                  <a:srgbClr val="1A1D29"/>
                </a:solidFill>
                <a:latin typeface="Calibri" pitchFamily="34" charset="0"/>
                <a:ea typeface="Calibri" pitchFamily="34" charset="-122"/>
                <a:cs typeface="Calibri" pitchFamily="34" charset="-120"/>
              </a:rPr>
              <a:t>Wrap as a calculator</a:t>
            </a:r>
            <a:endParaRPr lang="en-US" sz="1550" dirty="0"/>
          </a:p>
        </p:txBody>
      </p:sp>
      <p:sp>
        <p:nvSpPr>
          <p:cNvPr id="23" name="Text 21"/>
          <p:cNvSpPr txBox="1"/>
          <p:nvPr/>
        </p:nvSpPr>
        <p:spPr>
          <a:xfrm>
            <a:off x="1234440" y="5477256"/>
            <a:ext cx="4846320" cy="457200"/>
          </a:xfrm>
          <a:prstGeom prst="rect">
            <a:avLst/>
          </a:prstGeom>
          <a:noFill/>
          <a:ln/>
        </p:spPr>
        <p:txBody>
          <a:bodyPr wrap="square" lIns="0" tIns="0" rIns="0" bIns="0" rtlCol="0" anchor="ctr"/>
          <a:lstStyle/>
          <a:p>
            <a:pPr marL="0" indent="0">
              <a:buNone/>
            </a:pPr>
            <a:r>
              <a:rPr lang="en-US" sz="1200" dirty="0">
                <a:solidFill>
                  <a:srgbClr val="6B7280"/>
                </a:solidFill>
                <a:latin typeface="Calibri" pitchFamily="34" charset="0"/>
                <a:ea typeface="Calibri" pitchFamily="34" charset="-122"/>
                <a:cs typeface="Calibri" pitchFamily="34" charset="-120"/>
              </a:rPr>
              <a:t>A UF3 ASE calculator — drop-in, like the MACE one</a:t>
            </a:r>
            <a:endParaRPr lang="en-US" sz="1200" dirty="0"/>
          </a:p>
        </p:txBody>
      </p:sp>
      <p:sp>
        <p:nvSpPr>
          <p:cNvPr id="24" name="Shape 22"/>
          <p:cNvSpPr/>
          <p:nvPr/>
        </p:nvSpPr>
        <p:spPr>
          <a:xfrm>
            <a:off x="6355080" y="1737360"/>
            <a:ext cx="5303520" cy="3200400"/>
          </a:xfrm>
          <a:prstGeom prst="roundRect">
            <a:avLst>
              <a:gd name="adj" fmla="val 1714"/>
            </a:avLst>
          </a:prstGeom>
          <a:solidFill>
            <a:srgbClr val="12141C"/>
          </a:solidFill>
          <a:ln/>
        </p:spPr>
        <p:txBody>
          <a:bodyPr/>
          <a:lstStyle/>
          <a:p>
            <a:endParaRPr lang="en-GR"/>
          </a:p>
        </p:txBody>
      </p:sp>
      <p:sp>
        <p:nvSpPr>
          <p:cNvPr id="25" name="Text 23"/>
          <p:cNvSpPr txBox="1"/>
          <p:nvPr/>
        </p:nvSpPr>
        <p:spPr>
          <a:xfrm>
            <a:off x="6629400" y="1901952"/>
            <a:ext cx="4800600" cy="274320"/>
          </a:xfrm>
          <a:prstGeom prst="rect">
            <a:avLst/>
          </a:prstGeom>
          <a:noFill/>
          <a:ln/>
        </p:spPr>
        <p:txBody>
          <a:bodyPr wrap="square" lIns="0" tIns="0" rIns="0" bIns="0" rtlCol="0" anchor="ctr"/>
          <a:lstStyle/>
          <a:p>
            <a:pPr marL="0" indent="0">
              <a:buNone/>
            </a:pPr>
            <a:r>
              <a:rPr lang="en-US" sz="1100" i="1" dirty="0">
                <a:solidFill>
                  <a:srgbClr val="9AA0AC"/>
                </a:solidFill>
                <a:latin typeface="Calibri" pitchFamily="34" charset="0"/>
                <a:ea typeface="Calibri" pitchFamily="34" charset="-122"/>
                <a:cs typeface="Calibri" pitchFamily="34" charset="-120"/>
              </a:rPr>
              <a:t>the fit — one solve, not a training loop</a:t>
            </a:r>
            <a:endParaRPr lang="en-US" sz="1100" dirty="0"/>
          </a:p>
        </p:txBody>
      </p:sp>
      <p:sp>
        <p:nvSpPr>
          <p:cNvPr id="26" name="Text 24"/>
          <p:cNvSpPr txBox="1"/>
          <p:nvPr/>
        </p:nvSpPr>
        <p:spPr>
          <a:xfrm>
            <a:off x="6629400" y="2286000"/>
            <a:ext cx="4846320" cy="2468880"/>
          </a:xfrm>
          <a:prstGeom prst="rect">
            <a:avLst/>
          </a:prstGeom>
          <a:noFill/>
          <a:ln/>
        </p:spPr>
        <p:txBody>
          <a:bodyPr wrap="square" lIns="0" tIns="0" rIns="0" bIns="0" rtlCol="0" anchor="t"/>
          <a:lstStyle/>
          <a:p>
            <a:pPr marL="0" indent="0">
              <a:lnSpc>
                <a:spcPct val="140000"/>
              </a:lnSpc>
              <a:buNone/>
            </a:pPr>
            <a:r>
              <a:rPr lang="en-US" sz="1200" dirty="0">
                <a:solidFill>
                  <a:srgbClr val="8FE3D8"/>
                </a:solidFill>
                <a:latin typeface="Courier New" pitchFamily="34" charset="0"/>
                <a:ea typeface="Courier New" pitchFamily="34" charset="-122"/>
                <a:cs typeface="Courier New" pitchFamily="34" charset="-120"/>
              </a:rPr>
              <a:t>cs = ChemicalSystem(elements, degree=2)
</a:t>
            </a:r>
            <a:r>
              <a:rPr lang="en-US" sz="1200" dirty="0">
                <a:solidFill>
                  <a:srgbClr val="FFFFFF"/>
                </a:solidFill>
                <a:latin typeface="Courier New" pitchFamily="34" charset="0"/>
                <a:ea typeface="Courier New" pitchFamily="34" charset="-122"/>
                <a:cs typeface="Courier New" pitchFamily="34" charset="-120"/>
              </a:rPr>
              <a:t>basis = BSplineBasis(cs, r_min, r_max, res)
X = featurize(frames)
model = WeightedLinearModel(basis, reg)
</a:t>
            </a:r>
            <a:r>
              <a:rPr lang="en-US" sz="1200" dirty="0">
                <a:solidFill>
                  <a:srgbClr val="FFC98A"/>
                </a:solidFill>
                <a:latin typeface="Courier New" pitchFamily="34" charset="0"/>
                <a:ea typeface="Courier New" pitchFamily="34" charset="-122"/>
                <a:cs typeface="Courier New" pitchFamily="34" charset="-120"/>
              </a:rPr>
              <a:t>model.fit(x_e, y_e, x_f, y_f, weight=0.3)
calc = UFCalculator(model)</a:t>
            </a:r>
            <a:endParaRPr lang="en-US" sz="1200" dirty="0"/>
          </a:p>
        </p:txBody>
      </p:sp>
      <p:sp>
        <p:nvSpPr>
          <p:cNvPr id="27" name="Text 25"/>
          <p:cNvSpPr txBox="1"/>
          <p:nvPr/>
        </p:nvSpPr>
        <p:spPr>
          <a:xfrm>
            <a:off x="6355080" y="5074920"/>
            <a:ext cx="5303520" cy="822960"/>
          </a:xfrm>
          <a:prstGeom prst="rect">
            <a:avLst/>
          </a:prstGeom>
          <a:noFill/>
          <a:ln/>
        </p:spPr>
        <p:txBody>
          <a:bodyPr wrap="square" lIns="0" tIns="0" rIns="0" bIns="0" rtlCol="0" anchor="ctr"/>
          <a:lstStyle/>
          <a:p>
            <a:pPr marL="0" indent="0">
              <a:lnSpc>
                <a:spcPct val="110000"/>
              </a:lnSpc>
              <a:buNone/>
            </a:pPr>
            <a:r>
              <a:rPr lang="en-US" sz="1250" dirty="0">
                <a:solidFill>
                  <a:srgbClr val="6B7280"/>
                </a:solidFill>
                <a:latin typeface="Calibri" pitchFamily="34" charset="0"/>
                <a:ea typeface="Calibri" pitchFamily="34" charset="-122"/>
                <a:cs typeface="Calibri" pitchFamily="34" charset="-120"/>
              </a:rPr>
              <a:t>Same ASE-calculator interface as MACE — so the exact evaluation loop from the reproduction scores UF3 with no changes.</a:t>
            </a:r>
            <a:endParaRPr lang="en-US" sz="1250" dirty="0"/>
          </a:p>
        </p:txBody>
      </p:sp>
      <p:sp>
        <p:nvSpPr>
          <p:cNvPr id="29" name="Text 26"/>
          <p:cNvSpPr txBox="1"/>
          <p:nvPr/>
        </p:nvSpPr>
        <p:spPr>
          <a:xfrm>
            <a:off x="457200" y="6419088"/>
            <a:ext cx="8229600" cy="274320"/>
          </a:xfrm>
          <a:prstGeom prst="rect">
            <a:avLst/>
          </a:prstGeom>
          <a:noFill/>
          <a:ln/>
        </p:spPr>
        <p:txBody>
          <a:bodyPr wrap="square" lIns="0" tIns="0" rIns="0" bIns="0" rtlCol="0" anchor="ctr"/>
          <a:lstStyle/>
          <a:p>
            <a:pPr marL="0" indent="0" algn="l">
              <a:buNone/>
            </a:pPr>
            <a:r>
              <a:rPr lang="en-US" sz="900" dirty="0">
                <a:solidFill>
                  <a:srgbClr val="6B7280"/>
                </a:solidFill>
                <a:latin typeface="Calibri" pitchFamily="34" charset="0"/>
                <a:ea typeface="Calibri" pitchFamily="34" charset="-122"/>
                <a:cs typeface="Calibri" pitchFamily="34" charset="-120"/>
              </a:rPr>
              <a:t>Marios Poulis · DIFFER</a:t>
            </a:r>
            <a:endParaRPr lang="en-US" sz="900" dirty="0"/>
          </a:p>
        </p:txBody>
      </p:sp>
      <p:sp>
        <p:nvSpPr>
          <p:cNvPr id="30" name="Text 27"/>
          <p:cNvSpPr txBox="1"/>
          <p:nvPr/>
        </p:nvSpPr>
        <p:spPr>
          <a:xfrm>
            <a:off x="11338560" y="6419088"/>
            <a:ext cx="457200" cy="274320"/>
          </a:xfrm>
          <a:prstGeom prst="rect">
            <a:avLst/>
          </a:prstGeom>
          <a:noFill/>
          <a:ln/>
        </p:spPr>
        <p:txBody>
          <a:bodyPr wrap="square" lIns="0" tIns="0" rIns="0" bIns="0" rtlCol="0" anchor="ctr"/>
          <a:lstStyle/>
          <a:p>
            <a:pPr marL="0" indent="0" algn="r">
              <a:buNone/>
            </a:pPr>
            <a:r>
              <a:rPr lang="en-US" sz="900" dirty="0">
                <a:solidFill>
                  <a:srgbClr val="6B7280"/>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457200" y="384048"/>
            <a:ext cx="10972800" cy="274320"/>
          </a:xfrm>
          <a:prstGeom prst="rect">
            <a:avLst/>
          </a:prstGeom>
          <a:noFill/>
          <a:ln/>
        </p:spPr>
        <p:txBody>
          <a:bodyPr wrap="square" lIns="0" tIns="0" rIns="0" bIns="0" rtlCol="0" anchor="ctr"/>
          <a:lstStyle/>
          <a:p>
            <a:pPr marL="0" indent="0">
              <a:buNone/>
            </a:pPr>
            <a:r>
              <a:rPr lang="en-US" sz="1200" b="1" kern="0" spc="200" dirty="0">
                <a:solidFill>
                  <a:srgbClr val="F2711C"/>
                </a:solidFill>
                <a:latin typeface="Calibri" pitchFamily="34" charset="0"/>
                <a:ea typeface="Calibri" pitchFamily="34" charset="-122"/>
                <a:cs typeface="Calibri" pitchFamily="34" charset="-120"/>
              </a:rPr>
              <a:t>RESULTS</a:t>
            </a:r>
            <a:endParaRPr lang="en-US" sz="1200" dirty="0"/>
          </a:p>
        </p:txBody>
      </p:sp>
      <p:sp>
        <p:nvSpPr>
          <p:cNvPr id="3" name="Text 1"/>
          <p:cNvSpPr txBox="1"/>
          <p:nvPr/>
        </p:nvSpPr>
        <p:spPr>
          <a:xfrm>
            <a:off x="457200" y="658368"/>
            <a:ext cx="11247120" cy="822960"/>
          </a:xfrm>
          <a:prstGeom prst="rect">
            <a:avLst/>
          </a:prstGeom>
          <a:noFill/>
          <a:ln/>
        </p:spPr>
        <p:txBody>
          <a:bodyPr wrap="square" lIns="0" tIns="0" rIns="0" bIns="0" rtlCol="0" anchor="ctr"/>
          <a:lstStyle/>
          <a:p>
            <a:pPr marL="0" indent="0">
              <a:buNone/>
            </a:pPr>
            <a:r>
              <a:rPr lang="en-US" sz="3200" b="1" dirty="0">
                <a:solidFill>
                  <a:srgbClr val="1A1D29"/>
                </a:solidFill>
                <a:latin typeface="Cambria" pitchFamily="34" charset="0"/>
                <a:ea typeface="Cambria" pitchFamily="34" charset="-122"/>
                <a:cs typeface="Cambria" pitchFamily="34" charset="-120"/>
              </a:rPr>
              <a:t>First working model: the 2-body numbers</a:t>
            </a:r>
            <a:endParaRPr lang="en-US" sz="3200" dirty="0"/>
          </a:p>
        </p:txBody>
      </p:sp>
      <p:sp>
        <p:nvSpPr>
          <p:cNvPr id="4" name="Text 2"/>
          <p:cNvSpPr txBox="1"/>
          <p:nvPr/>
        </p:nvSpPr>
        <p:spPr>
          <a:xfrm>
            <a:off x="457200" y="1371600"/>
            <a:ext cx="11247120" cy="320040"/>
          </a:xfrm>
          <a:prstGeom prst="rect">
            <a:avLst/>
          </a:prstGeom>
          <a:noFill/>
          <a:ln/>
        </p:spPr>
        <p:txBody>
          <a:bodyPr wrap="square" lIns="0" tIns="0" rIns="0" bIns="0" rtlCol="0" anchor="ctr"/>
          <a:lstStyle/>
          <a:p>
            <a:pPr marL="0" indent="0">
              <a:buNone/>
            </a:pPr>
            <a:r>
              <a:rPr lang="en-US" sz="1400" dirty="0">
                <a:solidFill>
                  <a:srgbClr val="6B7280"/>
                </a:solidFill>
                <a:latin typeface="Calibri" pitchFamily="34" charset="0"/>
                <a:ea typeface="Calibri" pitchFamily="34" charset="-122"/>
                <a:cs typeface="Calibri" pitchFamily="34" charset="-120"/>
              </a:rPr>
              <a:t>Trained on a representative sample of the SuperSalt training set; scored on a fixed 660 / 160-frame slice of each held-out test set.</a:t>
            </a:r>
            <a:endParaRPr lang="en-US" sz="1400" dirty="0"/>
          </a:p>
        </p:txBody>
      </p:sp>
      <p:graphicFrame>
        <p:nvGraphicFramePr>
          <p:cNvPr id="5" name="Chart 0"/>
          <p:cNvGraphicFramePr/>
          <p:nvPr/>
        </p:nvGraphicFramePr>
        <p:xfrm>
          <a:off x="548640" y="1874520"/>
          <a:ext cx="6492240" cy="4114800"/>
        </p:xfrm>
        <a:graphic>
          <a:graphicData uri="http://schemas.openxmlformats.org/drawingml/2006/chart">
            <c:chart xmlns:c="http://schemas.openxmlformats.org/drawingml/2006/chart" xmlns:r="http://schemas.openxmlformats.org/officeDocument/2006/relationships" r:id="rId3"/>
          </a:graphicData>
        </a:graphic>
      </p:graphicFrame>
      <p:sp>
        <p:nvSpPr>
          <p:cNvPr id="6" name="Shape 3"/>
          <p:cNvSpPr/>
          <p:nvPr/>
        </p:nvSpPr>
        <p:spPr>
          <a:xfrm>
            <a:off x="7406640" y="1874520"/>
            <a:ext cx="4251960" cy="1234440"/>
          </a:xfrm>
          <a:prstGeom prst="roundRect">
            <a:avLst>
              <a:gd name="adj" fmla="val 5926"/>
            </a:avLst>
          </a:prstGeom>
          <a:solidFill>
            <a:srgbClr val="F4F5F7"/>
          </a:solidFill>
          <a:ln w="12700">
            <a:solidFill>
              <a:srgbClr val="E3E5EA"/>
            </a:solidFill>
            <a:prstDash val="solid"/>
          </a:ln>
        </p:spPr>
        <p:txBody>
          <a:bodyPr/>
          <a:lstStyle/>
          <a:p>
            <a:endParaRPr lang="en-GR"/>
          </a:p>
        </p:txBody>
      </p:sp>
      <p:sp>
        <p:nvSpPr>
          <p:cNvPr id="7" name="Text 4"/>
          <p:cNvSpPr txBox="1"/>
          <p:nvPr/>
        </p:nvSpPr>
        <p:spPr>
          <a:xfrm>
            <a:off x="7680960" y="2039112"/>
            <a:ext cx="3703320" cy="274320"/>
          </a:xfrm>
          <a:prstGeom prst="rect">
            <a:avLst/>
          </a:prstGeom>
          <a:noFill/>
          <a:ln/>
        </p:spPr>
        <p:txBody>
          <a:bodyPr wrap="square" lIns="0" tIns="0" rIns="0" bIns="0" rtlCol="0" anchor="ctr"/>
          <a:lstStyle/>
          <a:p>
            <a:pPr marL="0" indent="0">
              <a:buNone/>
            </a:pPr>
            <a:r>
              <a:rPr lang="en-US" sz="1150" b="1" kern="0" spc="120" dirty="0">
                <a:solidFill>
                  <a:srgbClr val="F2711C"/>
                </a:solidFill>
                <a:latin typeface="Calibri" pitchFamily="34" charset="0"/>
                <a:ea typeface="Calibri" pitchFamily="34" charset="-122"/>
                <a:cs typeface="Calibri" pitchFamily="34" charset="-120"/>
              </a:rPr>
              <a:t>ENERGY MAE · BOTH TESTS</a:t>
            </a:r>
            <a:endParaRPr lang="en-US" sz="1150" dirty="0"/>
          </a:p>
        </p:txBody>
      </p:sp>
      <p:sp>
        <p:nvSpPr>
          <p:cNvPr id="8" name="Text 5"/>
          <p:cNvSpPr txBox="1"/>
          <p:nvPr/>
        </p:nvSpPr>
        <p:spPr>
          <a:xfrm>
            <a:off x="7680960" y="2276856"/>
            <a:ext cx="3703320" cy="502920"/>
          </a:xfrm>
          <a:prstGeom prst="rect">
            <a:avLst/>
          </a:prstGeom>
          <a:noFill/>
          <a:ln/>
        </p:spPr>
        <p:txBody>
          <a:bodyPr wrap="square" lIns="0" tIns="0" rIns="0" bIns="0" rtlCol="0" anchor="ctr"/>
          <a:lstStyle/>
          <a:p>
            <a:pPr marL="0" indent="0">
              <a:buNone/>
            </a:pPr>
            <a:r>
              <a:rPr lang="en-US" sz="2400" b="1" dirty="0">
                <a:solidFill>
                  <a:srgbClr val="1A1D29"/>
                </a:solidFill>
                <a:latin typeface="Cambria" pitchFamily="34" charset="0"/>
                <a:ea typeface="Cambria" pitchFamily="34" charset="-122"/>
                <a:cs typeface="Cambria" pitchFamily="34" charset="-120"/>
              </a:rPr>
              <a:t>13–15 meV/atom</a:t>
            </a:r>
            <a:endParaRPr lang="en-US" sz="2400" dirty="0"/>
          </a:p>
        </p:txBody>
      </p:sp>
      <p:sp>
        <p:nvSpPr>
          <p:cNvPr id="9" name="Text 6"/>
          <p:cNvSpPr txBox="1"/>
          <p:nvPr/>
        </p:nvSpPr>
        <p:spPr>
          <a:xfrm>
            <a:off x="7680960" y="2779776"/>
            <a:ext cx="3703320" cy="274320"/>
          </a:xfrm>
          <a:prstGeom prst="rect">
            <a:avLst/>
          </a:prstGeom>
          <a:noFill/>
          <a:ln/>
        </p:spPr>
        <p:txBody>
          <a:bodyPr wrap="square" lIns="0" tIns="0" rIns="0" bIns="0" rtlCol="0" anchor="ctr"/>
          <a:lstStyle/>
          <a:p>
            <a:pPr marL="0" indent="0">
              <a:buNone/>
            </a:pPr>
            <a:r>
              <a:rPr lang="en-US" sz="1150" dirty="0">
                <a:solidFill>
                  <a:srgbClr val="6B7280"/>
                </a:solidFill>
                <a:latin typeface="Calibri" pitchFamily="34" charset="0"/>
                <a:ea typeface="Calibri" pitchFamily="34" charset="-122"/>
                <a:cs typeface="Calibri" pitchFamily="34" charset="-120"/>
              </a:rPr>
              <a:t>the surface itself is roughly right</a:t>
            </a:r>
            <a:endParaRPr lang="en-US" sz="1150" dirty="0"/>
          </a:p>
        </p:txBody>
      </p:sp>
      <p:sp>
        <p:nvSpPr>
          <p:cNvPr id="10" name="Shape 7"/>
          <p:cNvSpPr/>
          <p:nvPr/>
        </p:nvSpPr>
        <p:spPr>
          <a:xfrm>
            <a:off x="7406640" y="3246120"/>
            <a:ext cx="4251960" cy="1234440"/>
          </a:xfrm>
          <a:prstGeom prst="roundRect">
            <a:avLst>
              <a:gd name="adj" fmla="val 5926"/>
            </a:avLst>
          </a:prstGeom>
          <a:solidFill>
            <a:srgbClr val="F4F5F7"/>
          </a:solidFill>
          <a:ln w="12700">
            <a:solidFill>
              <a:srgbClr val="E3E5EA"/>
            </a:solidFill>
            <a:prstDash val="solid"/>
          </a:ln>
        </p:spPr>
        <p:txBody>
          <a:bodyPr/>
          <a:lstStyle/>
          <a:p>
            <a:endParaRPr lang="en-GR"/>
          </a:p>
        </p:txBody>
      </p:sp>
      <p:sp>
        <p:nvSpPr>
          <p:cNvPr id="11" name="Text 8"/>
          <p:cNvSpPr txBox="1"/>
          <p:nvPr/>
        </p:nvSpPr>
        <p:spPr>
          <a:xfrm>
            <a:off x="7680960" y="3410712"/>
            <a:ext cx="3703320" cy="274320"/>
          </a:xfrm>
          <a:prstGeom prst="rect">
            <a:avLst/>
          </a:prstGeom>
          <a:noFill/>
          <a:ln/>
        </p:spPr>
        <p:txBody>
          <a:bodyPr wrap="square" lIns="0" tIns="0" rIns="0" bIns="0" rtlCol="0" anchor="ctr"/>
          <a:lstStyle/>
          <a:p>
            <a:pPr marL="0" indent="0">
              <a:buNone/>
            </a:pPr>
            <a:r>
              <a:rPr lang="en-US" sz="1150" b="1" kern="0" spc="120" dirty="0">
                <a:solidFill>
                  <a:srgbClr val="2FB6A8"/>
                </a:solidFill>
                <a:latin typeface="Calibri" pitchFamily="34" charset="0"/>
                <a:ea typeface="Calibri" pitchFamily="34" charset="-122"/>
                <a:cs typeface="Calibri" pitchFamily="34" charset="-120"/>
              </a:rPr>
              <a:t>FORCE RMSE · BOTH TESTS</a:t>
            </a:r>
            <a:endParaRPr lang="en-US" sz="1150" dirty="0"/>
          </a:p>
        </p:txBody>
      </p:sp>
      <p:sp>
        <p:nvSpPr>
          <p:cNvPr id="12" name="Text 9"/>
          <p:cNvSpPr txBox="1"/>
          <p:nvPr/>
        </p:nvSpPr>
        <p:spPr>
          <a:xfrm>
            <a:off x="7680960" y="3648456"/>
            <a:ext cx="3703320" cy="502920"/>
          </a:xfrm>
          <a:prstGeom prst="rect">
            <a:avLst/>
          </a:prstGeom>
          <a:noFill/>
          <a:ln/>
        </p:spPr>
        <p:txBody>
          <a:bodyPr wrap="square" lIns="0" tIns="0" rIns="0" bIns="0" rtlCol="0" anchor="ctr"/>
          <a:lstStyle/>
          <a:p>
            <a:pPr marL="0" indent="0">
              <a:buNone/>
            </a:pPr>
            <a:r>
              <a:rPr lang="en-US" sz="2400" b="1" dirty="0">
                <a:solidFill>
                  <a:srgbClr val="1A1D29"/>
                </a:solidFill>
                <a:latin typeface="Cambria" pitchFamily="34" charset="0"/>
                <a:ea typeface="Cambria" pitchFamily="34" charset="-122"/>
                <a:cs typeface="Cambria" pitchFamily="34" charset="-120"/>
              </a:rPr>
              <a:t>278–302 meV/Å</a:t>
            </a:r>
            <a:endParaRPr lang="en-US" sz="2400" dirty="0"/>
          </a:p>
        </p:txBody>
      </p:sp>
      <p:sp>
        <p:nvSpPr>
          <p:cNvPr id="13" name="Text 10"/>
          <p:cNvSpPr txBox="1"/>
          <p:nvPr/>
        </p:nvSpPr>
        <p:spPr>
          <a:xfrm>
            <a:off x="7680960" y="4151376"/>
            <a:ext cx="3703320" cy="274320"/>
          </a:xfrm>
          <a:prstGeom prst="rect">
            <a:avLst/>
          </a:prstGeom>
          <a:noFill/>
          <a:ln/>
        </p:spPr>
        <p:txBody>
          <a:bodyPr wrap="square" lIns="0" tIns="0" rIns="0" bIns="0" rtlCol="0" anchor="ctr"/>
          <a:lstStyle/>
          <a:p>
            <a:pPr marL="0" indent="0">
              <a:buNone/>
            </a:pPr>
            <a:r>
              <a:rPr lang="en-US" sz="1150" dirty="0">
                <a:solidFill>
                  <a:srgbClr val="6B7280"/>
                </a:solidFill>
                <a:latin typeface="Calibri" pitchFamily="34" charset="0"/>
                <a:ea typeface="Calibri" pitchFamily="34" charset="-122"/>
                <a:cs typeface="Calibri" pitchFamily="34" charset="-120"/>
              </a:rPr>
              <a:t>the slope — where a pair term is limited</a:t>
            </a:r>
            <a:endParaRPr lang="en-US" sz="1150" dirty="0"/>
          </a:p>
        </p:txBody>
      </p:sp>
      <p:sp>
        <p:nvSpPr>
          <p:cNvPr id="14" name="Shape 11"/>
          <p:cNvSpPr/>
          <p:nvPr/>
        </p:nvSpPr>
        <p:spPr>
          <a:xfrm>
            <a:off x="7406640" y="4617720"/>
            <a:ext cx="4251960" cy="1234440"/>
          </a:xfrm>
          <a:prstGeom prst="roundRect">
            <a:avLst>
              <a:gd name="adj" fmla="val 5926"/>
            </a:avLst>
          </a:prstGeom>
          <a:solidFill>
            <a:srgbClr val="F4F5F7"/>
          </a:solidFill>
          <a:ln w="12700">
            <a:solidFill>
              <a:srgbClr val="E3E5EA"/>
            </a:solidFill>
            <a:prstDash val="solid"/>
          </a:ln>
        </p:spPr>
        <p:txBody>
          <a:bodyPr/>
          <a:lstStyle/>
          <a:p>
            <a:endParaRPr lang="en-GR"/>
          </a:p>
        </p:txBody>
      </p:sp>
      <p:sp>
        <p:nvSpPr>
          <p:cNvPr id="15" name="Text 12"/>
          <p:cNvSpPr txBox="1"/>
          <p:nvPr/>
        </p:nvSpPr>
        <p:spPr>
          <a:xfrm>
            <a:off x="7680960" y="4782312"/>
            <a:ext cx="3703320" cy="274320"/>
          </a:xfrm>
          <a:prstGeom prst="rect">
            <a:avLst/>
          </a:prstGeom>
          <a:noFill/>
          <a:ln/>
        </p:spPr>
        <p:txBody>
          <a:bodyPr wrap="square" lIns="0" tIns="0" rIns="0" bIns="0" rtlCol="0" anchor="ctr"/>
          <a:lstStyle/>
          <a:p>
            <a:pPr marL="0" indent="0">
              <a:buNone/>
            </a:pPr>
            <a:r>
              <a:rPr lang="en-US" sz="1150" b="1" kern="0" spc="120" dirty="0">
                <a:solidFill>
                  <a:srgbClr val="1A1D29"/>
                </a:solidFill>
                <a:latin typeface="Calibri" pitchFamily="34" charset="0"/>
                <a:ea typeface="Calibri" pitchFamily="34" charset="-122"/>
                <a:cs typeface="Calibri" pitchFamily="34" charset="-120"/>
              </a:rPr>
              <a:t>STATUS</a:t>
            </a:r>
            <a:endParaRPr lang="en-US" sz="1150" dirty="0"/>
          </a:p>
        </p:txBody>
      </p:sp>
      <p:sp>
        <p:nvSpPr>
          <p:cNvPr id="16" name="Text 13"/>
          <p:cNvSpPr txBox="1"/>
          <p:nvPr/>
        </p:nvSpPr>
        <p:spPr>
          <a:xfrm>
            <a:off x="7680960" y="5020056"/>
            <a:ext cx="3703320" cy="502920"/>
          </a:xfrm>
          <a:prstGeom prst="rect">
            <a:avLst/>
          </a:prstGeom>
          <a:noFill/>
          <a:ln/>
        </p:spPr>
        <p:txBody>
          <a:bodyPr wrap="square" lIns="0" tIns="0" rIns="0" bIns="0" rtlCol="0" anchor="ctr"/>
          <a:lstStyle/>
          <a:p>
            <a:pPr marL="0" indent="0">
              <a:buNone/>
            </a:pPr>
            <a:r>
              <a:rPr lang="en-US" sz="2400" b="1" dirty="0">
                <a:solidFill>
                  <a:srgbClr val="1A1D29"/>
                </a:solidFill>
                <a:latin typeface="Cambria" pitchFamily="34" charset="0"/>
                <a:ea typeface="Cambria" pitchFamily="34" charset="-122"/>
                <a:cs typeface="Cambria" pitchFamily="34" charset="-120"/>
              </a:rPr>
              <a:t>It runs, end-to-end</a:t>
            </a:r>
            <a:endParaRPr lang="en-US" sz="2400" dirty="0"/>
          </a:p>
        </p:txBody>
      </p:sp>
      <p:sp>
        <p:nvSpPr>
          <p:cNvPr id="17" name="Text 14"/>
          <p:cNvSpPr txBox="1"/>
          <p:nvPr/>
        </p:nvSpPr>
        <p:spPr>
          <a:xfrm>
            <a:off x="7680960" y="5522976"/>
            <a:ext cx="3703320" cy="274320"/>
          </a:xfrm>
          <a:prstGeom prst="rect">
            <a:avLst/>
          </a:prstGeom>
          <a:noFill/>
          <a:ln/>
        </p:spPr>
        <p:txBody>
          <a:bodyPr wrap="square" lIns="0" tIns="0" rIns="0" bIns="0" rtlCol="0" anchor="ctr"/>
          <a:lstStyle/>
          <a:p>
            <a:pPr marL="0" indent="0">
              <a:buNone/>
            </a:pPr>
            <a:r>
              <a:rPr lang="en-US" sz="1150" dirty="0">
                <a:solidFill>
                  <a:srgbClr val="6B7280"/>
                </a:solidFill>
                <a:latin typeface="Calibri" pitchFamily="34" charset="0"/>
                <a:ea typeface="Calibri" pitchFamily="34" charset="-122"/>
                <a:cs typeface="Calibri" pitchFamily="34" charset="-120"/>
              </a:rPr>
              <a:t>my own model, real numbers, both sets</a:t>
            </a:r>
            <a:endParaRPr lang="en-US" sz="1150" dirty="0"/>
          </a:p>
        </p:txBody>
      </p:sp>
      <p:sp>
        <p:nvSpPr>
          <p:cNvPr id="19" name="Text 15"/>
          <p:cNvSpPr txBox="1"/>
          <p:nvPr/>
        </p:nvSpPr>
        <p:spPr>
          <a:xfrm>
            <a:off x="457200" y="6419088"/>
            <a:ext cx="8229600" cy="274320"/>
          </a:xfrm>
          <a:prstGeom prst="rect">
            <a:avLst/>
          </a:prstGeom>
          <a:noFill/>
          <a:ln/>
        </p:spPr>
        <p:txBody>
          <a:bodyPr wrap="square" lIns="0" tIns="0" rIns="0" bIns="0" rtlCol="0" anchor="ctr"/>
          <a:lstStyle/>
          <a:p>
            <a:pPr marL="0" indent="0" algn="l">
              <a:buNone/>
            </a:pPr>
            <a:r>
              <a:rPr lang="en-US" sz="900" dirty="0">
                <a:solidFill>
                  <a:srgbClr val="6B7280"/>
                </a:solidFill>
                <a:latin typeface="Calibri" pitchFamily="34" charset="0"/>
                <a:ea typeface="Calibri" pitchFamily="34" charset="-122"/>
                <a:cs typeface="Calibri" pitchFamily="34" charset="-120"/>
              </a:rPr>
              <a:t>Marios Poulis · DIFFER</a:t>
            </a:r>
            <a:endParaRPr lang="en-US" sz="900" dirty="0"/>
          </a:p>
        </p:txBody>
      </p:sp>
      <p:sp>
        <p:nvSpPr>
          <p:cNvPr id="20" name="Text 16"/>
          <p:cNvSpPr txBox="1"/>
          <p:nvPr/>
        </p:nvSpPr>
        <p:spPr>
          <a:xfrm>
            <a:off x="11338560" y="6419088"/>
            <a:ext cx="457200" cy="274320"/>
          </a:xfrm>
          <a:prstGeom prst="rect">
            <a:avLst/>
          </a:prstGeom>
          <a:noFill/>
          <a:ln/>
        </p:spPr>
        <p:txBody>
          <a:bodyPr wrap="square" lIns="0" tIns="0" rIns="0" bIns="0" rtlCol="0" anchor="ctr"/>
          <a:lstStyle/>
          <a:p>
            <a:pPr marL="0" indent="0" algn="r">
              <a:buNone/>
            </a:pPr>
            <a:r>
              <a:rPr lang="en-US" sz="900" dirty="0">
                <a:solidFill>
                  <a:srgbClr val="6B7280"/>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457200" y="384048"/>
            <a:ext cx="10972800" cy="274320"/>
          </a:xfrm>
          <a:prstGeom prst="rect">
            <a:avLst/>
          </a:prstGeom>
          <a:noFill/>
          <a:ln/>
        </p:spPr>
        <p:txBody>
          <a:bodyPr wrap="square" lIns="0" tIns="0" rIns="0" bIns="0" rtlCol="0" anchor="ctr"/>
          <a:lstStyle/>
          <a:p>
            <a:pPr marL="0" indent="0">
              <a:buNone/>
            </a:pPr>
            <a:r>
              <a:rPr lang="en-US" sz="1200" b="1" kern="0" spc="200" dirty="0">
                <a:solidFill>
                  <a:srgbClr val="F2711C"/>
                </a:solidFill>
                <a:latin typeface="Calibri" pitchFamily="34" charset="0"/>
                <a:ea typeface="Calibri" pitchFamily="34" charset="-122"/>
                <a:cs typeface="Calibri" pitchFamily="34" charset="-120"/>
              </a:rPr>
              <a:t>TESTING THE “3” IN UF3</a:t>
            </a:r>
            <a:endParaRPr lang="en-US" sz="1200" dirty="0"/>
          </a:p>
        </p:txBody>
      </p:sp>
      <p:sp>
        <p:nvSpPr>
          <p:cNvPr id="3" name="Text 1"/>
          <p:cNvSpPr txBox="1"/>
          <p:nvPr/>
        </p:nvSpPr>
        <p:spPr>
          <a:xfrm>
            <a:off x="457200" y="658368"/>
            <a:ext cx="11247120" cy="822960"/>
          </a:xfrm>
          <a:prstGeom prst="rect">
            <a:avLst/>
          </a:prstGeom>
          <a:noFill/>
          <a:ln/>
        </p:spPr>
        <p:txBody>
          <a:bodyPr wrap="square" lIns="0" tIns="0" rIns="0" bIns="0" rtlCol="0" anchor="ctr"/>
          <a:lstStyle/>
          <a:p>
            <a:pPr marL="0" indent="0">
              <a:buNone/>
            </a:pPr>
            <a:r>
              <a:rPr lang="en-US" sz="3200" b="1" dirty="0">
                <a:solidFill>
                  <a:srgbClr val="1A1D29"/>
                </a:solidFill>
                <a:latin typeface="Cambria" pitchFamily="34" charset="0"/>
                <a:ea typeface="Cambria" pitchFamily="34" charset="-122"/>
                <a:cs typeface="Cambria" pitchFamily="34" charset="-120"/>
              </a:rPr>
              <a:t>Does the 3-body term earn its keep?</a:t>
            </a:r>
            <a:endParaRPr lang="en-US" sz="3200" dirty="0"/>
          </a:p>
        </p:txBody>
      </p:sp>
      <p:sp>
        <p:nvSpPr>
          <p:cNvPr id="4" name="Text 2"/>
          <p:cNvSpPr txBox="1"/>
          <p:nvPr/>
        </p:nvSpPr>
        <p:spPr>
          <a:xfrm>
            <a:off x="457200" y="1371600"/>
            <a:ext cx="11247120" cy="457200"/>
          </a:xfrm>
          <a:prstGeom prst="rect">
            <a:avLst/>
          </a:prstGeom>
          <a:noFill/>
          <a:ln/>
        </p:spPr>
        <p:txBody>
          <a:bodyPr wrap="square" lIns="0" tIns="0" rIns="0" bIns="0" rtlCol="0" anchor="ctr"/>
          <a:lstStyle/>
          <a:p>
            <a:pPr marL="0" indent="0">
              <a:lnSpc>
                <a:spcPct val="110000"/>
              </a:lnSpc>
              <a:buNone/>
            </a:pPr>
            <a:r>
              <a:rPr lang="en-US" sz="1300" dirty="0">
                <a:solidFill>
                  <a:srgbClr val="6B7280"/>
                </a:solidFill>
                <a:latin typeface="Calibri" pitchFamily="34" charset="0"/>
                <a:ea typeface="Calibri" pitchFamily="34" charset="-122"/>
                <a:cs typeface="Calibri" pitchFamily="34" charset="-120"/>
              </a:rPr>
              <a:t>Full 3-body is intractable for 12 elements (111k features), so I test it on 3-element subsystems: directional cations (Mg, Zr) versus a spherical control (K, Rb).</a:t>
            </a:r>
            <a:endParaRPr lang="en-US" sz="1300" dirty="0"/>
          </a:p>
        </p:txBody>
      </p:sp>
      <p:pic>
        <p:nvPicPr>
          <p:cNvPr id="5" name="Image 0" descr="/tmp/claude-0/-home-claude/fccb0421-ce31-56d7-8f9a-a4b2db061784/scratchpad/body3_result.png"/>
          <p:cNvPicPr>
            <a:picLocks noChangeAspect="1"/>
          </p:cNvPicPr>
          <p:nvPr/>
        </p:nvPicPr>
        <p:blipFill>
          <a:blip r:embed="rId3"/>
          <a:stretch>
            <a:fillRect/>
          </a:stretch>
        </p:blipFill>
        <p:spPr>
          <a:xfrm>
            <a:off x="457200" y="1874520"/>
            <a:ext cx="7360920" cy="3913632"/>
          </a:xfrm>
          <a:prstGeom prst="rect">
            <a:avLst/>
          </a:prstGeom>
        </p:spPr>
      </p:pic>
      <p:sp>
        <p:nvSpPr>
          <p:cNvPr id="6" name="Shape 3"/>
          <p:cNvSpPr/>
          <p:nvPr/>
        </p:nvSpPr>
        <p:spPr>
          <a:xfrm>
            <a:off x="8001000" y="1874520"/>
            <a:ext cx="3657600" cy="3913632"/>
          </a:xfrm>
          <a:prstGeom prst="roundRect">
            <a:avLst>
              <a:gd name="adj" fmla="val 2000"/>
            </a:avLst>
          </a:prstGeom>
          <a:solidFill>
            <a:srgbClr val="F4F5F7"/>
          </a:solidFill>
          <a:ln w="12700">
            <a:solidFill>
              <a:srgbClr val="E3E5EA"/>
            </a:solidFill>
            <a:prstDash val="solid"/>
          </a:ln>
        </p:spPr>
        <p:txBody>
          <a:bodyPr/>
          <a:lstStyle/>
          <a:p>
            <a:endParaRPr lang="en-GR"/>
          </a:p>
        </p:txBody>
      </p:sp>
      <p:sp>
        <p:nvSpPr>
          <p:cNvPr id="7" name="Text 4"/>
          <p:cNvSpPr txBox="1"/>
          <p:nvPr/>
        </p:nvSpPr>
        <p:spPr>
          <a:xfrm>
            <a:off x="8247888" y="2084832"/>
            <a:ext cx="3200400" cy="365760"/>
          </a:xfrm>
          <a:prstGeom prst="rect">
            <a:avLst/>
          </a:prstGeom>
          <a:noFill/>
          <a:ln/>
        </p:spPr>
        <p:txBody>
          <a:bodyPr wrap="square" lIns="0" tIns="0" rIns="0" bIns="0" rtlCol="0" anchor="ctr"/>
          <a:lstStyle/>
          <a:p>
            <a:pPr marL="0" indent="0">
              <a:buNone/>
            </a:pPr>
            <a:r>
              <a:rPr lang="en-US" sz="1700" b="1" dirty="0">
                <a:solidFill>
                  <a:srgbClr val="F2711C"/>
                </a:solidFill>
                <a:latin typeface="Cambria" pitchFamily="34" charset="0"/>
                <a:ea typeface="Cambria" pitchFamily="34" charset="-122"/>
                <a:cs typeface="Cambria" pitchFamily="34" charset="-120"/>
              </a:rPr>
              <a:t>What it shows</a:t>
            </a:r>
            <a:endParaRPr lang="en-US" sz="1700" dirty="0"/>
          </a:p>
        </p:txBody>
      </p:sp>
      <p:sp>
        <p:nvSpPr>
          <p:cNvPr id="8" name="Text 5"/>
          <p:cNvSpPr txBox="1"/>
          <p:nvPr/>
        </p:nvSpPr>
        <p:spPr>
          <a:xfrm>
            <a:off x="8247888" y="2514600"/>
            <a:ext cx="3200400" cy="2743200"/>
          </a:xfrm>
          <a:prstGeom prst="rect">
            <a:avLst/>
          </a:prstGeom>
          <a:noFill/>
          <a:ln/>
        </p:spPr>
        <p:txBody>
          <a:bodyPr wrap="square" lIns="0" tIns="0" rIns="0" bIns="0" rtlCol="0" anchor="ctr"/>
          <a:lstStyle/>
          <a:p>
            <a:pPr marL="0" indent="0">
              <a:lnSpc>
                <a:spcPct val="112000"/>
              </a:lnSpc>
              <a:buNone/>
            </a:pPr>
            <a:r>
              <a:rPr lang="en-US" sz="1250" b="1" dirty="0">
                <a:solidFill>
                  <a:srgbClr val="1A1D29"/>
                </a:solidFill>
                <a:latin typeface="Calibri" pitchFamily="34" charset="0"/>
                <a:ea typeface="Calibri" pitchFamily="34" charset="-122"/>
                <a:cs typeface="Calibri" pitchFamily="34" charset="-120"/>
              </a:rPr>
              <a:t>Directional cations.  </a:t>
            </a:r>
            <a:r>
              <a:rPr lang="en-US" sz="1250" dirty="0">
                <a:solidFill>
                  <a:srgbClr val="1A1D29"/>
                </a:solidFill>
                <a:latin typeface="Calibri" pitchFamily="34" charset="0"/>
                <a:ea typeface="Calibri" pitchFamily="34" charset="-122"/>
                <a:cs typeface="Calibri" pitchFamily="34" charset="-120"/>
              </a:rPr>
              <a:t>3-body cuts the force error hard — Mg −35%, Zr −21%. The angular term captures the coordination geometry a pair potential can’t see.
</a:t>
            </a:r>
            <a:r>
              <a:rPr lang="en-US" sz="1250" b="1" dirty="0">
                <a:solidFill>
                  <a:srgbClr val="1A1D29"/>
                </a:solidFill>
                <a:latin typeface="Calibri" pitchFamily="34" charset="0"/>
                <a:ea typeface="Calibri" pitchFamily="34" charset="-122"/>
                <a:cs typeface="Calibri" pitchFamily="34" charset="-120"/>
              </a:rPr>
              <a:t>Spherical control.  </a:t>
            </a:r>
            <a:r>
              <a:rPr lang="en-US" sz="1250" dirty="0">
                <a:solidFill>
                  <a:srgbClr val="1A1D29"/>
                </a:solidFill>
                <a:latin typeface="Calibri" pitchFamily="34" charset="0"/>
                <a:ea typeface="Calibri" pitchFamily="34" charset="-122"/>
                <a:cs typeface="Calibri" pitchFamily="34" charset="-120"/>
              </a:rPr>
              <a:t>K/Rb already had a low 2-body error and 3-body barely moves it (−5%) — round ions bond centrally, so there’s little angle to capture.</a:t>
            </a:r>
            <a:endParaRPr lang="en-US" sz="1250" dirty="0"/>
          </a:p>
        </p:txBody>
      </p:sp>
      <p:sp>
        <p:nvSpPr>
          <p:cNvPr id="9" name="Text 6"/>
          <p:cNvSpPr txBox="1"/>
          <p:nvPr/>
        </p:nvSpPr>
        <p:spPr>
          <a:xfrm>
            <a:off x="8247888" y="5257800"/>
            <a:ext cx="3200400" cy="457200"/>
          </a:xfrm>
          <a:prstGeom prst="rect">
            <a:avLst/>
          </a:prstGeom>
          <a:noFill/>
          <a:ln/>
        </p:spPr>
        <p:txBody>
          <a:bodyPr wrap="square" lIns="0" tIns="0" rIns="0" bIns="0" rtlCol="0" anchor="ctr"/>
          <a:lstStyle/>
          <a:p>
            <a:pPr marL="0" indent="0">
              <a:lnSpc>
                <a:spcPct val="110000"/>
              </a:lnSpc>
              <a:buNone/>
            </a:pPr>
            <a:r>
              <a:rPr lang="en-US" sz="1200" i="1" dirty="0">
                <a:solidFill>
                  <a:srgbClr val="2FB6A8"/>
                </a:solidFill>
                <a:latin typeface="Calibri" pitchFamily="34" charset="0"/>
                <a:ea typeface="Calibri" pitchFamily="34" charset="-122"/>
                <a:cs typeface="Calibri" pitchFamily="34" charset="-120"/>
              </a:rPr>
              <a:t>The gain tracks directionality — exactly where the physics predicts.</a:t>
            </a:r>
            <a:endParaRPr lang="en-US" sz="1200" dirty="0"/>
          </a:p>
        </p:txBody>
      </p:sp>
      <p:sp>
        <p:nvSpPr>
          <p:cNvPr id="11" name="Text 7"/>
          <p:cNvSpPr txBox="1"/>
          <p:nvPr/>
        </p:nvSpPr>
        <p:spPr>
          <a:xfrm>
            <a:off x="457200" y="6419088"/>
            <a:ext cx="8229600" cy="274320"/>
          </a:xfrm>
          <a:prstGeom prst="rect">
            <a:avLst/>
          </a:prstGeom>
          <a:noFill/>
          <a:ln/>
        </p:spPr>
        <p:txBody>
          <a:bodyPr wrap="square" lIns="0" tIns="0" rIns="0" bIns="0" rtlCol="0" anchor="ctr"/>
          <a:lstStyle/>
          <a:p>
            <a:pPr marL="0" indent="0" algn="l">
              <a:buNone/>
            </a:pPr>
            <a:r>
              <a:rPr lang="en-US" sz="900" dirty="0">
                <a:solidFill>
                  <a:srgbClr val="6B7280"/>
                </a:solidFill>
                <a:latin typeface="Calibri" pitchFamily="34" charset="0"/>
                <a:ea typeface="Calibri" pitchFamily="34" charset="-122"/>
                <a:cs typeface="Calibri" pitchFamily="34" charset="-120"/>
              </a:rPr>
              <a:t>Marios Poulis · DIFFER</a:t>
            </a:r>
            <a:endParaRPr lang="en-US" sz="900" dirty="0"/>
          </a:p>
        </p:txBody>
      </p:sp>
      <p:sp>
        <p:nvSpPr>
          <p:cNvPr id="12" name="Text 8"/>
          <p:cNvSpPr txBox="1"/>
          <p:nvPr/>
        </p:nvSpPr>
        <p:spPr>
          <a:xfrm>
            <a:off x="11338560" y="6419088"/>
            <a:ext cx="457200" cy="274320"/>
          </a:xfrm>
          <a:prstGeom prst="rect">
            <a:avLst/>
          </a:prstGeom>
          <a:noFill/>
          <a:ln/>
        </p:spPr>
        <p:txBody>
          <a:bodyPr wrap="square" lIns="0" tIns="0" rIns="0" bIns="0" rtlCol="0" anchor="ctr"/>
          <a:lstStyle/>
          <a:p>
            <a:pPr marL="0" indent="0" algn="r">
              <a:buNone/>
            </a:pPr>
            <a:r>
              <a:rPr lang="en-US" sz="900" dirty="0">
                <a:solidFill>
                  <a:srgbClr val="6B7280"/>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457200" y="384048"/>
            <a:ext cx="10972800" cy="274320"/>
          </a:xfrm>
          <a:prstGeom prst="rect">
            <a:avLst/>
          </a:prstGeom>
          <a:noFill/>
          <a:ln/>
        </p:spPr>
        <p:txBody>
          <a:bodyPr wrap="square" lIns="0" tIns="0" rIns="0" bIns="0" rtlCol="0" anchor="ctr"/>
          <a:lstStyle/>
          <a:p>
            <a:pPr marL="0" indent="0">
              <a:buNone/>
            </a:pPr>
            <a:r>
              <a:rPr lang="en-US" sz="1200" b="1" kern="0" spc="200" dirty="0">
                <a:solidFill>
                  <a:srgbClr val="F2711C"/>
                </a:solidFill>
                <a:latin typeface="Calibri" pitchFamily="34" charset="0"/>
                <a:ea typeface="Calibri" pitchFamily="34" charset="-122"/>
                <a:cs typeface="Calibri" pitchFamily="34" charset="-120"/>
              </a:rPr>
              <a:t>ROADMAP</a:t>
            </a:r>
            <a:endParaRPr lang="en-US" sz="1200" dirty="0"/>
          </a:p>
        </p:txBody>
      </p:sp>
      <p:sp>
        <p:nvSpPr>
          <p:cNvPr id="3" name="Text 1"/>
          <p:cNvSpPr txBox="1"/>
          <p:nvPr/>
        </p:nvSpPr>
        <p:spPr>
          <a:xfrm>
            <a:off x="457200" y="658368"/>
            <a:ext cx="11247120" cy="822960"/>
          </a:xfrm>
          <a:prstGeom prst="rect">
            <a:avLst/>
          </a:prstGeom>
          <a:noFill/>
          <a:ln/>
        </p:spPr>
        <p:txBody>
          <a:bodyPr wrap="square" lIns="0" tIns="0" rIns="0" bIns="0" rtlCol="0" anchor="ctr"/>
          <a:lstStyle/>
          <a:p>
            <a:pPr marL="0" indent="0">
              <a:buNone/>
            </a:pPr>
            <a:r>
              <a:rPr lang="en-US" sz="3200" b="1" dirty="0">
                <a:solidFill>
                  <a:srgbClr val="1A1D29"/>
                </a:solidFill>
                <a:latin typeface="Cambria" pitchFamily="34" charset="0"/>
                <a:ea typeface="Cambria" pitchFamily="34" charset="-122"/>
                <a:cs typeface="Cambria" pitchFamily="34" charset="-120"/>
              </a:rPr>
              <a:t>Next steps</a:t>
            </a:r>
            <a:endParaRPr lang="en-US" sz="3200" dirty="0"/>
          </a:p>
        </p:txBody>
      </p:sp>
      <p:sp>
        <p:nvSpPr>
          <p:cNvPr id="4" name="Shape 2"/>
          <p:cNvSpPr/>
          <p:nvPr/>
        </p:nvSpPr>
        <p:spPr>
          <a:xfrm>
            <a:off x="548640" y="1783080"/>
            <a:ext cx="11064240" cy="1280160"/>
          </a:xfrm>
          <a:prstGeom prst="roundRect">
            <a:avLst>
              <a:gd name="adj" fmla="val 5714"/>
            </a:avLst>
          </a:prstGeom>
          <a:solidFill>
            <a:srgbClr val="F4F5F7"/>
          </a:solidFill>
          <a:ln w="12700">
            <a:solidFill>
              <a:srgbClr val="E3E5EA"/>
            </a:solidFill>
            <a:prstDash val="solid"/>
          </a:ln>
        </p:spPr>
        <p:txBody>
          <a:bodyPr/>
          <a:lstStyle/>
          <a:p>
            <a:endParaRPr lang="en-GR"/>
          </a:p>
        </p:txBody>
      </p:sp>
      <p:sp>
        <p:nvSpPr>
          <p:cNvPr id="5" name="Shape 3"/>
          <p:cNvSpPr/>
          <p:nvPr/>
        </p:nvSpPr>
        <p:spPr>
          <a:xfrm>
            <a:off x="868680" y="2167128"/>
            <a:ext cx="502920" cy="502920"/>
          </a:xfrm>
          <a:prstGeom prst="ellipse">
            <a:avLst/>
          </a:prstGeom>
          <a:solidFill>
            <a:srgbClr val="F2711C"/>
          </a:solidFill>
          <a:ln/>
        </p:spPr>
        <p:txBody>
          <a:bodyPr/>
          <a:lstStyle/>
          <a:p>
            <a:endParaRPr lang="en-GR"/>
          </a:p>
        </p:txBody>
      </p:sp>
      <p:sp>
        <p:nvSpPr>
          <p:cNvPr id="6" name="Text 4"/>
          <p:cNvSpPr txBox="1"/>
          <p:nvPr/>
        </p:nvSpPr>
        <p:spPr>
          <a:xfrm>
            <a:off x="1645920" y="1984248"/>
            <a:ext cx="8046720" cy="365760"/>
          </a:xfrm>
          <a:prstGeom prst="rect">
            <a:avLst/>
          </a:prstGeom>
          <a:noFill/>
          <a:ln/>
        </p:spPr>
        <p:txBody>
          <a:bodyPr wrap="square" lIns="0" tIns="0" rIns="0" bIns="0" rtlCol="0" anchor="ctr"/>
          <a:lstStyle/>
          <a:p>
            <a:pPr marL="0" indent="0">
              <a:buNone/>
            </a:pPr>
            <a:r>
              <a:rPr lang="en-US" sz="1700" b="1" dirty="0">
                <a:solidFill>
                  <a:srgbClr val="1A1D29"/>
                </a:solidFill>
                <a:latin typeface="Calibri" pitchFamily="34" charset="0"/>
                <a:ea typeface="Calibri" pitchFamily="34" charset="-122"/>
                <a:cs typeface="Calibri" pitchFamily="34" charset="-120"/>
              </a:rPr>
              <a:t>Firm up the 3-body subsystem result</a:t>
            </a:r>
            <a:endParaRPr lang="en-US" sz="1700" dirty="0"/>
          </a:p>
        </p:txBody>
      </p:sp>
      <p:sp>
        <p:nvSpPr>
          <p:cNvPr id="7" name="Text 5"/>
          <p:cNvSpPr txBox="1"/>
          <p:nvPr/>
        </p:nvSpPr>
        <p:spPr>
          <a:xfrm>
            <a:off x="1645920" y="2350008"/>
            <a:ext cx="8503920" cy="640080"/>
          </a:xfrm>
          <a:prstGeom prst="rect">
            <a:avLst/>
          </a:prstGeom>
          <a:noFill/>
          <a:ln/>
        </p:spPr>
        <p:txBody>
          <a:bodyPr wrap="square" lIns="0" tIns="0" rIns="0" bIns="0" rtlCol="0" anchor="ctr"/>
          <a:lstStyle/>
          <a:p>
            <a:pPr marL="0" indent="0">
              <a:lnSpc>
                <a:spcPct val="105000"/>
              </a:lnSpc>
              <a:buNone/>
            </a:pPr>
            <a:r>
              <a:rPr lang="en-US" sz="1300" dirty="0">
                <a:solidFill>
                  <a:srgbClr val="6B7280"/>
                </a:solidFill>
                <a:latin typeface="Calibri" pitchFamily="34" charset="0"/>
                <a:ea typeface="Calibri" pitchFamily="34" charset="-122"/>
                <a:cs typeface="Calibri" pitchFamily="34" charset="-120"/>
              </a:rPr>
              <a:t>Larger frame counts and a longer cutoff to confirm the 20–35% force gains on directional cations; add a third (Zn). Featurization is slow, so this runs off the laptop.</a:t>
            </a:r>
            <a:endParaRPr lang="en-US" sz="1300" dirty="0"/>
          </a:p>
        </p:txBody>
      </p:sp>
      <p:sp>
        <p:nvSpPr>
          <p:cNvPr id="8" name="Text 6"/>
          <p:cNvSpPr txBox="1"/>
          <p:nvPr/>
        </p:nvSpPr>
        <p:spPr>
          <a:xfrm>
            <a:off x="10195560" y="2240280"/>
            <a:ext cx="1234440" cy="365760"/>
          </a:xfrm>
          <a:prstGeom prst="rect">
            <a:avLst/>
          </a:prstGeom>
          <a:solidFill>
            <a:srgbClr val="F2711C"/>
          </a:solid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NOW</a:t>
            </a:r>
            <a:endParaRPr lang="en-US" sz="1100" dirty="0"/>
          </a:p>
        </p:txBody>
      </p:sp>
      <p:sp>
        <p:nvSpPr>
          <p:cNvPr id="9" name="Shape 7"/>
          <p:cNvSpPr/>
          <p:nvPr/>
        </p:nvSpPr>
        <p:spPr>
          <a:xfrm>
            <a:off x="548640" y="3200400"/>
            <a:ext cx="11064240" cy="1280160"/>
          </a:xfrm>
          <a:prstGeom prst="roundRect">
            <a:avLst>
              <a:gd name="adj" fmla="val 5714"/>
            </a:avLst>
          </a:prstGeom>
          <a:solidFill>
            <a:srgbClr val="F4F5F7"/>
          </a:solidFill>
          <a:ln w="12700">
            <a:solidFill>
              <a:srgbClr val="E3E5EA"/>
            </a:solidFill>
            <a:prstDash val="solid"/>
          </a:ln>
        </p:spPr>
        <p:txBody>
          <a:bodyPr/>
          <a:lstStyle/>
          <a:p>
            <a:endParaRPr lang="en-GR"/>
          </a:p>
        </p:txBody>
      </p:sp>
      <p:sp>
        <p:nvSpPr>
          <p:cNvPr id="10" name="Shape 8"/>
          <p:cNvSpPr/>
          <p:nvPr/>
        </p:nvSpPr>
        <p:spPr>
          <a:xfrm>
            <a:off x="868680" y="3584448"/>
            <a:ext cx="502920" cy="502920"/>
          </a:xfrm>
          <a:prstGeom prst="ellipse">
            <a:avLst/>
          </a:prstGeom>
          <a:solidFill>
            <a:srgbClr val="F5A623"/>
          </a:solidFill>
          <a:ln/>
        </p:spPr>
        <p:txBody>
          <a:bodyPr/>
          <a:lstStyle/>
          <a:p>
            <a:endParaRPr lang="en-GR"/>
          </a:p>
        </p:txBody>
      </p:sp>
      <p:sp>
        <p:nvSpPr>
          <p:cNvPr id="11" name="Text 9"/>
          <p:cNvSpPr txBox="1"/>
          <p:nvPr/>
        </p:nvSpPr>
        <p:spPr>
          <a:xfrm>
            <a:off x="1645920" y="3401568"/>
            <a:ext cx="8046720" cy="365760"/>
          </a:xfrm>
          <a:prstGeom prst="rect">
            <a:avLst/>
          </a:prstGeom>
          <a:noFill/>
          <a:ln/>
        </p:spPr>
        <p:txBody>
          <a:bodyPr wrap="square" lIns="0" tIns="0" rIns="0" bIns="0" rtlCol="0" anchor="ctr"/>
          <a:lstStyle/>
          <a:p>
            <a:pPr marL="0" indent="0">
              <a:buNone/>
            </a:pPr>
            <a:r>
              <a:rPr lang="en-US" sz="1700" b="1" dirty="0">
                <a:solidFill>
                  <a:srgbClr val="1A1D29"/>
                </a:solidFill>
                <a:latin typeface="Calibri" pitchFamily="34" charset="0"/>
                <a:ea typeface="Calibri" pitchFamily="34" charset="-122"/>
                <a:cs typeface="Calibri" pitchFamily="34" charset="-120"/>
              </a:rPr>
              <a:t>Score on the full test sets</a:t>
            </a:r>
            <a:endParaRPr lang="en-US" sz="1700" dirty="0"/>
          </a:p>
        </p:txBody>
      </p:sp>
      <p:sp>
        <p:nvSpPr>
          <p:cNvPr id="12" name="Text 10"/>
          <p:cNvSpPr txBox="1"/>
          <p:nvPr/>
        </p:nvSpPr>
        <p:spPr>
          <a:xfrm>
            <a:off x="1645920" y="3767328"/>
            <a:ext cx="8503920" cy="640080"/>
          </a:xfrm>
          <a:prstGeom prst="rect">
            <a:avLst/>
          </a:prstGeom>
          <a:noFill/>
          <a:ln/>
        </p:spPr>
        <p:txBody>
          <a:bodyPr wrap="square" lIns="0" tIns="0" rIns="0" bIns="0" rtlCol="0" anchor="ctr"/>
          <a:lstStyle/>
          <a:p>
            <a:pPr marL="0" indent="0">
              <a:lnSpc>
                <a:spcPct val="105000"/>
              </a:lnSpc>
              <a:buNone/>
            </a:pPr>
            <a:r>
              <a:rPr lang="en-US" sz="1300" dirty="0">
                <a:solidFill>
                  <a:srgbClr val="6B7280"/>
                </a:solidFill>
                <a:latin typeface="Calibri" pitchFamily="34" charset="0"/>
                <a:ea typeface="Calibri" pitchFamily="34" charset="-122"/>
                <a:cs typeface="Calibri" pitchFamily="34" charset="-120"/>
              </a:rPr>
              <a:t>Move from sampled to complete Test 1 / Test 2 evaluation, using the fast matrix-multiply scoring, for paper-comparable numbers.</a:t>
            </a:r>
            <a:endParaRPr lang="en-US" sz="1300" dirty="0"/>
          </a:p>
        </p:txBody>
      </p:sp>
      <p:sp>
        <p:nvSpPr>
          <p:cNvPr id="13" name="Text 11"/>
          <p:cNvSpPr txBox="1"/>
          <p:nvPr/>
        </p:nvSpPr>
        <p:spPr>
          <a:xfrm>
            <a:off x="10195560" y="3657600"/>
            <a:ext cx="1234440" cy="365760"/>
          </a:xfrm>
          <a:prstGeom prst="rect">
            <a:avLst/>
          </a:prstGeom>
          <a:solidFill>
            <a:srgbClr val="F5A623"/>
          </a:solid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NEXT</a:t>
            </a:r>
            <a:endParaRPr lang="en-US" sz="1100" dirty="0"/>
          </a:p>
        </p:txBody>
      </p:sp>
      <p:sp>
        <p:nvSpPr>
          <p:cNvPr id="14" name="Shape 12"/>
          <p:cNvSpPr/>
          <p:nvPr/>
        </p:nvSpPr>
        <p:spPr>
          <a:xfrm>
            <a:off x="548640" y="4617720"/>
            <a:ext cx="11064240" cy="1280160"/>
          </a:xfrm>
          <a:prstGeom prst="roundRect">
            <a:avLst>
              <a:gd name="adj" fmla="val 5714"/>
            </a:avLst>
          </a:prstGeom>
          <a:solidFill>
            <a:srgbClr val="F4F5F7"/>
          </a:solidFill>
          <a:ln w="12700">
            <a:solidFill>
              <a:srgbClr val="E3E5EA"/>
            </a:solidFill>
            <a:prstDash val="solid"/>
          </a:ln>
        </p:spPr>
        <p:txBody>
          <a:bodyPr/>
          <a:lstStyle/>
          <a:p>
            <a:endParaRPr lang="en-GR"/>
          </a:p>
        </p:txBody>
      </p:sp>
      <p:sp>
        <p:nvSpPr>
          <p:cNvPr id="15" name="Shape 13"/>
          <p:cNvSpPr/>
          <p:nvPr/>
        </p:nvSpPr>
        <p:spPr>
          <a:xfrm>
            <a:off x="868680" y="5001768"/>
            <a:ext cx="502920" cy="502920"/>
          </a:xfrm>
          <a:prstGeom prst="ellipse">
            <a:avLst/>
          </a:prstGeom>
          <a:solidFill>
            <a:srgbClr val="2FB6A8"/>
          </a:solidFill>
          <a:ln/>
        </p:spPr>
        <p:txBody>
          <a:bodyPr/>
          <a:lstStyle/>
          <a:p>
            <a:endParaRPr lang="en-GR"/>
          </a:p>
        </p:txBody>
      </p:sp>
      <p:sp>
        <p:nvSpPr>
          <p:cNvPr id="16" name="Text 14"/>
          <p:cNvSpPr txBox="1"/>
          <p:nvPr/>
        </p:nvSpPr>
        <p:spPr>
          <a:xfrm>
            <a:off x="1645920" y="4818888"/>
            <a:ext cx="8046720" cy="365760"/>
          </a:xfrm>
          <a:prstGeom prst="rect">
            <a:avLst/>
          </a:prstGeom>
          <a:noFill/>
          <a:ln/>
        </p:spPr>
        <p:txBody>
          <a:bodyPr wrap="square" lIns="0" tIns="0" rIns="0" bIns="0" rtlCol="0" anchor="ctr"/>
          <a:lstStyle/>
          <a:p>
            <a:pPr marL="0" indent="0">
              <a:buNone/>
            </a:pPr>
            <a:r>
              <a:rPr lang="en-US" sz="1700" b="1" dirty="0">
                <a:solidFill>
                  <a:srgbClr val="1A1D29"/>
                </a:solidFill>
                <a:latin typeface="Calibri" pitchFamily="34" charset="0"/>
                <a:ea typeface="Calibri" pitchFamily="34" charset="-122"/>
                <a:cs typeface="Calibri" pitchFamily="34" charset="-120"/>
              </a:rPr>
              <a:t>Scale up the compute</a:t>
            </a:r>
            <a:endParaRPr lang="en-US" sz="1700" dirty="0"/>
          </a:p>
        </p:txBody>
      </p:sp>
      <p:sp>
        <p:nvSpPr>
          <p:cNvPr id="17" name="Text 15"/>
          <p:cNvSpPr txBox="1"/>
          <p:nvPr/>
        </p:nvSpPr>
        <p:spPr>
          <a:xfrm>
            <a:off x="1645920" y="5184648"/>
            <a:ext cx="8503920" cy="640080"/>
          </a:xfrm>
          <a:prstGeom prst="rect">
            <a:avLst/>
          </a:prstGeom>
          <a:noFill/>
          <a:ln/>
        </p:spPr>
        <p:txBody>
          <a:bodyPr wrap="square" lIns="0" tIns="0" rIns="0" bIns="0" rtlCol="0" anchor="ctr"/>
          <a:lstStyle/>
          <a:p>
            <a:pPr marL="0" indent="0">
              <a:lnSpc>
                <a:spcPct val="105000"/>
              </a:lnSpc>
              <a:buNone/>
            </a:pPr>
            <a:r>
              <a:rPr lang="en-US" sz="1300" dirty="0">
                <a:solidFill>
                  <a:srgbClr val="6B7280"/>
                </a:solidFill>
                <a:latin typeface="Calibri" pitchFamily="34" charset="0"/>
                <a:ea typeface="Calibri" pitchFamily="34" charset="-122"/>
                <a:cs typeface="Calibri" pitchFamily="34" charset="-120"/>
              </a:rPr>
              <a:t>UF3 featurization is single-threaded and heavy, so firming up the results — more data and a fuller cutoff — is CPU-limited. Access to a cluster or workstation would let it scale (CPU, not GPU).</a:t>
            </a:r>
            <a:endParaRPr lang="en-US" sz="1300" dirty="0"/>
          </a:p>
        </p:txBody>
      </p:sp>
      <p:sp>
        <p:nvSpPr>
          <p:cNvPr id="18" name="Text 16"/>
          <p:cNvSpPr txBox="1"/>
          <p:nvPr/>
        </p:nvSpPr>
        <p:spPr>
          <a:xfrm>
            <a:off x="10195560" y="5074920"/>
            <a:ext cx="1234440" cy="365760"/>
          </a:xfrm>
          <a:prstGeom prst="rect">
            <a:avLst/>
          </a:prstGeom>
          <a:solidFill>
            <a:srgbClr val="2FB6A8"/>
          </a:solid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COMPUTE</a:t>
            </a:r>
            <a:endParaRPr lang="en-US" sz="1100" dirty="0"/>
          </a:p>
        </p:txBody>
      </p:sp>
      <p:sp>
        <p:nvSpPr>
          <p:cNvPr id="20" name="Text 17"/>
          <p:cNvSpPr txBox="1"/>
          <p:nvPr/>
        </p:nvSpPr>
        <p:spPr>
          <a:xfrm>
            <a:off x="457200" y="6419088"/>
            <a:ext cx="8229600" cy="274320"/>
          </a:xfrm>
          <a:prstGeom prst="rect">
            <a:avLst/>
          </a:prstGeom>
          <a:noFill/>
          <a:ln/>
        </p:spPr>
        <p:txBody>
          <a:bodyPr wrap="square" lIns="0" tIns="0" rIns="0" bIns="0" rtlCol="0" anchor="ctr"/>
          <a:lstStyle/>
          <a:p>
            <a:pPr marL="0" indent="0" algn="l">
              <a:buNone/>
            </a:pPr>
            <a:r>
              <a:rPr lang="en-US" sz="900" dirty="0">
                <a:solidFill>
                  <a:srgbClr val="6B7280"/>
                </a:solidFill>
                <a:latin typeface="Calibri" pitchFamily="34" charset="0"/>
                <a:ea typeface="Calibri" pitchFamily="34" charset="-122"/>
                <a:cs typeface="Calibri" pitchFamily="34" charset="-120"/>
              </a:rPr>
              <a:t>Marios Poulis · DIFFER</a:t>
            </a:r>
            <a:endParaRPr lang="en-US" sz="900" dirty="0"/>
          </a:p>
        </p:txBody>
      </p:sp>
      <p:sp>
        <p:nvSpPr>
          <p:cNvPr id="21" name="Text 18"/>
          <p:cNvSpPr txBox="1"/>
          <p:nvPr/>
        </p:nvSpPr>
        <p:spPr>
          <a:xfrm>
            <a:off x="11338560" y="6419088"/>
            <a:ext cx="457200" cy="274320"/>
          </a:xfrm>
          <a:prstGeom prst="rect">
            <a:avLst/>
          </a:prstGeom>
          <a:noFill/>
          <a:ln/>
        </p:spPr>
        <p:txBody>
          <a:bodyPr wrap="square" lIns="0" tIns="0" rIns="0" bIns="0" rtlCol="0" anchor="ctr"/>
          <a:lstStyle/>
          <a:p>
            <a:pPr marL="0" indent="0" algn="r">
              <a:buNone/>
            </a:pPr>
            <a:r>
              <a:rPr lang="en-US" sz="900" dirty="0">
                <a:solidFill>
                  <a:srgbClr val="6B7280"/>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TotalTime>
  <Words>1810</Words>
  <Application>Microsoft Macintosh PowerPoint</Application>
  <PresentationFormat>Widescreen</PresentationFormat>
  <Paragraphs>115</Paragraphs>
  <Slides>8</Slides>
  <Notes>8</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8</vt:i4>
      </vt:variant>
    </vt:vector>
  </HeadingPairs>
  <TitlesOfParts>
    <vt:vector size="13" baseType="lpstr">
      <vt:lpstr>Arial</vt:lpstr>
      <vt:lpstr>Calibri</vt:lpstr>
      <vt:lpstr>Cambria</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Marios Poulis</cp:lastModifiedBy>
  <cp:revision>2</cp:revision>
  <dcterms:created xsi:type="dcterms:W3CDTF">2026-09-21T09:42:31Z</dcterms:created>
  <dcterms:modified xsi:type="dcterms:W3CDTF">2026-09-21T09:49:30Z</dcterms:modified>
</cp:coreProperties>
</file>