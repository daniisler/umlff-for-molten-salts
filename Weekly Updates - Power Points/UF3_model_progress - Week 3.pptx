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22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A1D29"/>
                </a:solidFill>
                <a:latin typeface="Calibri"/>
              </a:defRPr>
            </a:pPr>
            <a:r>
              <a:rPr lang="en-GB" sz="1300" b="0" i="0" u="none" strike="noStrike">
                <a:solidFill>
                  <a:srgbClr val="1A1D29"/>
                </a:solidFill>
                <a:latin typeface="Calibri"/>
              </a:rPr>
              <a:t>Force RMSE  (meV/Å)  —  lower is better</a:t>
            </a:r>
          </a:p>
        </c:rich>
      </c:tx>
      <c:overlay val="0"/>
    </c:title>
    <c:autoTitleDeleted val="0"/>
    <c:plotArea>
      <c:layout/>
      <c:barChart>
        <c:barDir val="col"/>
        <c:grouping val="clustered"/>
        <c:varyColors val="0"/>
        <c:ser>
          <c:idx val="0"/>
          <c:order val="0"/>
          <c:tx>
            <c:strRef>
              <c:f>Sheet1!$B$1</c:f>
              <c:strCache>
                <c:ptCount val="1"/>
                <c:pt idx="0">
                  <c:v>UF3 2-body (ours)</c:v>
                </c:pt>
              </c:strCache>
            </c:strRef>
          </c:tx>
          <c:spPr>
            <a:solidFill>
              <a:srgbClr val="F2711C"/>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Sheet1!$B$2:$B$3</c:f>
              <c:numCache>
                <c:formatCode>General</c:formatCode>
                <c:ptCount val="2"/>
                <c:pt idx="0">
                  <c:v>302</c:v>
                </c:pt>
                <c:pt idx="1">
                  <c:v>278</c:v>
                </c:pt>
              </c:numCache>
            </c:numRef>
          </c:val>
          <c:extLst>
            <c:ext xmlns:c16="http://schemas.microsoft.com/office/drawing/2014/chart" uri="{C3380CC4-5D6E-409C-BE32-E72D297353CC}">
              <c16:uniqueId val="{00000000-BE1A-FC4D-B39B-764459020CBF}"/>
            </c:ext>
          </c:extLst>
        </c:ser>
        <c:ser>
          <c:idx val="1"/>
          <c:order val="1"/>
          <c:tx>
            <c:strRef>
              <c:f>Sheet1!$C$1</c:f>
              <c:strCache>
                <c:ptCount val="1"/>
                <c:pt idx="0">
                  <c:v>MACE-swa (target)</c:v>
                </c:pt>
              </c:strCache>
            </c:strRef>
          </c:tx>
          <c:spPr>
            <a:solidFill>
              <a:srgbClr val="2FB6A8"/>
            </a:solidFill>
            <a:effectLst/>
          </c:spPr>
          <c:invertIfNegative val="0"/>
          <c:dLbls>
            <c:numFmt formatCode="0" sourceLinked="0"/>
            <c:spPr>
              <a:noFill/>
              <a:ln>
                <a:noFill/>
              </a:ln>
              <a:effectLst/>
            </c:spPr>
            <c:txPr>
              <a:bodyPr/>
              <a:lstStyle/>
              <a:p>
                <a:pPr>
                  <a:defRPr sz="1100" b="0" i="0" u="none" strike="noStrike">
                    <a:solidFill>
                      <a:srgbClr val="1A1D29"/>
                    </a:solidFill>
                    <a:latin typeface="Calibri"/>
                  </a:defRPr>
                </a:pPr>
                <a:endParaRPr lang="en-G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Test 1 (ternary)</c:v>
                </c:pt>
                <c:pt idx="1">
                  <c:v>Test 2 (multi-cation)</c:v>
                </c:pt>
              </c:strCache>
            </c:strRef>
          </c:cat>
          <c:val>
            <c:numRef>
              <c:f>Sheet1!$C$2:$C$3</c:f>
              <c:numCache>
                <c:formatCode>General</c:formatCode>
                <c:ptCount val="2"/>
                <c:pt idx="0">
                  <c:v>17.600000000000001</c:v>
                </c:pt>
                <c:pt idx="1">
                  <c:v>24.4</c:v>
                </c:pt>
              </c:numCache>
            </c:numRef>
          </c:val>
          <c:extLst>
            <c:ext xmlns:c16="http://schemas.microsoft.com/office/drawing/2014/chart" uri="{C3380CC4-5D6E-409C-BE32-E72D297353CC}">
              <c16:uniqueId val="{00000001-BE1A-FC4D-B39B-764459020C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D29"/>
                </a:solidFill>
                <a:latin typeface="Calibri"/>
              </a:defRPr>
            </a:pPr>
            <a:endParaRPr lang="en-US"/>
          </a:p>
        </c:txPr>
        <c:crossAx val="2094734552"/>
        <c:crosses val="autoZero"/>
        <c:auto val="1"/>
        <c:lblAlgn val="ctr"/>
        <c:lblOffset val="100"/>
        <c:noMultiLvlLbl val="1"/>
      </c:catAx>
      <c:valAx>
        <c:axId val="2094734552"/>
        <c:scaling>
          <c:orientation val="minMax"/>
          <c:max val="320"/>
          <c:min val="0"/>
        </c:scaling>
        <c:delete val="0"/>
        <c:axPos val="l"/>
        <c:majorGridlines>
          <c:spPr>
            <a:ln w="12700" cap="flat">
              <a:solidFill>
                <a:srgbClr val="E3E5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D29"/>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420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Daniel. Last week was the SuperSalt reproduction — that baseline is validated and locked in. This week I moved onto our own model: first I made sure I actually understand UF3, then I built the 2-body version of it from scratch and got real numbers on both test sets. Let me walk you through the method, then the model I built, then the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for today: what UF3 is under the hood, then the 2-body term specifically, then the pipeline I built to train it, and finally the accuracy I'm getting and what I want to do next.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instead of one big neural network, UF3 writes the energy as a sum of simple pieces — a per-element offset, a pair term for every two atoms, and in principle a three-body term for triangles. Each piece is a flexible spline curve fit to the DFT data. Because energy is linear in those spline coefficients, training is just a regularized least-squares solve — that's why it's fast to fit and cheap to run. This week I built the pair term; the triangle term is a later extension.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pair term is a potential-energy curve as a function of distance between two atoms. Lennard-Jones and Morse are the classic fixed-formula versions with a couple of parameters; UF3 replaces the formula with a spline of about fifteen coefficients, so it can take a shape the fixed forms can't. You read it left to right: the steep wall is atomic size, the dip is the bond length, its depth is bond strength, its sharpness is stiffness. The key limitation to keep in mind: it only sees distance, never angle — that matters for the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five steps. Define the system and get the list of element pairs; build a B-spline basis for each pair, which comes out to 1,416 coefficients; featurize every structure and force into rows of spline values; fit all the coefficients in a single regularized least-squares solve — no iterative training; and wrap the result as an ASE calculator. Because it's the same calculator interface as MACE, the exact scoring loop from last week's reproduction works on UF3 unchanged.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first working model, scored on a fixed larger slice of each test set so the numbers are stable and not sampling noise. Energies land around 13 to 15 meV per atom — the energy surface is roughly in the right place. Forces are about 280 to 300 meV per angstrom, which is well above MACE. That gap is expected and structural: a pair term only sees distances, so it can't reproduce the angular part of the forces in a liquid. I also found that adding more training data barely moved the force error — that tells me we're near the limit of what a pure pair description can do. So the honest read is: a real, end-to-end model that runs on both test sets, energies reasonable, forces the known weak point of a pair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tested whether the 3-body term actually helps. Full 3-body on all twelve elements is intractable — 111 thousand features — so I tested it on three-element subsystems: two with a directional cation, Mg and Zr, and one spherical control with K and Rb. The result is clean: on the directional systems 3-body cuts the force error by 21 to 35 percent, but on the spherical control it barely moves, five percent, because those round ions were already well described by pairs. So the angular term earns its keep exactly where the physics says it should. Numbers are on small subsystems with a short 4-angstrom 3-body cutoff, so treat them as a proof of concept, but the pattern is unambiguous.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firm up the 3-body result with more data and a longer cutoff, and add another directional cation like Zn — the featurization is slow so I'm running that off the laptop. Then score on the full test sets with the fast matrix-multiply evaluation rather than the slow calculator loop. And then the apples-to-apples comparison against SuperSalt on identical frames, with a speed and cost figure — that's the real point of the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141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1463040"/>
            <a:ext cx="5120640" cy="5120640"/>
          </a:xfrm>
          <a:prstGeom prst="ellipse">
            <a:avLst/>
          </a:prstGeom>
          <a:solidFill>
            <a:srgbClr val="F2711C">
              <a:alpha val="18000"/>
            </a:srgbClr>
          </a:solidFill>
          <a:ln/>
        </p:spPr>
        <p:txBody>
          <a:bodyPr/>
          <a:lstStyle/>
          <a:p>
            <a:endParaRPr lang="en-GR"/>
          </a:p>
        </p:txBody>
      </p:sp>
      <p:sp>
        <p:nvSpPr>
          <p:cNvPr id="3" name="Shape 1"/>
          <p:cNvSpPr/>
          <p:nvPr/>
        </p:nvSpPr>
        <p:spPr>
          <a:xfrm>
            <a:off x="10058400" y="3291840"/>
            <a:ext cx="4206240" cy="4206240"/>
          </a:xfrm>
          <a:prstGeom prst="ellipse">
            <a:avLst/>
          </a:prstGeom>
          <a:solidFill>
            <a:srgbClr val="F5A623">
              <a:alpha val="12000"/>
            </a:srgbClr>
          </a:solidFill>
          <a:ln/>
        </p:spPr>
        <p:txBody>
          <a:bodyPr/>
          <a:lstStyle/>
          <a:p>
            <a:endParaRPr lang="en-GR"/>
          </a:p>
        </p:txBody>
      </p:sp>
      <p:sp>
        <p:nvSpPr>
          <p:cNvPr id="4" name="Text 2"/>
          <p:cNvSpPr txBox="1"/>
          <p:nvPr/>
        </p:nvSpPr>
        <p:spPr>
          <a:xfrm>
            <a:off x="640080" y="1920240"/>
            <a:ext cx="9144000" cy="365760"/>
          </a:xfrm>
          <a:prstGeom prst="rect">
            <a:avLst/>
          </a:prstGeom>
          <a:noFill/>
          <a:ln/>
        </p:spPr>
        <p:txBody>
          <a:bodyPr wrap="square" lIns="0" tIns="0" rIns="0" bIns="0" rtlCol="0" anchor="ctr"/>
          <a:lstStyle/>
          <a:p>
            <a:pPr marL="0" indent="0">
              <a:buNone/>
            </a:pPr>
            <a:r>
              <a:rPr lang="en-US" sz="1400" b="1" kern="0" spc="300" dirty="0">
                <a:solidFill>
                  <a:srgbClr val="F5A623"/>
                </a:solidFill>
                <a:latin typeface="Calibri" pitchFamily="34" charset="0"/>
                <a:ea typeface="Calibri" pitchFamily="34" charset="-122"/>
                <a:cs typeface="Calibri" pitchFamily="34" charset="-120"/>
              </a:rPr>
              <a:t>WEEKLY PROGRESS · WEEK 3</a:t>
            </a:r>
            <a:endParaRPr lang="en-US" sz="1400" dirty="0"/>
          </a:p>
        </p:txBody>
      </p:sp>
      <p:sp>
        <p:nvSpPr>
          <p:cNvPr id="5" name="Text 3"/>
          <p:cNvSpPr txBox="1"/>
          <p:nvPr/>
        </p:nvSpPr>
        <p:spPr>
          <a:xfrm>
            <a:off x="640080" y="233172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Building the UF3 model</a:t>
            </a:r>
            <a:endParaRPr lang="en-US" sz="4400" dirty="0"/>
          </a:p>
        </p:txBody>
      </p:sp>
      <p:sp>
        <p:nvSpPr>
          <p:cNvPr id="6" name="Text 4"/>
          <p:cNvSpPr txBox="1"/>
          <p:nvPr/>
        </p:nvSpPr>
        <p:spPr>
          <a:xfrm>
            <a:off x="640080" y="3429000"/>
            <a:ext cx="10515600" cy="457200"/>
          </a:xfrm>
          <a:prstGeom prst="rect">
            <a:avLst/>
          </a:prstGeom>
          <a:noFill/>
          <a:ln/>
        </p:spPr>
        <p:txBody>
          <a:bodyPr wrap="square" lIns="0" tIns="0" rIns="0" bIns="0" rtlCol="0" anchor="ctr"/>
          <a:lstStyle/>
          <a:p>
            <a:pPr marL="0" indent="0">
              <a:buNone/>
            </a:pPr>
            <a:endParaRPr lang="en-US" sz="1600" dirty="0"/>
          </a:p>
        </p:txBody>
      </p:sp>
      <p:sp>
        <p:nvSpPr>
          <p:cNvPr id="7" name="Text 5"/>
          <p:cNvSpPr txBox="1"/>
          <p:nvPr/>
        </p:nvSpPr>
        <p:spPr>
          <a:xfrm>
            <a:off x="640080" y="5212080"/>
            <a:ext cx="100584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Marios Poulis</a:t>
            </a:r>
            <a:endParaRPr lang="en-US" sz="1500" dirty="0"/>
          </a:p>
        </p:txBody>
      </p:sp>
      <p:sp>
        <p:nvSpPr>
          <p:cNvPr id="8" name="Text 6"/>
          <p:cNvSpPr txBox="1"/>
          <p:nvPr/>
        </p:nvSpPr>
        <p:spPr>
          <a:xfrm>
            <a:off x="640080" y="5577840"/>
            <a:ext cx="10058400" cy="365760"/>
          </a:xfrm>
          <a:prstGeom prst="rect">
            <a:avLst/>
          </a:prstGeom>
          <a:noFill/>
          <a:ln/>
        </p:spPr>
        <p:txBody>
          <a:bodyPr wrap="square" lIns="0" tIns="0" rIns="0" bIns="0" rtlCol="0" anchor="ctr"/>
          <a:lstStyle/>
          <a:p>
            <a:pPr marL="0" indent="0">
              <a:buNone/>
            </a:pPr>
            <a:r>
              <a:rPr lang="en-US" sz="1300" dirty="0">
                <a:solidFill>
                  <a:srgbClr val="9AA0AC"/>
                </a:solidFill>
                <a:latin typeface="Calibri" pitchFamily="34" charset="0"/>
                <a:ea typeface="Calibri" pitchFamily="34" charset="-122"/>
                <a:cs typeface="Calibri" pitchFamily="34" charset="-120"/>
              </a:rPr>
              <a:t>Monday 21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This week</a:t>
            </a:r>
            <a:endParaRPr lang="en-US" sz="3200" dirty="0"/>
          </a:p>
        </p:txBody>
      </p:sp>
      <p:sp>
        <p:nvSpPr>
          <p:cNvPr id="4" name="Shape 2"/>
          <p:cNvSpPr/>
          <p:nvPr/>
        </p:nvSpPr>
        <p:spPr>
          <a:xfrm>
            <a:off x="548640" y="2103120"/>
            <a:ext cx="658368" cy="658368"/>
          </a:xfrm>
          <a:prstGeom prst="ellipse">
            <a:avLst/>
          </a:prstGeom>
          <a:solidFill>
            <a:srgbClr val="F5A623"/>
          </a:solidFill>
          <a:ln/>
        </p:spPr>
        <p:txBody>
          <a:bodyPr/>
          <a:lstStyle/>
          <a:p>
            <a:endParaRPr lang="en-GR"/>
          </a:p>
        </p:txBody>
      </p:sp>
      <p:sp>
        <p:nvSpPr>
          <p:cNvPr id="5" name="Text 3"/>
          <p:cNvSpPr txBox="1"/>
          <p:nvPr/>
        </p:nvSpPr>
        <p:spPr>
          <a:xfrm>
            <a:off x="548640" y="21031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0848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What UF3 actually is</a:t>
            </a:r>
            <a:endParaRPr lang="en-US" sz="1800" dirty="0"/>
          </a:p>
        </p:txBody>
      </p:sp>
      <p:sp>
        <p:nvSpPr>
          <p:cNvPr id="7" name="Text 5"/>
          <p:cNvSpPr txBox="1"/>
          <p:nvPr/>
        </p:nvSpPr>
        <p:spPr>
          <a:xfrm>
            <a:off x="1463040" y="24323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The many-body expansion, flexible splines, a linear fit</a:t>
            </a:r>
            <a:endParaRPr lang="en-US" sz="1350" dirty="0"/>
          </a:p>
        </p:txBody>
      </p:sp>
      <p:sp>
        <p:nvSpPr>
          <p:cNvPr id="8" name="Shape 6"/>
          <p:cNvSpPr/>
          <p:nvPr/>
        </p:nvSpPr>
        <p:spPr>
          <a:xfrm>
            <a:off x="548640" y="3017520"/>
            <a:ext cx="658368" cy="658368"/>
          </a:xfrm>
          <a:prstGeom prst="ellipse">
            <a:avLst/>
          </a:prstGeom>
          <a:solidFill>
            <a:srgbClr val="2FB6A8"/>
          </a:solidFill>
          <a:ln/>
        </p:spPr>
        <p:txBody>
          <a:bodyPr/>
          <a:lstStyle/>
          <a:p>
            <a:endParaRPr lang="en-GR"/>
          </a:p>
        </p:txBody>
      </p:sp>
      <p:sp>
        <p:nvSpPr>
          <p:cNvPr id="9" name="Text 7"/>
          <p:cNvSpPr txBox="1"/>
          <p:nvPr/>
        </p:nvSpPr>
        <p:spPr>
          <a:xfrm>
            <a:off x="548640" y="30175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10" name="Text 8"/>
          <p:cNvSpPr txBox="1"/>
          <p:nvPr/>
        </p:nvSpPr>
        <p:spPr>
          <a:xfrm>
            <a:off x="1463040" y="29992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2-body term and 3-body term</a:t>
            </a:r>
            <a:endParaRPr lang="en-US" sz="1800" dirty="0"/>
          </a:p>
        </p:txBody>
      </p:sp>
      <p:sp>
        <p:nvSpPr>
          <p:cNvPr id="11" name="Text 9"/>
          <p:cNvSpPr txBox="1"/>
          <p:nvPr/>
        </p:nvSpPr>
        <p:spPr>
          <a:xfrm>
            <a:off x="1463040" y="33467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A learned pair potential — what it captures and what it can't</a:t>
            </a:r>
            <a:endParaRPr lang="en-US" sz="1350" dirty="0"/>
          </a:p>
        </p:txBody>
      </p:sp>
      <p:sp>
        <p:nvSpPr>
          <p:cNvPr id="12" name="Shape 10"/>
          <p:cNvSpPr/>
          <p:nvPr/>
        </p:nvSpPr>
        <p:spPr>
          <a:xfrm>
            <a:off x="548640" y="3931920"/>
            <a:ext cx="658368" cy="658368"/>
          </a:xfrm>
          <a:prstGeom prst="ellipse">
            <a:avLst/>
          </a:prstGeom>
          <a:solidFill>
            <a:srgbClr val="F2711C"/>
          </a:solidFill>
          <a:ln/>
        </p:spPr>
        <p:txBody>
          <a:bodyPr/>
          <a:lstStyle/>
          <a:p>
            <a:endParaRPr lang="en-GR"/>
          </a:p>
        </p:txBody>
      </p:sp>
      <p:sp>
        <p:nvSpPr>
          <p:cNvPr id="13" name="Text 11"/>
          <p:cNvSpPr txBox="1"/>
          <p:nvPr/>
        </p:nvSpPr>
        <p:spPr>
          <a:xfrm>
            <a:off x="548640" y="39319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14" name="Text 12"/>
          <p:cNvSpPr txBox="1"/>
          <p:nvPr/>
        </p:nvSpPr>
        <p:spPr>
          <a:xfrm>
            <a:off x="1463040" y="39136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The pipeline I built</a:t>
            </a:r>
            <a:endParaRPr lang="en-US" sz="1800" dirty="0"/>
          </a:p>
        </p:txBody>
      </p:sp>
      <p:sp>
        <p:nvSpPr>
          <p:cNvPr id="15" name="Text 13"/>
          <p:cNvSpPr txBox="1"/>
          <p:nvPr/>
        </p:nvSpPr>
        <p:spPr>
          <a:xfrm>
            <a:off x="1463040" y="42611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Five steps from structures to a working ASE calculator</a:t>
            </a:r>
            <a:endParaRPr lang="en-US" sz="1350" dirty="0"/>
          </a:p>
        </p:txBody>
      </p:sp>
      <p:sp>
        <p:nvSpPr>
          <p:cNvPr id="16" name="Shape 14"/>
          <p:cNvSpPr/>
          <p:nvPr/>
        </p:nvSpPr>
        <p:spPr>
          <a:xfrm>
            <a:off x="548640" y="4846320"/>
            <a:ext cx="658368" cy="658368"/>
          </a:xfrm>
          <a:prstGeom prst="ellipse">
            <a:avLst/>
          </a:prstGeom>
          <a:solidFill>
            <a:srgbClr val="1A1D29"/>
          </a:solidFill>
          <a:ln/>
        </p:spPr>
        <p:txBody>
          <a:bodyPr/>
          <a:lstStyle/>
          <a:p>
            <a:endParaRPr lang="en-GR"/>
          </a:p>
        </p:txBody>
      </p:sp>
      <p:sp>
        <p:nvSpPr>
          <p:cNvPr id="17" name="Text 15"/>
          <p:cNvSpPr txBox="1"/>
          <p:nvPr/>
        </p:nvSpPr>
        <p:spPr>
          <a:xfrm>
            <a:off x="548640" y="4846320"/>
            <a:ext cx="658368"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18" name="Text 16"/>
          <p:cNvSpPr txBox="1"/>
          <p:nvPr/>
        </p:nvSpPr>
        <p:spPr>
          <a:xfrm>
            <a:off x="1463040" y="4828032"/>
            <a:ext cx="10058400" cy="365760"/>
          </a:xfrm>
          <a:prstGeom prst="rect">
            <a:avLst/>
          </a:prstGeom>
          <a:noFill/>
          <a:ln/>
        </p:spPr>
        <p:txBody>
          <a:bodyPr wrap="square" lIns="0" tIns="0" rIns="0" bIns="0" rtlCol="0" anchor="ctr"/>
          <a:lstStyle/>
          <a:p>
            <a:pPr marL="0" indent="0">
              <a:buNone/>
            </a:pPr>
            <a:r>
              <a:rPr lang="en-US" sz="1800" b="1" dirty="0">
                <a:solidFill>
                  <a:srgbClr val="1A1D29"/>
                </a:solidFill>
                <a:latin typeface="Calibri" pitchFamily="34" charset="0"/>
                <a:ea typeface="Calibri" pitchFamily="34" charset="-122"/>
                <a:cs typeface="Calibri" pitchFamily="34" charset="-120"/>
              </a:rPr>
              <a:t>Results &amp; next steps</a:t>
            </a:r>
            <a:endParaRPr lang="en-US" sz="1800" dirty="0"/>
          </a:p>
        </p:txBody>
      </p:sp>
      <p:sp>
        <p:nvSpPr>
          <p:cNvPr id="19" name="Text 17"/>
          <p:cNvSpPr txBox="1"/>
          <p:nvPr/>
        </p:nvSpPr>
        <p:spPr>
          <a:xfrm>
            <a:off x="1463040" y="5175504"/>
            <a:ext cx="10058400" cy="365760"/>
          </a:xfrm>
          <a:prstGeom prst="rect">
            <a:avLst/>
          </a:prstGeom>
          <a:noFill/>
          <a:ln/>
        </p:spPr>
        <p:txBody>
          <a:bodyPr wrap="square" lIns="0" tIns="0" rIns="0" bIns="0" rtlCol="0" anchor="ctr"/>
          <a:lstStyle/>
          <a:p>
            <a:pPr marL="0" indent="0">
              <a:buNone/>
            </a:pPr>
            <a:r>
              <a:rPr lang="en-US" sz="1350" dirty="0">
                <a:solidFill>
                  <a:srgbClr val="6B7280"/>
                </a:solidFill>
                <a:latin typeface="Calibri" pitchFamily="34" charset="0"/>
                <a:ea typeface="Calibri" pitchFamily="34" charset="-122"/>
                <a:cs typeface="Calibri" pitchFamily="34" charset="-120"/>
              </a:rPr>
              <a:t>2-body accuracy on both test sets, and where it goes</a:t>
            </a:r>
            <a:endParaRPr lang="en-US" sz="1350" dirty="0"/>
          </a:p>
        </p:txBody>
      </p:sp>
      <p:sp>
        <p:nvSpPr>
          <p:cNvPr id="21" name="Text 18"/>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2" name="Text 19"/>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METHOD</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What UF3 is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A force field written as a sum of simple interaction terms, each a flexible curve fit to DFT data.</a:t>
            </a:r>
            <a:endParaRPr lang="en-US" sz="1400" dirty="0"/>
          </a:p>
        </p:txBody>
      </p:sp>
      <p:sp>
        <p:nvSpPr>
          <p:cNvPr id="5" name="Shape 3"/>
          <p:cNvSpPr/>
          <p:nvPr/>
        </p:nvSpPr>
        <p:spPr>
          <a:xfrm>
            <a:off x="548640" y="1874520"/>
            <a:ext cx="11091672" cy="1051560"/>
          </a:xfrm>
          <a:prstGeom prst="roundRect">
            <a:avLst>
              <a:gd name="adj" fmla="val 5217"/>
            </a:avLst>
          </a:prstGeom>
          <a:solidFill>
            <a:srgbClr val="12141C"/>
          </a:solidFill>
          <a:ln/>
        </p:spPr>
        <p:txBody>
          <a:bodyPr/>
          <a:lstStyle/>
          <a:p>
            <a:endParaRPr lang="en-GR"/>
          </a:p>
        </p:txBody>
      </p:sp>
      <p:sp>
        <p:nvSpPr>
          <p:cNvPr id="6" name="Text 4"/>
          <p:cNvSpPr txBox="1"/>
          <p:nvPr/>
        </p:nvSpPr>
        <p:spPr>
          <a:xfrm>
            <a:off x="548640" y="1874520"/>
            <a:ext cx="11091672" cy="1051560"/>
          </a:xfrm>
          <a:prstGeom prst="rect">
            <a:avLst/>
          </a:prstGeom>
          <a:noFill/>
          <a:ln/>
        </p:spPr>
        <p:txBody>
          <a:bodyPr wrap="square" lIns="0" tIns="0" rIns="0" bIns="0" rtlCol="0" anchor="ctr"/>
          <a:lstStyle/>
          <a:p>
            <a:pPr marL="0" indent="0" algn="ctr">
              <a:buNone/>
            </a:pPr>
            <a:r>
              <a:rPr lang="en-US" sz="2400" dirty="0">
                <a:solidFill>
                  <a:srgbClr val="FFFFFF"/>
                </a:solidFill>
                <a:latin typeface="Cambria" pitchFamily="34" charset="0"/>
                <a:ea typeface="Cambria" pitchFamily="34" charset="-122"/>
                <a:cs typeface="Cambria" pitchFamily="34" charset="-120"/>
              </a:rPr>
              <a:t>E  ≈  </a:t>
            </a:r>
            <a:r>
              <a:rPr lang="en-US" sz="2400" dirty="0">
                <a:solidFill>
                  <a:srgbClr val="9AA0AC"/>
                </a:solidFill>
                <a:latin typeface="Cambria" pitchFamily="34" charset="0"/>
                <a:ea typeface="Cambria" pitchFamily="34" charset="-122"/>
                <a:cs typeface="Cambria" pitchFamily="34" charset="-120"/>
              </a:rPr>
              <a:t>Σ E₁</a:t>
            </a:r>
            <a:r>
              <a:rPr lang="en-US" sz="2400" dirty="0">
                <a:solidFill>
                  <a:srgbClr val="FFFFFF"/>
                </a:solidFill>
                <a:latin typeface="Cambria" pitchFamily="34" charset="0"/>
                <a:ea typeface="Cambria" pitchFamily="34" charset="-122"/>
                <a:cs typeface="Cambria" pitchFamily="34" charset="-120"/>
              </a:rPr>
              <a:t>  +  </a:t>
            </a:r>
            <a:r>
              <a:rPr lang="en-US" sz="2400" b="1" dirty="0">
                <a:solidFill>
                  <a:srgbClr val="F2711C"/>
                </a:solidFill>
                <a:latin typeface="Cambria" pitchFamily="34" charset="0"/>
                <a:ea typeface="Cambria" pitchFamily="34" charset="-122"/>
                <a:cs typeface="Cambria" pitchFamily="34" charset="-120"/>
              </a:rPr>
              <a:t>½ Σ V₂(r)</a:t>
            </a:r>
            <a:r>
              <a:rPr lang="en-US" sz="2400" dirty="0">
                <a:solidFill>
                  <a:srgbClr val="FFFFFF"/>
                </a:solidFill>
                <a:latin typeface="Cambria" pitchFamily="34" charset="0"/>
                <a:ea typeface="Cambria" pitchFamily="34" charset="-122"/>
                <a:cs typeface="Cambria" pitchFamily="34" charset="-120"/>
              </a:rPr>
              <a:t>  +  </a:t>
            </a:r>
            <a:r>
              <a:rPr lang="en-US" sz="2400" dirty="0">
                <a:solidFill>
                  <a:srgbClr val="5A6070"/>
                </a:solidFill>
                <a:latin typeface="Cambria" pitchFamily="34" charset="0"/>
                <a:ea typeface="Cambria" pitchFamily="34" charset="-122"/>
                <a:cs typeface="Cambria" pitchFamily="34" charset="-120"/>
              </a:rPr>
              <a:t>⅙ Σ V₃(triangle)</a:t>
            </a:r>
            <a:endParaRPr lang="en-US" sz="2400" dirty="0"/>
          </a:p>
        </p:txBody>
      </p:sp>
      <p:sp>
        <p:nvSpPr>
          <p:cNvPr id="7" name="Text 5"/>
          <p:cNvSpPr txBox="1"/>
          <p:nvPr/>
        </p:nvSpPr>
        <p:spPr>
          <a:xfrm>
            <a:off x="548640" y="2971800"/>
            <a:ext cx="11091672" cy="274320"/>
          </a:xfrm>
          <a:prstGeom prst="rect">
            <a:avLst/>
          </a:prstGeom>
          <a:noFill/>
          <a:ln/>
        </p:spPr>
        <p:txBody>
          <a:bodyPr wrap="square" lIns="0" tIns="0" rIns="0" bIns="0"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one-body offsets      +      pairs (built this week)      +      triangles (a later extension)</a:t>
            </a:r>
            <a:endParaRPr lang="en-US" sz="1200" dirty="0"/>
          </a:p>
        </p:txBody>
      </p:sp>
      <p:sp>
        <p:nvSpPr>
          <p:cNvPr id="8" name="Shape 6"/>
          <p:cNvSpPr/>
          <p:nvPr/>
        </p:nvSpPr>
        <p:spPr>
          <a:xfrm>
            <a:off x="548640"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9" name="Text 7"/>
          <p:cNvSpPr txBox="1"/>
          <p:nvPr/>
        </p:nvSpPr>
        <p:spPr>
          <a:xfrm>
            <a:off x="804672" y="3730752"/>
            <a:ext cx="3063240" cy="68580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Flexible curves</a:t>
            </a:r>
            <a:endParaRPr lang="en-US" sz="1700" dirty="0"/>
          </a:p>
        </p:txBody>
      </p:sp>
      <p:sp>
        <p:nvSpPr>
          <p:cNvPr id="10" name="Text 8"/>
          <p:cNvSpPr txBox="1"/>
          <p:nvPr/>
        </p:nvSpPr>
        <p:spPr>
          <a:xfrm>
            <a:off x="804672"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Each term is a cubic B-spline — a smooth curve made of local bumps — not a fixed formula. It bends to fit whatever the DFT data shows.</a:t>
            </a:r>
            <a:endParaRPr lang="en-US" sz="1300" dirty="0"/>
          </a:p>
        </p:txBody>
      </p:sp>
      <p:sp>
        <p:nvSpPr>
          <p:cNvPr id="11" name="Shape 9"/>
          <p:cNvSpPr/>
          <p:nvPr/>
        </p:nvSpPr>
        <p:spPr>
          <a:xfrm>
            <a:off x="4325112"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2" name="Text 10"/>
          <p:cNvSpPr txBox="1"/>
          <p:nvPr/>
        </p:nvSpPr>
        <p:spPr>
          <a:xfrm>
            <a:off x="4581144" y="3730752"/>
            <a:ext cx="3063240" cy="685800"/>
          </a:xfrm>
          <a:prstGeom prst="rect">
            <a:avLst/>
          </a:prstGeom>
          <a:noFill/>
          <a:ln/>
        </p:spPr>
        <p:txBody>
          <a:bodyPr wrap="square" lIns="0" tIns="0" rIns="0" bIns="0" rtlCol="0" anchor="ctr"/>
          <a:lstStyle/>
          <a:p>
            <a:pPr marL="0" indent="0">
              <a:buNone/>
            </a:pPr>
            <a:r>
              <a:rPr lang="en-US" sz="1700" b="1" dirty="0">
                <a:solidFill>
                  <a:srgbClr val="2FB6A8"/>
                </a:solidFill>
                <a:latin typeface="Cambria" pitchFamily="34" charset="0"/>
                <a:ea typeface="Cambria" pitchFamily="34" charset="-122"/>
                <a:cs typeface="Cambria" pitchFamily="34" charset="-120"/>
              </a:rPr>
              <a:t>A linear fit</a:t>
            </a:r>
            <a:endParaRPr lang="en-US" sz="1700" dirty="0"/>
          </a:p>
        </p:txBody>
      </p:sp>
      <p:sp>
        <p:nvSpPr>
          <p:cNvPr id="13" name="Text 11"/>
          <p:cNvSpPr txBox="1"/>
          <p:nvPr/>
        </p:nvSpPr>
        <p:spPr>
          <a:xfrm>
            <a:off x="4581144"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Energy is linear in the spline coefficients, so training is one regularized least-squares solve — no iterative neural-network training.</a:t>
            </a:r>
            <a:endParaRPr lang="en-US" sz="1300" dirty="0"/>
          </a:p>
        </p:txBody>
      </p:sp>
      <p:sp>
        <p:nvSpPr>
          <p:cNvPr id="14" name="Shape 12"/>
          <p:cNvSpPr/>
          <p:nvPr/>
        </p:nvSpPr>
        <p:spPr>
          <a:xfrm>
            <a:off x="8101584" y="3520440"/>
            <a:ext cx="3538728" cy="2606040"/>
          </a:xfrm>
          <a:prstGeom prst="roundRect">
            <a:avLst>
              <a:gd name="adj" fmla="val 2807"/>
            </a:avLst>
          </a:prstGeom>
          <a:solidFill>
            <a:srgbClr val="F4F5F7"/>
          </a:solidFill>
          <a:ln w="12700">
            <a:solidFill>
              <a:srgbClr val="E3E5EA"/>
            </a:solidFill>
            <a:prstDash val="solid"/>
          </a:ln>
        </p:spPr>
        <p:txBody>
          <a:bodyPr/>
          <a:lstStyle/>
          <a:p>
            <a:endParaRPr lang="en-GR"/>
          </a:p>
        </p:txBody>
      </p:sp>
      <p:sp>
        <p:nvSpPr>
          <p:cNvPr id="15" name="Text 13"/>
          <p:cNvSpPr txBox="1"/>
          <p:nvPr/>
        </p:nvSpPr>
        <p:spPr>
          <a:xfrm>
            <a:off x="8357616" y="3730752"/>
            <a:ext cx="3063240" cy="685800"/>
          </a:xfrm>
          <a:prstGeom prst="rect">
            <a:avLst/>
          </a:prstGeom>
          <a:noFill/>
          <a:ln/>
        </p:spPr>
        <p:txBody>
          <a:bodyPr wrap="square" lIns="0" tIns="0" rIns="0" bIns="0" rtlCol="0" anchor="ctr"/>
          <a:lstStyle/>
          <a:p>
            <a:pPr marL="0" indent="0">
              <a:buNone/>
            </a:pPr>
            <a:r>
              <a:rPr lang="en-US" sz="1700" b="1" dirty="0">
                <a:solidFill>
                  <a:srgbClr val="F5A623"/>
                </a:solidFill>
                <a:latin typeface="Cambria" pitchFamily="34" charset="0"/>
                <a:ea typeface="Cambria" pitchFamily="34" charset="-122"/>
                <a:cs typeface="Cambria" pitchFamily="34" charset="-120"/>
              </a:rPr>
              <a:t>“Ultra-fast”</a:t>
            </a:r>
            <a:endParaRPr lang="en-US" sz="1700" dirty="0"/>
          </a:p>
        </p:txBody>
      </p:sp>
      <p:sp>
        <p:nvSpPr>
          <p:cNvPr id="16" name="Text 14"/>
          <p:cNvSpPr txBox="1"/>
          <p:nvPr/>
        </p:nvSpPr>
        <p:spPr>
          <a:xfrm>
            <a:off x="8357616" y="4370832"/>
            <a:ext cx="3063240" cy="1645920"/>
          </a:xfrm>
          <a:prstGeom prst="rect">
            <a:avLst/>
          </a:prstGeom>
          <a:noFill/>
          <a:ln/>
        </p:spPr>
        <p:txBody>
          <a:bodyPr wrap="square" lIns="0" tIns="0" rIns="0" bIns="0" rtlCol="0" anchor="ctr"/>
          <a:lstStyle/>
          <a:p>
            <a:pPr marL="0" indent="0">
              <a:lnSpc>
                <a:spcPct val="112000"/>
              </a:lnSpc>
              <a:buNone/>
            </a:pPr>
            <a:r>
              <a:rPr lang="en-US" sz="1300" dirty="0">
                <a:solidFill>
                  <a:srgbClr val="1A1D29"/>
                </a:solidFill>
                <a:latin typeface="Calibri" pitchFamily="34" charset="0"/>
                <a:ea typeface="Calibri" pitchFamily="34" charset="-122"/>
                <a:cs typeface="Calibri" pitchFamily="34" charset="-120"/>
              </a:rPr>
              <a:t>That linear form is the whole point: fitting is seconds, and evaluating the potential in MD is far cheaper than a neural network.</a:t>
            </a:r>
            <a:endParaRPr lang="en-US" sz="1300" dirty="0"/>
          </a:p>
        </p:txBody>
      </p:sp>
      <p:sp>
        <p:nvSpPr>
          <p:cNvPr id="18"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9"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THE BUILDING BLOCK</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2-body term: a learned pair potential</a:t>
            </a:r>
            <a:endParaRPr lang="en-US" sz="3200" dirty="0"/>
          </a:p>
        </p:txBody>
      </p:sp>
      <p:pic>
        <p:nvPicPr>
          <p:cNvPr id="4" name="Image 0" descr="/tmp/claude-0/-home-claude/fccb0421-ce31-56d7-8f9a-a4b2db061784/scratchpad/uf3_potentials.png"/>
          <p:cNvPicPr>
            <a:picLocks noChangeAspect="1"/>
          </p:cNvPicPr>
          <p:nvPr/>
        </p:nvPicPr>
        <p:blipFill>
          <a:blip r:embed="rId3"/>
          <a:stretch>
            <a:fillRect/>
          </a:stretch>
        </p:blipFill>
        <p:spPr>
          <a:xfrm>
            <a:off x="457200" y="1554480"/>
            <a:ext cx="7040880" cy="2871216"/>
          </a:xfrm>
          <a:prstGeom prst="rect">
            <a:avLst/>
          </a:prstGeom>
        </p:spPr>
      </p:pic>
      <p:sp>
        <p:nvSpPr>
          <p:cNvPr id="5" name="Text 2"/>
          <p:cNvSpPr txBox="1"/>
          <p:nvPr/>
        </p:nvSpPr>
        <p:spPr>
          <a:xfrm>
            <a:off x="457200" y="4526280"/>
            <a:ext cx="7040880" cy="731520"/>
          </a:xfrm>
          <a:prstGeom prst="rect">
            <a:avLst/>
          </a:prstGeom>
          <a:noFill/>
          <a:ln/>
        </p:spPr>
        <p:txBody>
          <a:bodyPr wrap="square" lIns="0" tIns="0" rIns="0" bIns="0" rtlCol="0" anchor="ctr"/>
          <a:lstStyle/>
          <a:p>
            <a:pPr marL="0" indent="0">
              <a:lnSpc>
                <a:spcPct val="110000"/>
              </a:lnSpc>
              <a:buNone/>
            </a:pPr>
            <a:r>
              <a:rPr lang="en-US" sz="1200" i="1" dirty="0">
                <a:solidFill>
                  <a:srgbClr val="6B7280"/>
                </a:solidFill>
                <a:latin typeface="Calibri" pitchFamily="34" charset="0"/>
                <a:ea typeface="Calibri" pitchFamily="34" charset="-122"/>
                <a:cs typeface="Calibri" pitchFamily="34" charset="-120"/>
              </a:rPr>
              <a:t>Left: fixed formulas (Lennard-Jones, Morse) have 2–3 knobs.  Right: UF3's pair term is a spline — ~15 coefficients — so it can take a shape the fixed forms can't.</a:t>
            </a:r>
            <a:endParaRPr lang="en-US" sz="1200" dirty="0"/>
          </a:p>
        </p:txBody>
      </p:sp>
      <p:sp>
        <p:nvSpPr>
          <p:cNvPr id="6" name="Shape 3"/>
          <p:cNvSpPr/>
          <p:nvPr/>
        </p:nvSpPr>
        <p:spPr>
          <a:xfrm>
            <a:off x="7772400" y="1554480"/>
            <a:ext cx="3886200" cy="4434840"/>
          </a:xfrm>
          <a:prstGeom prst="roundRect">
            <a:avLst>
              <a:gd name="adj" fmla="val 1882"/>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046720" y="1783080"/>
            <a:ext cx="338328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Reading the curve V₂(r)</a:t>
            </a:r>
            <a:endParaRPr lang="en-US" sz="1700" dirty="0"/>
          </a:p>
        </p:txBody>
      </p:sp>
      <p:sp>
        <p:nvSpPr>
          <p:cNvPr id="8" name="Text 5"/>
          <p:cNvSpPr txBox="1"/>
          <p:nvPr/>
        </p:nvSpPr>
        <p:spPr>
          <a:xfrm>
            <a:off x="8046720" y="2286000"/>
            <a:ext cx="3383280" cy="2651760"/>
          </a:xfrm>
          <a:prstGeom prst="rect">
            <a:avLst/>
          </a:prstGeom>
          <a:noFill/>
          <a:ln/>
        </p:spPr>
        <p:txBody>
          <a:bodyPr wrap="square" lIns="0" tIns="0" rIns="0" bIns="0" rtlCol="0" anchor="ctr"/>
          <a:lstStyle/>
          <a:p>
            <a:pPr marL="0" indent="0">
              <a:lnSpc>
                <a:spcPct val="115000"/>
              </a:lnSpc>
              <a:spcAft>
                <a:spcPts val="700"/>
              </a:spcAft>
              <a:buNone/>
            </a:pPr>
            <a:r>
              <a:rPr lang="en-US" sz="1350" b="1" dirty="0">
                <a:solidFill>
                  <a:srgbClr val="1A1D29"/>
                </a:solidFill>
                <a:latin typeface="Calibri" pitchFamily="34" charset="0"/>
                <a:ea typeface="Calibri" pitchFamily="34" charset="-122"/>
                <a:cs typeface="Calibri" pitchFamily="34" charset="-120"/>
              </a:rPr>
              <a:t>Repulsive wall  </a:t>
            </a:r>
            <a:r>
              <a:rPr lang="en-US" sz="1350" dirty="0">
                <a:solidFill>
                  <a:srgbClr val="1A1D29"/>
                </a:solidFill>
                <a:latin typeface="Calibri" pitchFamily="34" charset="0"/>
                <a:ea typeface="Calibri" pitchFamily="34" charset="-122"/>
                <a:cs typeface="Calibri" pitchFamily="34" charset="-120"/>
              </a:rPr>
              <a:t>— how close two atoms can get (their size).
</a:t>
            </a:r>
            <a:r>
              <a:rPr lang="en-US" sz="1350" b="1" dirty="0">
                <a:solidFill>
                  <a:srgbClr val="1A1D29"/>
                </a:solidFill>
                <a:latin typeface="Calibri" pitchFamily="34" charset="0"/>
                <a:ea typeface="Calibri" pitchFamily="34" charset="-122"/>
                <a:cs typeface="Calibri" pitchFamily="34" charset="-120"/>
              </a:rPr>
              <a:t>Minimum position  </a:t>
            </a:r>
            <a:r>
              <a:rPr lang="en-US" sz="1350" dirty="0">
                <a:solidFill>
                  <a:srgbClr val="1A1D29"/>
                </a:solidFill>
                <a:latin typeface="Calibri" pitchFamily="34" charset="0"/>
                <a:ea typeface="Calibri" pitchFamily="34" charset="-122"/>
                <a:cs typeface="Calibri" pitchFamily="34" charset="-120"/>
              </a:rPr>
              <a:t>— the preferred bond length.
</a:t>
            </a:r>
            <a:r>
              <a:rPr lang="en-US" sz="1350" b="1" dirty="0">
                <a:solidFill>
                  <a:srgbClr val="1A1D29"/>
                </a:solidFill>
                <a:latin typeface="Calibri" pitchFamily="34" charset="0"/>
                <a:ea typeface="Calibri" pitchFamily="34" charset="-122"/>
                <a:cs typeface="Calibri" pitchFamily="34" charset="-120"/>
              </a:rPr>
              <a:t>Well depth  </a:t>
            </a:r>
            <a:r>
              <a:rPr lang="en-US" sz="1350" dirty="0">
                <a:solidFill>
                  <a:srgbClr val="1A1D29"/>
                </a:solidFill>
                <a:latin typeface="Calibri" pitchFamily="34" charset="0"/>
                <a:ea typeface="Calibri" pitchFamily="34" charset="-122"/>
                <a:cs typeface="Calibri" pitchFamily="34" charset="-120"/>
              </a:rPr>
              <a:t>— how strong the bond is.
</a:t>
            </a:r>
            <a:r>
              <a:rPr lang="en-US" sz="1350" b="1" dirty="0">
                <a:solidFill>
                  <a:srgbClr val="1A1D29"/>
                </a:solidFill>
                <a:latin typeface="Calibri" pitchFamily="34" charset="0"/>
                <a:ea typeface="Calibri" pitchFamily="34" charset="-122"/>
                <a:cs typeface="Calibri" pitchFamily="34" charset="-120"/>
              </a:rPr>
              <a:t>Curvature  </a:t>
            </a:r>
            <a:r>
              <a:rPr lang="en-US" sz="1350" dirty="0">
                <a:solidFill>
                  <a:srgbClr val="1A1D29"/>
                </a:solidFill>
                <a:latin typeface="Calibri" pitchFamily="34" charset="0"/>
                <a:ea typeface="Calibri" pitchFamily="34" charset="-122"/>
                <a:cs typeface="Calibri" pitchFamily="34" charset="-120"/>
              </a:rPr>
              <a:t>— the stiffness of the bond.</a:t>
            </a:r>
            <a:endParaRPr lang="en-US" sz="1350" dirty="0"/>
          </a:p>
        </p:txBody>
      </p:sp>
      <p:sp>
        <p:nvSpPr>
          <p:cNvPr id="9" name="Text 6"/>
          <p:cNvSpPr txBox="1"/>
          <p:nvPr/>
        </p:nvSpPr>
        <p:spPr>
          <a:xfrm>
            <a:off x="8046720" y="5074920"/>
            <a:ext cx="3383280" cy="822960"/>
          </a:xfrm>
          <a:prstGeom prst="rect">
            <a:avLst/>
          </a:prstGeom>
          <a:noFill/>
          <a:ln/>
        </p:spPr>
        <p:txBody>
          <a:bodyPr wrap="square" lIns="0" tIns="0" rIns="0" bIns="0" rtlCol="0" anchor="ctr"/>
          <a:lstStyle/>
          <a:p>
            <a:pPr marL="0" indent="0">
              <a:lnSpc>
                <a:spcPct val="110000"/>
              </a:lnSpc>
              <a:buNone/>
            </a:pPr>
            <a:r>
              <a:rPr lang="en-US" sz="1250" i="1" dirty="0">
                <a:solidFill>
                  <a:srgbClr val="2FB6A8"/>
                </a:solidFill>
                <a:latin typeface="Calibri" pitchFamily="34" charset="0"/>
                <a:ea typeface="Calibri" pitchFamily="34" charset="-122"/>
                <a:cs typeface="Calibri" pitchFamily="34" charset="-120"/>
              </a:rPr>
              <a:t>It depends only on distance — so it captures how far, never at what angle.</a:t>
            </a:r>
            <a:endParaRPr lang="en-US" sz="125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FROM STRUCTURES TO A CALCULATOR</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The pipeline I built</a:t>
            </a:r>
            <a:endParaRPr lang="en-US" sz="3200" dirty="0"/>
          </a:p>
        </p:txBody>
      </p:sp>
      <p:sp>
        <p:nvSpPr>
          <p:cNvPr id="4" name="Shape 2"/>
          <p:cNvSpPr/>
          <p:nvPr/>
        </p:nvSpPr>
        <p:spPr>
          <a:xfrm>
            <a:off x="548640" y="1737360"/>
            <a:ext cx="530352" cy="530352"/>
          </a:xfrm>
          <a:prstGeom prst="ellipse">
            <a:avLst/>
          </a:prstGeom>
          <a:solidFill>
            <a:srgbClr val="F2711C"/>
          </a:solidFill>
          <a:ln/>
        </p:spPr>
        <p:txBody>
          <a:bodyPr/>
          <a:lstStyle/>
          <a:p>
            <a:endParaRPr lang="en-GR"/>
          </a:p>
        </p:txBody>
      </p:sp>
      <p:sp>
        <p:nvSpPr>
          <p:cNvPr id="5" name="Text 3"/>
          <p:cNvSpPr txBox="1"/>
          <p:nvPr/>
        </p:nvSpPr>
        <p:spPr>
          <a:xfrm>
            <a:off x="548640" y="173736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68249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Define the system</a:t>
            </a:r>
            <a:endParaRPr lang="en-US" sz="1550" dirty="0"/>
          </a:p>
        </p:txBody>
      </p:sp>
      <p:sp>
        <p:nvSpPr>
          <p:cNvPr id="7" name="Text 5"/>
          <p:cNvSpPr txBox="1"/>
          <p:nvPr/>
        </p:nvSpPr>
        <p:spPr>
          <a:xfrm>
            <a:off x="1234440" y="200253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List the 12 elements; ask for the 2-body pairs</a:t>
            </a:r>
            <a:endParaRPr lang="en-US" sz="1200" dirty="0"/>
          </a:p>
        </p:txBody>
      </p:sp>
      <p:sp>
        <p:nvSpPr>
          <p:cNvPr id="8" name="Shape 6"/>
          <p:cNvSpPr/>
          <p:nvPr/>
        </p:nvSpPr>
        <p:spPr>
          <a:xfrm>
            <a:off x="548640" y="2606040"/>
            <a:ext cx="530352" cy="530352"/>
          </a:xfrm>
          <a:prstGeom prst="ellipse">
            <a:avLst/>
          </a:prstGeom>
          <a:solidFill>
            <a:srgbClr val="F2711C"/>
          </a:solidFill>
          <a:ln/>
        </p:spPr>
        <p:txBody>
          <a:bodyPr/>
          <a:lstStyle/>
          <a:p>
            <a:endParaRPr lang="en-GR"/>
          </a:p>
        </p:txBody>
      </p:sp>
      <p:sp>
        <p:nvSpPr>
          <p:cNvPr id="9" name="Text 7"/>
          <p:cNvSpPr txBox="1"/>
          <p:nvPr/>
        </p:nvSpPr>
        <p:spPr>
          <a:xfrm>
            <a:off x="548640" y="260604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234440" y="255117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Build the basis</a:t>
            </a:r>
            <a:endParaRPr lang="en-US" sz="1550" dirty="0"/>
          </a:p>
        </p:txBody>
      </p:sp>
      <p:sp>
        <p:nvSpPr>
          <p:cNvPr id="11" name="Text 9"/>
          <p:cNvSpPr txBox="1"/>
          <p:nvPr/>
        </p:nvSpPr>
        <p:spPr>
          <a:xfrm>
            <a:off x="1234440" y="287121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B-spline per pair over r = 1.0–6.0 Å  → 1,416 coefficients</a:t>
            </a:r>
            <a:endParaRPr lang="en-US" sz="1200" dirty="0"/>
          </a:p>
        </p:txBody>
      </p:sp>
      <p:sp>
        <p:nvSpPr>
          <p:cNvPr id="12" name="Shape 10"/>
          <p:cNvSpPr/>
          <p:nvPr/>
        </p:nvSpPr>
        <p:spPr>
          <a:xfrm>
            <a:off x="548640" y="3474720"/>
            <a:ext cx="530352" cy="530352"/>
          </a:xfrm>
          <a:prstGeom prst="ellipse">
            <a:avLst/>
          </a:prstGeom>
          <a:solidFill>
            <a:srgbClr val="F2711C"/>
          </a:solidFill>
          <a:ln/>
        </p:spPr>
        <p:txBody>
          <a:bodyPr/>
          <a:lstStyle/>
          <a:p>
            <a:endParaRPr lang="en-GR"/>
          </a:p>
        </p:txBody>
      </p:sp>
      <p:sp>
        <p:nvSpPr>
          <p:cNvPr id="13" name="Text 11"/>
          <p:cNvSpPr txBox="1"/>
          <p:nvPr/>
        </p:nvSpPr>
        <p:spPr>
          <a:xfrm>
            <a:off x="548640" y="347472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234440" y="341985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Featurize</a:t>
            </a:r>
            <a:endParaRPr lang="en-US" sz="1550" dirty="0"/>
          </a:p>
        </p:txBody>
      </p:sp>
      <p:sp>
        <p:nvSpPr>
          <p:cNvPr id="15" name="Text 13"/>
          <p:cNvSpPr txBox="1"/>
          <p:nvPr/>
        </p:nvSpPr>
        <p:spPr>
          <a:xfrm>
            <a:off x="1234440" y="373989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Turn every structure + force into rows of spline values</a:t>
            </a:r>
            <a:endParaRPr lang="en-US" sz="1200" dirty="0"/>
          </a:p>
        </p:txBody>
      </p:sp>
      <p:sp>
        <p:nvSpPr>
          <p:cNvPr id="16" name="Shape 14"/>
          <p:cNvSpPr/>
          <p:nvPr/>
        </p:nvSpPr>
        <p:spPr>
          <a:xfrm>
            <a:off x="548640" y="4343400"/>
            <a:ext cx="530352" cy="530352"/>
          </a:xfrm>
          <a:prstGeom prst="ellipse">
            <a:avLst/>
          </a:prstGeom>
          <a:solidFill>
            <a:srgbClr val="F2711C"/>
          </a:solidFill>
          <a:ln/>
        </p:spPr>
        <p:txBody>
          <a:bodyPr/>
          <a:lstStyle/>
          <a:p>
            <a:endParaRPr lang="en-GR"/>
          </a:p>
        </p:txBody>
      </p:sp>
      <p:sp>
        <p:nvSpPr>
          <p:cNvPr id="17" name="Text 15"/>
          <p:cNvSpPr txBox="1"/>
          <p:nvPr/>
        </p:nvSpPr>
        <p:spPr>
          <a:xfrm>
            <a:off x="548640" y="434340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234440" y="428853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Fit</a:t>
            </a:r>
            <a:endParaRPr lang="en-US" sz="1550" dirty="0"/>
          </a:p>
        </p:txBody>
      </p:sp>
      <p:sp>
        <p:nvSpPr>
          <p:cNvPr id="19" name="Text 17"/>
          <p:cNvSpPr txBox="1"/>
          <p:nvPr/>
        </p:nvSpPr>
        <p:spPr>
          <a:xfrm>
            <a:off x="1234440" y="460857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One regularized least-squares solve for all coefficients</a:t>
            </a:r>
            <a:endParaRPr lang="en-US" sz="1200" dirty="0"/>
          </a:p>
        </p:txBody>
      </p:sp>
      <p:sp>
        <p:nvSpPr>
          <p:cNvPr id="20" name="Shape 18"/>
          <p:cNvSpPr/>
          <p:nvPr/>
        </p:nvSpPr>
        <p:spPr>
          <a:xfrm>
            <a:off x="548640" y="5212080"/>
            <a:ext cx="530352" cy="530352"/>
          </a:xfrm>
          <a:prstGeom prst="ellipse">
            <a:avLst/>
          </a:prstGeom>
          <a:solidFill>
            <a:srgbClr val="F2711C"/>
          </a:solidFill>
          <a:ln/>
        </p:spPr>
        <p:txBody>
          <a:bodyPr/>
          <a:lstStyle/>
          <a:p>
            <a:endParaRPr lang="en-GR"/>
          </a:p>
        </p:txBody>
      </p:sp>
      <p:sp>
        <p:nvSpPr>
          <p:cNvPr id="21" name="Text 19"/>
          <p:cNvSpPr txBox="1"/>
          <p:nvPr/>
        </p:nvSpPr>
        <p:spPr>
          <a:xfrm>
            <a:off x="548640" y="5212080"/>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234440" y="5157216"/>
            <a:ext cx="4663440" cy="320040"/>
          </a:xfrm>
          <a:prstGeom prst="rect">
            <a:avLst/>
          </a:prstGeom>
          <a:noFill/>
          <a:ln/>
        </p:spPr>
        <p:txBody>
          <a:bodyPr wrap="square" lIns="0" tIns="0" rIns="0" bIns="0" rtlCol="0" anchor="ctr"/>
          <a:lstStyle/>
          <a:p>
            <a:pPr marL="0" indent="0">
              <a:buNone/>
            </a:pPr>
            <a:r>
              <a:rPr lang="en-US" sz="1550" b="1" dirty="0">
                <a:solidFill>
                  <a:srgbClr val="1A1D29"/>
                </a:solidFill>
                <a:latin typeface="Calibri" pitchFamily="34" charset="0"/>
                <a:ea typeface="Calibri" pitchFamily="34" charset="-122"/>
                <a:cs typeface="Calibri" pitchFamily="34" charset="-120"/>
              </a:rPr>
              <a:t>Wrap as a calculator</a:t>
            </a:r>
            <a:endParaRPr lang="en-US" sz="1550" dirty="0"/>
          </a:p>
        </p:txBody>
      </p:sp>
      <p:sp>
        <p:nvSpPr>
          <p:cNvPr id="23" name="Text 21"/>
          <p:cNvSpPr txBox="1"/>
          <p:nvPr/>
        </p:nvSpPr>
        <p:spPr>
          <a:xfrm>
            <a:off x="1234440" y="5477256"/>
            <a:ext cx="4846320" cy="45720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A UF3 ASE calculator — drop-in, like the MACE one</a:t>
            </a:r>
            <a:endParaRPr lang="en-US" sz="1200" dirty="0"/>
          </a:p>
        </p:txBody>
      </p:sp>
      <p:sp>
        <p:nvSpPr>
          <p:cNvPr id="24" name="Shape 22"/>
          <p:cNvSpPr/>
          <p:nvPr/>
        </p:nvSpPr>
        <p:spPr>
          <a:xfrm>
            <a:off x="6355080" y="1737360"/>
            <a:ext cx="5303520" cy="3200400"/>
          </a:xfrm>
          <a:prstGeom prst="roundRect">
            <a:avLst>
              <a:gd name="adj" fmla="val 1714"/>
            </a:avLst>
          </a:prstGeom>
          <a:solidFill>
            <a:srgbClr val="12141C"/>
          </a:solidFill>
          <a:ln/>
        </p:spPr>
        <p:txBody>
          <a:bodyPr/>
          <a:lstStyle/>
          <a:p>
            <a:endParaRPr lang="en-GR"/>
          </a:p>
        </p:txBody>
      </p:sp>
      <p:sp>
        <p:nvSpPr>
          <p:cNvPr id="25" name="Text 23"/>
          <p:cNvSpPr txBox="1"/>
          <p:nvPr/>
        </p:nvSpPr>
        <p:spPr>
          <a:xfrm>
            <a:off x="6629400" y="1901952"/>
            <a:ext cx="4800600" cy="274320"/>
          </a:xfrm>
          <a:prstGeom prst="rect">
            <a:avLst/>
          </a:prstGeom>
          <a:noFill/>
          <a:ln/>
        </p:spPr>
        <p:txBody>
          <a:bodyPr wrap="square" lIns="0" tIns="0" rIns="0" bIns="0" rtlCol="0" anchor="ctr"/>
          <a:lstStyle/>
          <a:p>
            <a:pPr marL="0" indent="0">
              <a:buNone/>
            </a:pPr>
            <a:r>
              <a:rPr lang="en-US" sz="1100" i="1" dirty="0">
                <a:solidFill>
                  <a:srgbClr val="9AA0AC"/>
                </a:solidFill>
                <a:latin typeface="Calibri" pitchFamily="34" charset="0"/>
                <a:ea typeface="Calibri" pitchFamily="34" charset="-122"/>
                <a:cs typeface="Calibri" pitchFamily="34" charset="-120"/>
              </a:rPr>
              <a:t>the fit — one solve, not a training loop</a:t>
            </a:r>
            <a:endParaRPr lang="en-US" sz="1100" dirty="0"/>
          </a:p>
        </p:txBody>
      </p:sp>
      <p:sp>
        <p:nvSpPr>
          <p:cNvPr id="26" name="Text 24"/>
          <p:cNvSpPr txBox="1"/>
          <p:nvPr/>
        </p:nvSpPr>
        <p:spPr>
          <a:xfrm>
            <a:off x="6629400" y="2286000"/>
            <a:ext cx="4846320" cy="2468880"/>
          </a:xfrm>
          <a:prstGeom prst="rect">
            <a:avLst/>
          </a:prstGeom>
          <a:noFill/>
          <a:ln/>
        </p:spPr>
        <p:txBody>
          <a:bodyPr wrap="square" lIns="0" tIns="0" rIns="0" bIns="0" rtlCol="0" anchor="t"/>
          <a:lstStyle/>
          <a:p>
            <a:pPr marL="0" indent="0">
              <a:lnSpc>
                <a:spcPct val="140000"/>
              </a:lnSpc>
              <a:buNone/>
            </a:pPr>
            <a:r>
              <a:rPr lang="en-US" sz="1200" dirty="0">
                <a:solidFill>
                  <a:srgbClr val="8FE3D8"/>
                </a:solidFill>
                <a:latin typeface="Courier New" pitchFamily="34" charset="0"/>
                <a:ea typeface="Courier New" pitchFamily="34" charset="-122"/>
                <a:cs typeface="Courier New" pitchFamily="34" charset="-120"/>
              </a:rPr>
              <a:t>cs = ChemicalSystem(elements, degree=2)
</a:t>
            </a:r>
            <a:r>
              <a:rPr lang="en-US" sz="1200" dirty="0">
                <a:solidFill>
                  <a:srgbClr val="FFFFFF"/>
                </a:solidFill>
                <a:latin typeface="Courier New" pitchFamily="34" charset="0"/>
                <a:ea typeface="Courier New" pitchFamily="34" charset="-122"/>
                <a:cs typeface="Courier New" pitchFamily="34" charset="-120"/>
              </a:rPr>
              <a:t>basis = BSplineBasis(cs, r_min, r_max, res)
X = featurize(frames)
model = WeightedLinearModel(basis, reg)
</a:t>
            </a:r>
            <a:r>
              <a:rPr lang="en-US" sz="1200" dirty="0">
                <a:solidFill>
                  <a:srgbClr val="FFC98A"/>
                </a:solidFill>
                <a:latin typeface="Courier New" pitchFamily="34" charset="0"/>
                <a:ea typeface="Courier New" pitchFamily="34" charset="-122"/>
                <a:cs typeface="Courier New" pitchFamily="34" charset="-120"/>
              </a:rPr>
              <a:t>model.fit(x_e, y_e, x_f, y_f, weight=0.3)
calc = UFCalculator(model)</a:t>
            </a:r>
            <a:endParaRPr lang="en-US" sz="1200" dirty="0"/>
          </a:p>
        </p:txBody>
      </p:sp>
      <p:sp>
        <p:nvSpPr>
          <p:cNvPr id="27" name="Text 25"/>
          <p:cNvSpPr txBox="1"/>
          <p:nvPr/>
        </p:nvSpPr>
        <p:spPr>
          <a:xfrm>
            <a:off x="6355080" y="5074920"/>
            <a:ext cx="5303520" cy="822960"/>
          </a:xfrm>
          <a:prstGeom prst="rect">
            <a:avLst/>
          </a:prstGeom>
          <a:noFill/>
          <a:ln/>
        </p:spPr>
        <p:txBody>
          <a:bodyPr wrap="square" lIns="0" tIns="0" rIns="0" bIns="0" rtlCol="0" anchor="ctr"/>
          <a:lstStyle/>
          <a:p>
            <a:pPr marL="0" indent="0">
              <a:lnSpc>
                <a:spcPct val="110000"/>
              </a:lnSpc>
              <a:buNone/>
            </a:pPr>
            <a:r>
              <a:rPr lang="en-US" sz="1250" dirty="0">
                <a:solidFill>
                  <a:srgbClr val="6B7280"/>
                </a:solidFill>
                <a:latin typeface="Calibri" pitchFamily="34" charset="0"/>
                <a:ea typeface="Calibri" pitchFamily="34" charset="-122"/>
                <a:cs typeface="Calibri" pitchFamily="34" charset="-120"/>
              </a:rPr>
              <a:t>Same ASE-calculator interface as MACE — so the exact evaluation loop from the reproduction scores UF3 with no changes.</a:t>
            </a:r>
            <a:endParaRPr lang="en-US" sz="1250" dirty="0"/>
          </a:p>
        </p:txBody>
      </p:sp>
      <p:sp>
        <p:nvSpPr>
          <p:cNvPr id="29" name="Text 26"/>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30" name="Text 27"/>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First working model: the 2-body numbers</a:t>
            </a:r>
            <a:endParaRPr lang="en-US" sz="3200" dirty="0"/>
          </a:p>
        </p:txBody>
      </p:sp>
      <p:sp>
        <p:nvSpPr>
          <p:cNvPr id="4" name="Text 2"/>
          <p:cNvSpPr txBox="1"/>
          <p:nvPr/>
        </p:nvSpPr>
        <p:spPr>
          <a:xfrm>
            <a:off x="457200" y="1371600"/>
            <a:ext cx="11247120" cy="32004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Trained on a representative sample of the SuperSalt training set; scored on a fixed 660 / 160-frame slice of each held-out test set.</a:t>
            </a:r>
            <a:endParaRPr lang="en-US" sz="1400" dirty="0"/>
          </a:p>
        </p:txBody>
      </p:sp>
      <p:graphicFrame>
        <p:nvGraphicFramePr>
          <p:cNvPr id="5" name="Chart 0"/>
          <p:cNvGraphicFramePr/>
          <p:nvPr/>
        </p:nvGraphicFramePr>
        <p:xfrm>
          <a:off x="548640" y="1874520"/>
          <a:ext cx="64922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406640" y="18745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7680960" y="2039112"/>
            <a:ext cx="3703320" cy="274320"/>
          </a:xfrm>
          <a:prstGeom prst="rect">
            <a:avLst/>
          </a:prstGeom>
          <a:noFill/>
          <a:ln/>
        </p:spPr>
        <p:txBody>
          <a:bodyPr wrap="square" lIns="0" tIns="0" rIns="0" bIns="0" rtlCol="0" anchor="ctr"/>
          <a:lstStyle/>
          <a:p>
            <a:pPr marL="0" indent="0">
              <a:buNone/>
            </a:pPr>
            <a:r>
              <a:rPr lang="en-US" sz="1150" b="1" kern="0" spc="120" dirty="0">
                <a:solidFill>
                  <a:srgbClr val="F2711C"/>
                </a:solidFill>
                <a:latin typeface="Calibri" pitchFamily="34" charset="0"/>
                <a:ea typeface="Calibri" pitchFamily="34" charset="-122"/>
                <a:cs typeface="Calibri" pitchFamily="34" charset="-120"/>
              </a:rPr>
              <a:t>ENERGY MAE · BOTH TESTS</a:t>
            </a:r>
            <a:endParaRPr lang="en-US" sz="1150" dirty="0"/>
          </a:p>
        </p:txBody>
      </p:sp>
      <p:sp>
        <p:nvSpPr>
          <p:cNvPr id="8" name="Text 5"/>
          <p:cNvSpPr txBox="1"/>
          <p:nvPr/>
        </p:nvSpPr>
        <p:spPr>
          <a:xfrm>
            <a:off x="7680960" y="22768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13–15 meV/atom</a:t>
            </a:r>
            <a:endParaRPr lang="en-US" sz="2400" dirty="0"/>
          </a:p>
        </p:txBody>
      </p:sp>
      <p:sp>
        <p:nvSpPr>
          <p:cNvPr id="9" name="Text 6"/>
          <p:cNvSpPr txBox="1"/>
          <p:nvPr/>
        </p:nvSpPr>
        <p:spPr>
          <a:xfrm>
            <a:off x="7680960" y="27797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surface itself is roughly right</a:t>
            </a:r>
            <a:endParaRPr lang="en-US" sz="1150" dirty="0"/>
          </a:p>
        </p:txBody>
      </p:sp>
      <p:sp>
        <p:nvSpPr>
          <p:cNvPr id="10" name="Shape 7"/>
          <p:cNvSpPr/>
          <p:nvPr/>
        </p:nvSpPr>
        <p:spPr>
          <a:xfrm>
            <a:off x="7406640" y="32461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1" name="Text 8"/>
          <p:cNvSpPr txBox="1"/>
          <p:nvPr/>
        </p:nvSpPr>
        <p:spPr>
          <a:xfrm>
            <a:off x="7680960" y="3410712"/>
            <a:ext cx="3703320" cy="274320"/>
          </a:xfrm>
          <a:prstGeom prst="rect">
            <a:avLst/>
          </a:prstGeom>
          <a:noFill/>
          <a:ln/>
        </p:spPr>
        <p:txBody>
          <a:bodyPr wrap="square" lIns="0" tIns="0" rIns="0" bIns="0" rtlCol="0" anchor="ctr"/>
          <a:lstStyle/>
          <a:p>
            <a:pPr marL="0" indent="0">
              <a:buNone/>
            </a:pPr>
            <a:r>
              <a:rPr lang="en-US" sz="1150" b="1" kern="0" spc="120" dirty="0">
                <a:solidFill>
                  <a:srgbClr val="2FB6A8"/>
                </a:solidFill>
                <a:latin typeface="Calibri" pitchFamily="34" charset="0"/>
                <a:ea typeface="Calibri" pitchFamily="34" charset="-122"/>
                <a:cs typeface="Calibri" pitchFamily="34" charset="-120"/>
              </a:rPr>
              <a:t>FORCE RMSE · BOTH TESTS</a:t>
            </a:r>
            <a:endParaRPr lang="en-US" sz="1150" dirty="0"/>
          </a:p>
        </p:txBody>
      </p:sp>
      <p:sp>
        <p:nvSpPr>
          <p:cNvPr id="12" name="Text 9"/>
          <p:cNvSpPr txBox="1"/>
          <p:nvPr/>
        </p:nvSpPr>
        <p:spPr>
          <a:xfrm>
            <a:off x="7680960" y="36484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278–302 meV/Å</a:t>
            </a:r>
            <a:endParaRPr lang="en-US" sz="2400" dirty="0"/>
          </a:p>
        </p:txBody>
      </p:sp>
      <p:sp>
        <p:nvSpPr>
          <p:cNvPr id="13" name="Text 10"/>
          <p:cNvSpPr txBox="1"/>
          <p:nvPr/>
        </p:nvSpPr>
        <p:spPr>
          <a:xfrm>
            <a:off x="7680960" y="41513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the slope — where a pair term is limited</a:t>
            </a:r>
            <a:endParaRPr lang="en-US" sz="1150" dirty="0"/>
          </a:p>
        </p:txBody>
      </p:sp>
      <p:sp>
        <p:nvSpPr>
          <p:cNvPr id="14" name="Shape 11"/>
          <p:cNvSpPr/>
          <p:nvPr/>
        </p:nvSpPr>
        <p:spPr>
          <a:xfrm>
            <a:off x="7406640" y="4617720"/>
            <a:ext cx="4251960" cy="1234440"/>
          </a:xfrm>
          <a:prstGeom prst="roundRect">
            <a:avLst>
              <a:gd name="adj" fmla="val 5926"/>
            </a:avLst>
          </a:prstGeom>
          <a:solidFill>
            <a:srgbClr val="F4F5F7"/>
          </a:solidFill>
          <a:ln w="12700">
            <a:solidFill>
              <a:srgbClr val="E3E5EA"/>
            </a:solidFill>
            <a:prstDash val="solid"/>
          </a:ln>
        </p:spPr>
        <p:txBody>
          <a:bodyPr/>
          <a:lstStyle/>
          <a:p>
            <a:endParaRPr lang="en-GR"/>
          </a:p>
        </p:txBody>
      </p:sp>
      <p:sp>
        <p:nvSpPr>
          <p:cNvPr id="15" name="Text 12"/>
          <p:cNvSpPr txBox="1"/>
          <p:nvPr/>
        </p:nvSpPr>
        <p:spPr>
          <a:xfrm>
            <a:off x="7680960" y="4782312"/>
            <a:ext cx="3703320" cy="274320"/>
          </a:xfrm>
          <a:prstGeom prst="rect">
            <a:avLst/>
          </a:prstGeom>
          <a:noFill/>
          <a:ln/>
        </p:spPr>
        <p:txBody>
          <a:bodyPr wrap="square" lIns="0" tIns="0" rIns="0" bIns="0" rtlCol="0" anchor="ctr"/>
          <a:lstStyle/>
          <a:p>
            <a:pPr marL="0" indent="0">
              <a:buNone/>
            </a:pPr>
            <a:r>
              <a:rPr lang="en-US" sz="1150" b="1" kern="0" spc="120" dirty="0">
                <a:solidFill>
                  <a:srgbClr val="1A1D29"/>
                </a:solidFill>
                <a:latin typeface="Calibri" pitchFamily="34" charset="0"/>
                <a:ea typeface="Calibri" pitchFamily="34" charset="-122"/>
                <a:cs typeface="Calibri" pitchFamily="34" charset="-120"/>
              </a:rPr>
              <a:t>STATUS</a:t>
            </a:r>
            <a:endParaRPr lang="en-US" sz="1150" dirty="0"/>
          </a:p>
        </p:txBody>
      </p:sp>
      <p:sp>
        <p:nvSpPr>
          <p:cNvPr id="16" name="Text 13"/>
          <p:cNvSpPr txBox="1"/>
          <p:nvPr/>
        </p:nvSpPr>
        <p:spPr>
          <a:xfrm>
            <a:off x="7680960" y="5020056"/>
            <a:ext cx="3703320" cy="502920"/>
          </a:xfrm>
          <a:prstGeom prst="rect">
            <a:avLst/>
          </a:prstGeom>
          <a:noFill/>
          <a:ln/>
        </p:spPr>
        <p:txBody>
          <a:bodyPr wrap="square" lIns="0" tIns="0" rIns="0" bIns="0" rtlCol="0" anchor="ctr"/>
          <a:lstStyle/>
          <a:p>
            <a:pPr marL="0" indent="0">
              <a:buNone/>
            </a:pPr>
            <a:r>
              <a:rPr lang="en-US" sz="2400" b="1" dirty="0">
                <a:solidFill>
                  <a:srgbClr val="1A1D29"/>
                </a:solidFill>
                <a:latin typeface="Cambria" pitchFamily="34" charset="0"/>
                <a:ea typeface="Cambria" pitchFamily="34" charset="-122"/>
                <a:cs typeface="Cambria" pitchFamily="34" charset="-120"/>
              </a:rPr>
              <a:t>It runs, end-to-end</a:t>
            </a:r>
            <a:endParaRPr lang="en-US" sz="2400" dirty="0"/>
          </a:p>
        </p:txBody>
      </p:sp>
      <p:sp>
        <p:nvSpPr>
          <p:cNvPr id="17" name="Text 14"/>
          <p:cNvSpPr txBox="1"/>
          <p:nvPr/>
        </p:nvSpPr>
        <p:spPr>
          <a:xfrm>
            <a:off x="7680960" y="5522976"/>
            <a:ext cx="3703320" cy="274320"/>
          </a:xfrm>
          <a:prstGeom prst="rect">
            <a:avLst/>
          </a:prstGeom>
          <a:noFill/>
          <a:ln/>
        </p:spPr>
        <p:txBody>
          <a:bodyPr wrap="square" lIns="0" tIns="0" rIns="0" bIns="0" rtlCol="0" anchor="ctr"/>
          <a:lstStyle/>
          <a:p>
            <a:pPr marL="0" indent="0">
              <a:buNone/>
            </a:pPr>
            <a:r>
              <a:rPr lang="en-US" sz="1150" dirty="0">
                <a:solidFill>
                  <a:srgbClr val="6B7280"/>
                </a:solidFill>
                <a:latin typeface="Calibri" pitchFamily="34" charset="0"/>
                <a:ea typeface="Calibri" pitchFamily="34" charset="-122"/>
                <a:cs typeface="Calibri" pitchFamily="34" charset="-120"/>
              </a:rPr>
              <a:t>our own model, real numbers, both sets</a:t>
            </a:r>
            <a:endParaRPr lang="en-US" sz="1150" dirty="0"/>
          </a:p>
        </p:txBody>
      </p:sp>
      <p:sp>
        <p:nvSpPr>
          <p:cNvPr id="19" name="Text 15"/>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0" name="Text 16"/>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TESTING THE “3” IN UF3</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Does the 3-body term earn its keep?</a:t>
            </a:r>
            <a:endParaRPr lang="en-US" sz="3200" dirty="0"/>
          </a:p>
        </p:txBody>
      </p:sp>
      <p:sp>
        <p:nvSpPr>
          <p:cNvPr id="4" name="Text 2"/>
          <p:cNvSpPr txBox="1"/>
          <p:nvPr/>
        </p:nvSpPr>
        <p:spPr>
          <a:xfrm>
            <a:off x="457200" y="1371600"/>
            <a:ext cx="11247120" cy="457200"/>
          </a:xfrm>
          <a:prstGeom prst="rect">
            <a:avLst/>
          </a:prstGeom>
          <a:noFill/>
          <a:ln/>
        </p:spPr>
        <p:txBody>
          <a:bodyPr wrap="square" lIns="0" tIns="0" rIns="0" bIns="0" rtlCol="0" anchor="ctr"/>
          <a:lstStyle/>
          <a:p>
            <a:pPr marL="0" indent="0">
              <a:lnSpc>
                <a:spcPct val="110000"/>
              </a:lnSpc>
              <a:buNone/>
            </a:pPr>
            <a:r>
              <a:rPr lang="en-US" sz="1300" dirty="0">
                <a:solidFill>
                  <a:srgbClr val="6B7280"/>
                </a:solidFill>
                <a:latin typeface="Calibri" pitchFamily="34" charset="0"/>
                <a:ea typeface="Calibri" pitchFamily="34" charset="-122"/>
                <a:cs typeface="Calibri" pitchFamily="34" charset="-120"/>
              </a:rPr>
              <a:t>Full 3-body is intractable for 12 elements (111k features), so we test it on 3-element subsystems: directional cations (Mg, Zr) versus a spherical control (K, Rb).</a:t>
            </a:r>
            <a:endParaRPr lang="en-US" sz="1300" dirty="0"/>
          </a:p>
        </p:txBody>
      </p:sp>
      <p:pic>
        <p:nvPicPr>
          <p:cNvPr id="5" name="Image 0" descr="/tmp/claude-0/-home-claude/fccb0421-ce31-56d7-8f9a-a4b2db061784/scratchpad/body3_result.png"/>
          <p:cNvPicPr>
            <a:picLocks noChangeAspect="1"/>
          </p:cNvPicPr>
          <p:nvPr/>
        </p:nvPicPr>
        <p:blipFill>
          <a:blip r:embed="rId3"/>
          <a:stretch>
            <a:fillRect/>
          </a:stretch>
        </p:blipFill>
        <p:spPr>
          <a:xfrm>
            <a:off x="457200" y="1874520"/>
            <a:ext cx="7360920" cy="3913632"/>
          </a:xfrm>
          <a:prstGeom prst="rect">
            <a:avLst/>
          </a:prstGeom>
        </p:spPr>
      </p:pic>
      <p:sp>
        <p:nvSpPr>
          <p:cNvPr id="6" name="Shape 3"/>
          <p:cNvSpPr/>
          <p:nvPr/>
        </p:nvSpPr>
        <p:spPr>
          <a:xfrm>
            <a:off x="8001000" y="1874520"/>
            <a:ext cx="3657600" cy="3913632"/>
          </a:xfrm>
          <a:prstGeom prst="roundRect">
            <a:avLst>
              <a:gd name="adj" fmla="val 2000"/>
            </a:avLst>
          </a:prstGeom>
          <a:solidFill>
            <a:srgbClr val="F4F5F7"/>
          </a:solidFill>
          <a:ln w="12700">
            <a:solidFill>
              <a:srgbClr val="E3E5EA"/>
            </a:solidFill>
            <a:prstDash val="solid"/>
          </a:ln>
        </p:spPr>
        <p:txBody>
          <a:bodyPr/>
          <a:lstStyle/>
          <a:p>
            <a:endParaRPr lang="en-GR"/>
          </a:p>
        </p:txBody>
      </p:sp>
      <p:sp>
        <p:nvSpPr>
          <p:cNvPr id="7" name="Text 4"/>
          <p:cNvSpPr txBox="1"/>
          <p:nvPr/>
        </p:nvSpPr>
        <p:spPr>
          <a:xfrm>
            <a:off x="8247888" y="2084832"/>
            <a:ext cx="3200400" cy="365760"/>
          </a:xfrm>
          <a:prstGeom prst="rect">
            <a:avLst/>
          </a:prstGeom>
          <a:noFill/>
          <a:ln/>
        </p:spPr>
        <p:txBody>
          <a:bodyPr wrap="square" lIns="0" tIns="0" rIns="0" bIns="0" rtlCol="0" anchor="ctr"/>
          <a:lstStyle/>
          <a:p>
            <a:pPr marL="0" indent="0">
              <a:buNone/>
            </a:pPr>
            <a:r>
              <a:rPr lang="en-US" sz="1700" b="1" dirty="0">
                <a:solidFill>
                  <a:srgbClr val="F2711C"/>
                </a:solidFill>
                <a:latin typeface="Cambria" pitchFamily="34" charset="0"/>
                <a:ea typeface="Cambria" pitchFamily="34" charset="-122"/>
                <a:cs typeface="Cambria" pitchFamily="34" charset="-120"/>
              </a:rPr>
              <a:t>What it shows</a:t>
            </a:r>
            <a:endParaRPr lang="en-US" sz="1700" dirty="0"/>
          </a:p>
        </p:txBody>
      </p:sp>
      <p:sp>
        <p:nvSpPr>
          <p:cNvPr id="8" name="Text 5"/>
          <p:cNvSpPr txBox="1"/>
          <p:nvPr/>
        </p:nvSpPr>
        <p:spPr>
          <a:xfrm>
            <a:off x="8247888" y="2514600"/>
            <a:ext cx="3200400" cy="2743200"/>
          </a:xfrm>
          <a:prstGeom prst="rect">
            <a:avLst/>
          </a:prstGeom>
          <a:noFill/>
          <a:ln/>
        </p:spPr>
        <p:txBody>
          <a:bodyPr wrap="square" lIns="0" tIns="0" rIns="0" bIns="0" rtlCol="0" anchor="ctr"/>
          <a:lstStyle/>
          <a:p>
            <a:pPr marL="0" indent="0">
              <a:lnSpc>
                <a:spcPct val="112000"/>
              </a:lnSpc>
              <a:buNone/>
            </a:pPr>
            <a:r>
              <a:rPr lang="en-US" sz="1250" b="1" dirty="0">
                <a:solidFill>
                  <a:srgbClr val="1A1D29"/>
                </a:solidFill>
                <a:latin typeface="Calibri" pitchFamily="34" charset="0"/>
                <a:ea typeface="Calibri" pitchFamily="34" charset="-122"/>
                <a:cs typeface="Calibri" pitchFamily="34" charset="-120"/>
              </a:rPr>
              <a:t>Directional cations.  </a:t>
            </a:r>
            <a:r>
              <a:rPr lang="en-US" sz="1250" dirty="0">
                <a:solidFill>
                  <a:srgbClr val="1A1D29"/>
                </a:solidFill>
                <a:latin typeface="Calibri" pitchFamily="34" charset="0"/>
                <a:ea typeface="Calibri" pitchFamily="34" charset="-122"/>
                <a:cs typeface="Calibri" pitchFamily="34" charset="-120"/>
              </a:rPr>
              <a:t>3-body cuts the force error hard — Mg −35%, Zr −21%. The angular term captures the coordination geometry a pair potential can’t see.
</a:t>
            </a:r>
            <a:r>
              <a:rPr lang="en-US" sz="1250" b="1" dirty="0">
                <a:solidFill>
                  <a:srgbClr val="1A1D29"/>
                </a:solidFill>
                <a:latin typeface="Calibri" pitchFamily="34" charset="0"/>
                <a:ea typeface="Calibri" pitchFamily="34" charset="-122"/>
                <a:cs typeface="Calibri" pitchFamily="34" charset="-120"/>
              </a:rPr>
              <a:t>Spherical control.  </a:t>
            </a:r>
            <a:r>
              <a:rPr lang="en-US" sz="1250" dirty="0">
                <a:solidFill>
                  <a:srgbClr val="1A1D29"/>
                </a:solidFill>
                <a:latin typeface="Calibri" pitchFamily="34" charset="0"/>
                <a:ea typeface="Calibri" pitchFamily="34" charset="-122"/>
                <a:cs typeface="Calibri" pitchFamily="34" charset="-120"/>
              </a:rPr>
              <a:t>K/Rb already had a low 2-body error and 3-body barely moves it (−5%) — round ions bond centrally, so there’s little angle to capture.</a:t>
            </a:r>
            <a:endParaRPr lang="en-US" sz="1250" dirty="0"/>
          </a:p>
        </p:txBody>
      </p:sp>
      <p:sp>
        <p:nvSpPr>
          <p:cNvPr id="9" name="Text 6"/>
          <p:cNvSpPr txBox="1"/>
          <p:nvPr/>
        </p:nvSpPr>
        <p:spPr>
          <a:xfrm>
            <a:off x="8247888" y="5257800"/>
            <a:ext cx="3200400" cy="457200"/>
          </a:xfrm>
          <a:prstGeom prst="rect">
            <a:avLst/>
          </a:prstGeom>
          <a:noFill/>
          <a:ln/>
        </p:spPr>
        <p:txBody>
          <a:bodyPr wrap="square" lIns="0" tIns="0" rIns="0" bIns="0" rtlCol="0" anchor="ctr"/>
          <a:lstStyle/>
          <a:p>
            <a:pPr marL="0" indent="0">
              <a:lnSpc>
                <a:spcPct val="110000"/>
              </a:lnSpc>
              <a:buNone/>
            </a:pPr>
            <a:r>
              <a:rPr lang="en-US" sz="1200" i="1" dirty="0">
                <a:solidFill>
                  <a:srgbClr val="2FB6A8"/>
                </a:solidFill>
                <a:latin typeface="Calibri" pitchFamily="34" charset="0"/>
                <a:ea typeface="Calibri" pitchFamily="34" charset="-122"/>
                <a:cs typeface="Calibri" pitchFamily="34" charset="-120"/>
              </a:rPr>
              <a:t>The gain tracks directionality — exactly where the physics predicts.</a:t>
            </a:r>
            <a:endParaRPr lang="en-US" sz="1200" dirty="0"/>
          </a:p>
        </p:txBody>
      </p:sp>
      <p:sp>
        <p:nvSpPr>
          <p:cNvPr id="11" name="Text 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12" name="Text 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84048"/>
            <a:ext cx="10972800" cy="274320"/>
          </a:xfrm>
          <a:prstGeom prst="rect">
            <a:avLst/>
          </a:prstGeom>
          <a:noFill/>
          <a:ln/>
        </p:spPr>
        <p:txBody>
          <a:bodyPr wrap="square" lIns="0" tIns="0" rIns="0" bIns="0" rtlCol="0" anchor="ctr"/>
          <a:lstStyle/>
          <a:p>
            <a:pPr marL="0" indent="0">
              <a:buNone/>
            </a:pPr>
            <a:r>
              <a:rPr lang="en-US" sz="1200" b="1" kern="0" spc="200" dirty="0">
                <a:solidFill>
                  <a:srgbClr val="F2711C"/>
                </a:solidFill>
                <a:latin typeface="Calibri" pitchFamily="34" charset="0"/>
                <a:ea typeface="Calibri" pitchFamily="34" charset="-122"/>
                <a:cs typeface="Calibri" pitchFamily="34" charset="-120"/>
              </a:rPr>
              <a:t>ROADMAP</a:t>
            </a:r>
            <a:endParaRPr lang="en-US" sz="1200" dirty="0"/>
          </a:p>
        </p:txBody>
      </p:sp>
      <p:sp>
        <p:nvSpPr>
          <p:cNvPr id="3" name="Text 1"/>
          <p:cNvSpPr txBox="1"/>
          <p:nvPr/>
        </p:nvSpPr>
        <p:spPr>
          <a:xfrm>
            <a:off x="457200" y="658368"/>
            <a:ext cx="11247120" cy="822960"/>
          </a:xfrm>
          <a:prstGeom prst="rect">
            <a:avLst/>
          </a:prstGeom>
          <a:noFill/>
          <a:ln/>
        </p:spPr>
        <p:txBody>
          <a:bodyPr wrap="square" lIns="0" tIns="0" rIns="0" bIns="0" rtlCol="0" anchor="ctr"/>
          <a:lstStyle/>
          <a:p>
            <a:pPr marL="0" indent="0">
              <a:buNone/>
            </a:pPr>
            <a:r>
              <a:rPr lang="en-US" sz="3200" b="1" dirty="0">
                <a:solidFill>
                  <a:srgbClr val="1A1D29"/>
                </a:solidFill>
                <a:latin typeface="Cambria" pitchFamily="34" charset="0"/>
                <a:ea typeface="Cambria" pitchFamily="34" charset="-122"/>
                <a:cs typeface="Cambria" pitchFamily="34" charset="-120"/>
              </a:rPr>
              <a:t>Next steps</a:t>
            </a:r>
            <a:endParaRPr lang="en-US" sz="3200" dirty="0"/>
          </a:p>
        </p:txBody>
      </p:sp>
      <p:sp>
        <p:nvSpPr>
          <p:cNvPr id="4" name="Shape 2"/>
          <p:cNvSpPr/>
          <p:nvPr/>
        </p:nvSpPr>
        <p:spPr>
          <a:xfrm>
            <a:off x="548640" y="178308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5" name="Shape 3"/>
          <p:cNvSpPr/>
          <p:nvPr/>
        </p:nvSpPr>
        <p:spPr>
          <a:xfrm>
            <a:off x="868680" y="2167128"/>
            <a:ext cx="502920" cy="502920"/>
          </a:xfrm>
          <a:prstGeom prst="ellipse">
            <a:avLst/>
          </a:prstGeom>
          <a:solidFill>
            <a:srgbClr val="F2711C"/>
          </a:solidFill>
          <a:ln/>
        </p:spPr>
        <p:txBody>
          <a:bodyPr/>
          <a:lstStyle/>
          <a:p>
            <a:endParaRPr lang="en-GR"/>
          </a:p>
        </p:txBody>
      </p:sp>
      <p:sp>
        <p:nvSpPr>
          <p:cNvPr id="6" name="Text 4"/>
          <p:cNvSpPr txBox="1"/>
          <p:nvPr/>
        </p:nvSpPr>
        <p:spPr>
          <a:xfrm>
            <a:off x="1645920" y="198424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Firm up the 3-body subsystem result</a:t>
            </a:r>
            <a:endParaRPr lang="en-US" sz="1700" dirty="0"/>
          </a:p>
        </p:txBody>
      </p:sp>
      <p:sp>
        <p:nvSpPr>
          <p:cNvPr id="7" name="Text 5"/>
          <p:cNvSpPr txBox="1"/>
          <p:nvPr/>
        </p:nvSpPr>
        <p:spPr>
          <a:xfrm>
            <a:off x="1645920" y="235000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Larger frame counts and a longer cutoff to confirm the 20–35% force gains on directional cations; add a third (Zn). Featurization is slow, so this runs off the laptop.</a:t>
            </a:r>
            <a:endParaRPr lang="en-US" sz="1300" dirty="0"/>
          </a:p>
        </p:txBody>
      </p:sp>
      <p:sp>
        <p:nvSpPr>
          <p:cNvPr id="8" name="Text 6"/>
          <p:cNvSpPr txBox="1"/>
          <p:nvPr/>
        </p:nvSpPr>
        <p:spPr>
          <a:xfrm>
            <a:off x="10195560" y="2240280"/>
            <a:ext cx="1234440" cy="365760"/>
          </a:xfrm>
          <a:prstGeom prst="rect">
            <a:avLst/>
          </a:prstGeom>
          <a:solidFill>
            <a:srgbClr val="F2711C"/>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NOW</a:t>
            </a:r>
            <a:endParaRPr lang="en-US" sz="1100" dirty="0"/>
          </a:p>
        </p:txBody>
      </p:sp>
      <p:sp>
        <p:nvSpPr>
          <p:cNvPr id="9" name="Shape 7"/>
          <p:cNvSpPr/>
          <p:nvPr/>
        </p:nvSpPr>
        <p:spPr>
          <a:xfrm>
            <a:off x="548640" y="3200400"/>
            <a:ext cx="11064240" cy="1280160"/>
          </a:xfrm>
          <a:prstGeom prst="roundRect">
            <a:avLst>
              <a:gd name="adj" fmla="val 5714"/>
            </a:avLst>
          </a:prstGeom>
          <a:solidFill>
            <a:srgbClr val="F4F5F7"/>
          </a:solidFill>
          <a:ln w="12700">
            <a:solidFill>
              <a:srgbClr val="E3E5EA"/>
            </a:solidFill>
            <a:prstDash val="solid"/>
          </a:ln>
        </p:spPr>
        <p:txBody>
          <a:bodyPr/>
          <a:lstStyle/>
          <a:p>
            <a:endParaRPr lang="en-GR"/>
          </a:p>
        </p:txBody>
      </p:sp>
      <p:sp>
        <p:nvSpPr>
          <p:cNvPr id="10" name="Shape 8"/>
          <p:cNvSpPr/>
          <p:nvPr/>
        </p:nvSpPr>
        <p:spPr>
          <a:xfrm>
            <a:off x="868680" y="3584448"/>
            <a:ext cx="502920" cy="502920"/>
          </a:xfrm>
          <a:prstGeom prst="ellipse">
            <a:avLst/>
          </a:prstGeom>
          <a:solidFill>
            <a:srgbClr val="F5A623"/>
          </a:solidFill>
          <a:ln/>
        </p:spPr>
        <p:txBody>
          <a:bodyPr/>
          <a:lstStyle/>
          <a:p>
            <a:endParaRPr lang="en-GR"/>
          </a:p>
        </p:txBody>
      </p:sp>
      <p:sp>
        <p:nvSpPr>
          <p:cNvPr id="11" name="Text 9"/>
          <p:cNvSpPr txBox="1"/>
          <p:nvPr/>
        </p:nvSpPr>
        <p:spPr>
          <a:xfrm>
            <a:off x="1645920" y="3401568"/>
            <a:ext cx="8046720" cy="365760"/>
          </a:xfrm>
          <a:prstGeom prst="rect">
            <a:avLst/>
          </a:prstGeom>
          <a:noFill/>
          <a:ln/>
        </p:spPr>
        <p:txBody>
          <a:bodyPr wrap="square" lIns="0" tIns="0" rIns="0" bIns="0" rtlCol="0" anchor="ctr"/>
          <a:lstStyle/>
          <a:p>
            <a:pPr marL="0" indent="0">
              <a:buNone/>
            </a:pPr>
            <a:r>
              <a:rPr lang="en-US" sz="1700" b="1" dirty="0">
                <a:solidFill>
                  <a:srgbClr val="1A1D29"/>
                </a:solidFill>
                <a:latin typeface="Calibri" pitchFamily="34" charset="0"/>
                <a:ea typeface="Calibri" pitchFamily="34" charset="-122"/>
                <a:cs typeface="Calibri" pitchFamily="34" charset="-120"/>
              </a:rPr>
              <a:t>Score on the full test sets</a:t>
            </a:r>
            <a:endParaRPr lang="en-US" sz="1700" dirty="0"/>
          </a:p>
        </p:txBody>
      </p:sp>
      <p:sp>
        <p:nvSpPr>
          <p:cNvPr id="12" name="Text 10"/>
          <p:cNvSpPr txBox="1"/>
          <p:nvPr/>
        </p:nvSpPr>
        <p:spPr>
          <a:xfrm>
            <a:off x="1645920" y="3767328"/>
            <a:ext cx="8503920" cy="640080"/>
          </a:xfrm>
          <a:prstGeom prst="rect">
            <a:avLst/>
          </a:prstGeom>
          <a:noFill/>
          <a:ln/>
        </p:spPr>
        <p:txBody>
          <a:bodyPr wrap="square" lIns="0" tIns="0" rIns="0" bIns="0" rtlCol="0" anchor="ctr"/>
          <a:lstStyle/>
          <a:p>
            <a:pPr marL="0" indent="0">
              <a:lnSpc>
                <a:spcPct val="105000"/>
              </a:lnSpc>
              <a:buNone/>
            </a:pPr>
            <a:r>
              <a:rPr lang="en-US" sz="1300" dirty="0">
                <a:solidFill>
                  <a:srgbClr val="6B7280"/>
                </a:solidFill>
                <a:latin typeface="Calibri" pitchFamily="34" charset="0"/>
                <a:ea typeface="Calibri" pitchFamily="34" charset="-122"/>
                <a:cs typeface="Calibri" pitchFamily="34" charset="-120"/>
              </a:rPr>
              <a:t>Move from sampled to complete Test 1 / Test 2 evaluation, using the fast matrix-multiply scoring, for paper-comparable numbers.</a:t>
            </a:r>
            <a:endParaRPr lang="en-US" sz="1300" dirty="0"/>
          </a:p>
        </p:txBody>
      </p:sp>
      <p:sp>
        <p:nvSpPr>
          <p:cNvPr id="13" name="Text 11"/>
          <p:cNvSpPr txBox="1"/>
          <p:nvPr/>
        </p:nvSpPr>
        <p:spPr>
          <a:xfrm>
            <a:off x="10195560" y="3657600"/>
            <a:ext cx="1234440" cy="365760"/>
          </a:xfrm>
          <a:prstGeom prst="rect">
            <a:avLst/>
          </a:prstGeom>
          <a:solidFill>
            <a:srgbClr val="F5A623"/>
          </a:solid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NEXT</a:t>
            </a:r>
            <a:endParaRPr lang="en-US" sz="1100" dirty="0"/>
          </a:p>
        </p:txBody>
      </p:sp>
      <p:sp>
        <p:nvSpPr>
          <p:cNvPr id="20" name="Text 17"/>
          <p:cNvSpPr txBox="1"/>
          <p:nvPr/>
        </p:nvSpPr>
        <p:spPr>
          <a:xfrm>
            <a:off x="457200" y="6419088"/>
            <a:ext cx="8229600" cy="274320"/>
          </a:xfrm>
          <a:prstGeom prst="rect">
            <a:avLst/>
          </a:prstGeom>
          <a:noFill/>
          <a:ln/>
        </p:spPr>
        <p:txBody>
          <a:bodyPr wrap="square" lIns="0" tIns="0" rIns="0" bIns="0"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Marios Poulis · DIFFER</a:t>
            </a:r>
            <a:endParaRPr lang="en-US" sz="900" dirty="0"/>
          </a:p>
        </p:txBody>
      </p:sp>
      <p:sp>
        <p:nvSpPr>
          <p:cNvPr id="21" name="Text 18"/>
          <p:cNvSpPr txBox="1"/>
          <p:nvPr/>
        </p:nvSpPr>
        <p:spPr>
          <a:xfrm>
            <a:off x="11338560" y="6419088"/>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1639</Words>
  <Application>Microsoft Macintosh PowerPoint</Application>
  <PresentationFormat>Widescreen</PresentationFormat>
  <Paragraphs>112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Marios Poulis</cp:lastModifiedBy>
  <cp:revision>2</cp:revision>
  <dcterms:created xsi:type="dcterms:W3CDTF">2026-09-16T13:23:15Z</dcterms:created>
  <dcterms:modified xsi:type="dcterms:W3CDTF">2026-09-21T07:15:49Z</dcterms:modified>
</cp:coreProperties>
</file>